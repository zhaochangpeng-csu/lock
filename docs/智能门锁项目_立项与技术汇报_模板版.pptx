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1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25"/>
  </p:notesMasterIdLst>
  <p:sldIdLst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29" r:id="rId70"/>
    <p:sldId id="330" r:id="rId71"/>
    <p:sldId id="331" r:id="rId72"/>
    <p:sldId id="332" r:id="rId73"/>
    <p:sldId id="333" r:id="rId74"/>
    <p:sldId id="334" r:id="rId75"/>
    <p:sldId id="335" r:id="rId76"/>
  </p:sldIdLst>
  <p:sldSz cx="9144000" cy="5143500" type="screen16x9"/>
  <p:notesSz cx="6858000" cy="9144000"/>
  <p:custDataLst>
    <p:tags r:id="rId26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F3FE"/>
    <a:srgbClr val="AEC7DD"/>
    <a:srgbClr val="E1F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860" autoAdjust="0"/>
    <p:restoredTop sz="94660"/>
  </p:normalViewPr>
  <p:slideViewPr>
    <p:cSldViewPr snapToGrid="0">
      <p:cViewPr varScale="1">
        <p:scale>
          <a:sx n="142" d="100"/>
          <a:sy n="142" d="100"/>
        </p:scale>
        <p:origin x="138" y="2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5" Type="http://schemas.openxmlformats.org/officeDocument/2006/relationships/notesMaster" Target="notesMasters/notesMaster1.xml"/><Relationship Id="rId26" Type="http://schemas.openxmlformats.org/officeDocument/2006/relationships/tags" Target="tags/tag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NULL" TargetMode="External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ubbl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Y-Values</c:v>
                </c:pt>
              </c:strCache>
            </c:strRef>
          </c:tx>
          <c:spPr>
            <a:solidFill>
              <a:schemeClr val="bg1"/>
            </a:solidFill>
            <a:ln w="38100">
              <a:solidFill>
                <a:schemeClr val="accent1">
                  <a:alpha val="70000"/>
                </a:schemeClr>
              </a:solidFill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E9-4420-85B6-AABFAF218BBF}"/>
              </c:ext>
            </c:extLst>
          </c:dPt>
          <c:dPt>
            <c:idx val="1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2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E9-4420-85B6-AABFAF218BBF}"/>
              </c:ext>
            </c:extLst>
          </c:dPt>
          <c:dPt>
            <c:idx val="2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3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E9-4420-85B6-AABFAF218BBF}"/>
              </c:ext>
            </c:extLst>
          </c:dPt>
          <c:dPt>
            <c:idx val="3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4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E9-4420-85B6-AABFAF218BBF}"/>
              </c:ext>
            </c:extLst>
          </c:dPt>
          <c:dPt>
            <c:idx val="4"/>
            <c:invertIfNegative val="1"/>
            <c:bubble3D val="0"/>
            <c:spPr>
              <a:solidFill>
                <a:schemeClr val="bg1"/>
              </a:solidFill>
              <a:ln w="38100">
                <a:solidFill>
                  <a:schemeClr val="accent5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77E9-4420-85B6-AABFAF218BB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2700" cap="rnd" cmpd="sng">
                <a:solidFill>
                  <a:schemeClr val="bg1">
                    <a:lumMod val="75000"/>
                  </a:schemeClr>
                </a:solidFill>
                <a:prstDash val="dash"/>
              </a:ln>
              <a:effectLst/>
            </c:spPr>
            <c:trendlineType val="poly"/>
            <c:order val="4"/>
            <c:dispRSqr val="0"/>
            <c:dispEq val="0"/>
          </c:trendline>
          <c:xVal>
            <c:numRef>
              <c:f>Sheet1!$A$2:$A$6</c:f>
              <c:numCache>
                <c:formatCode>General</c:formatCode>
                <c:ptCount val="5"/>
                <c:pt idx="0">
                  <c:v>0.5</c:v>
                </c:pt>
                <c:pt idx="1">
                  <c:v>1</c:v>
                </c:pt>
                <c:pt idx="2">
                  <c:v>1.5</c:v>
                </c:pt>
                <c:pt idx="3">
                  <c:v>2</c:v>
                </c:pt>
                <c:pt idx="4">
                  <c:v>2.5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2</c:v>
                </c:pt>
                <c:pt idx="2">
                  <c:v>2</c:v>
                </c:pt>
                <c:pt idx="3">
                  <c:v>1.5</c:v>
                </c:pt>
                <c:pt idx="4">
                  <c:v>2.5</c:v>
                </c:pt>
              </c:numCache>
            </c:numRef>
          </c:yVal>
          <c:bubbleSize>
            <c:numRef>
              <c:f>Sheet1!$C$2:$C$6</c:f>
              <c:numCache>
                <c:formatCode>General</c:formatCode>
                <c:ptCount val="5"/>
                <c:pt idx="0">
                  <c:v>6</c:v>
                </c:pt>
                <c:pt idx="1">
                  <c:v>8</c:v>
                </c:pt>
                <c:pt idx="2">
                  <c:v>5</c:v>
                </c:pt>
                <c:pt idx="3">
                  <c:v>8</c:v>
                </c:pt>
                <c:pt idx="4">
                  <c:v>10</c:v>
                </c:pt>
              </c:numCache>
            </c:numRef>
          </c:bubbleSize>
          <c:bubble3D val="0"/>
          <c:extLst>
            <c:ext xmlns:c16="http://schemas.microsoft.com/office/drawing/2014/chart" uri="{C3380CC4-5D6E-409C-BE32-E72D297353CC}">
              <c16:uniqueId val="{0000000B-77E9-4420-85B6-AABFAF218BB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bubbleScale val="100"/>
        <c:showNegBubbles val="0"/>
        <c:axId val="432621056"/>
        <c:axId val="432622976"/>
      </c:bubbleChart>
      <c:valAx>
        <c:axId val="432621056"/>
        <c:scaling>
          <c:orientation val="minMax"/>
        </c:scaling>
        <c:delete val="0"/>
        <c:axPos val="b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lang="zh-CN" sz="1195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r>
                  <a:rPr lang="id-ID"/>
                  <a:t>DIAGRAM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lang="zh-CN" sz="1195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ea"/>
                  <a:sym typeface="+mn-lt"/>
                </a:defRPr>
              </a:pPr>
              <a:endParaRPr lang="zh-CN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25400"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432622976"/>
        <c:crosses val="autoZero"/>
        <c:crossBetween val="midCat"/>
      </c:valAx>
      <c:valAx>
        <c:axId val="432622976"/>
        <c:scaling>
          <c:orientation val="minMax"/>
        </c:scaling>
        <c:delete val="0"/>
        <c:axPos val="l"/>
        <c:majorGridlines>
          <c:spPr>
            <a:ln w="9525">
              <a:solidFill>
                <a:schemeClr val="tx1">
                  <a:lumMod val="15000"/>
                  <a:lumOff val="85000"/>
                </a:schemeClr>
              </a:solidFill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25400"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4326210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产销量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2021</c:v>
                </c:pt>
                <c:pt idx="1">
                  <c:v>2025</c:v>
                </c:pt>
                <c:pt idx="2">
                  <c:v>2026E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1780</c:v>
                </c:pt>
                <c:pt idx="1">
                  <c:v>2400</c:v>
                </c:pt>
                <c:pt idx="2">
                  <c:v>2571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占比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千元以下</c:v>
                </c:pt>
                <c:pt idx="1">
                  <c:v>1000-2000 元</c:v>
                </c:pt>
                <c:pt idx="2">
                  <c:v>2000 元以上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63.8</c:v>
                </c:pt>
                <c:pt idx="1">
                  <c:v>27.3</c:v>
                </c:pt>
                <c:pt idx="2">
                  <c:v>8.9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900"/>
      </a:pPr>
      <a:endParaRPr lang="en-US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74">
  <cs:axisTitle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axisTitle>
  <cs:categoryAxis>
    <cs:lnRef idx="0"/>
    <cs:fillRef idx="0"/>
    <cs:effectRef idx="0"/>
    <cs:fontRef idx="minor">
      <a:schemeClr val="tx1">
        <a:lumMod val="50000"/>
        <a:lumOff val="50000"/>
      </a:schemeClr>
    </cs:fontRef>
    <cs:spPr>
      <a:ln>
        <a:solidFill>
          <a:schemeClr val="tx1">
            <a:lumMod val="15000"/>
            <a:lumOff val="85000"/>
          </a:schemeClr>
        </a:solidFill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/>
    <cs:effectRef idx="0"/>
    <cs:fontRef idx="minor">
      <a:schemeClr val="dk1"/>
    </cs:fontRef>
    <cs:spPr>
      <a:noFill/>
      <a:ln w="31750">
        <a:solidFill>
          <a:schemeClr val="phClr">
            <a:alpha val="70000"/>
          </a:schemeClr>
        </a:solidFill>
      </a:ln>
    </cs:spPr>
  </cs:dataPoint>
  <cs:dataPoint3D>
    <cs:lnRef idx="0">
      <cs:styleClr val="auto"/>
    </cs:lnRef>
    <cs:fillRef idx="0">
      <cs:styleClr val="auto"/>
    </cs:fillRef>
    <cs:effectRef idx="0"/>
    <cs:fontRef idx="minor">
      <a:schemeClr val="dk1"/>
    </cs:fontRef>
    <cs:spPr>
      <a:noFill/>
      <a:ln w="31750">
        <a:solidFill>
          <a:schemeClr val="phClr">
            <a:alpha val="70000"/>
          </a:schemeClr>
        </a:solidFill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ln w="19050" cap="rnd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1"/>
    <cs:effectRef idx="0"/>
    <cs:fontRef idx="minor">
      <a:schemeClr val="tx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tx1">
        <a:lumMod val="50000"/>
        <a:lumOff val="50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>
        <a:solidFill>
          <a:schemeClr val="tx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seriesAxis>
  <cs:seriesLine>
    <cs:lnRef idx="0"/>
    <cs:fillRef idx="0"/>
    <cs:effectRef idx="0"/>
    <cs:fontRef idx="minor">
      <a:schemeClr val="dk1"/>
    </cs:fontRef>
    <cs:spPr>
      <a:ln>
        <a:solidFill>
          <a:schemeClr val="tx1">
            <a:lumMod val="15000"/>
            <a:lumOff val="85000"/>
          </a:schemeClr>
        </a:solidFill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213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50000"/>
        <a:lumOff val="50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50000"/>
        <a:lumOff val="50000"/>
      </a:schemeClr>
    </cs:fontRef>
    <cs:spPr>
      <a:ln>
        <a:solidFill>
          <a:schemeClr val="tx1">
            <a:lumMod val="25000"/>
            <a:lumOff val="75000"/>
          </a:schemeClr>
        </a:solidFill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  <a:t>2019/9/11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3713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650"/>
            <a:ext cx="6858000" cy="1241822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40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2019/9/11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2019/9/11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ener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8"/>
          <p:cNvSpPr txBox="1"/>
          <p:nvPr userDrawn="1"/>
        </p:nvSpPr>
        <p:spPr>
          <a:xfrm>
            <a:off x="8395675" y="4869409"/>
            <a:ext cx="725405" cy="352697"/>
          </a:xfrm>
          <a:prstGeom prst="ellipse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r" defTabSz="6858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3068952F-5E95-44E1-9562-3F7BE09D45B9}" type="slidenum">
              <a:rPr lang="en-US" sz="900" kern="1200" smtClean="0">
                <a:solidFill>
                  <a:srgbClr val="F0F6F4"/>
                </a:solidFill>
                <a:latin typeface="+mn-lt"/>
                <a:ea typeface="+mn-ea"/>
                <a:cs typeface="+mn-cs"/>
              </a:rPr>
              <a:t>‹#›</a:t>
            </a:fld>
            <a:endParaRPr lang="en-US" sz="900" kern="1200" dirty="0">
              <a:solidFill>
                <a:srgbClr val="F0F6F4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-7620" y="-7620"/>
            <a:ext cx="9151620" cy="5151120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99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3855720" y="850501"/>
            <a:ext cx="1752600" cy="3020459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al Est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2"/>
          <p:cNvSpPr>
            <a:spLocks noGrp="1"/>
          </p:cNvSpPr>
          <p:nvPr>
            <p:ph type="pic" sz="quarter" idx="16"/>
          </p:nvPr>
        </p:nvSpPr>
        <p:spPr>
          <a:xfrm>
            <a:off x="0" y="1280408"/>
            <a:ext cx="9144000" cy="20273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ockup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2"/>
          <p:cNvSpPr>
            <a:spLocks noGrp="1"/>
          </p:cNvSpPr>
          <p:nvPr>
            <p:ph type="pic" sz="quarter" idx="12"/>
          </p:nvPr>
        </p:nvSpPr>
        <p:spPr>
          <a:xfrm>
            <a:off x="1531663" y="1385107"/>
            <a:ext cx="1424897" cy="24858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74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880403" y="1324147"/>
            <a:ext cx="1493477" cy="2623013"/>
          </a:xfrm>
        </p:spPr>
        <p:txBody>
          <a:bodyPr anchor="ctr">
            <a:norm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with Footer &amp;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tags" Target="../tags/tag2.xml"/><Relationship Id="rId13" Type="http://schemas.openxmlformats.org/officeDocument/2006/relationships/tags" Target="../tags/tag3.xml"/><Relationship Id="rId1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E5F3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D997B5FA-0921-464F-AAE1-844C04324D75}" type="datetimeFigureOut">
              <a:rPr lang="zh-CN" altLang="en-US" smtClean="0"/>
              <a:t>2019/9/11</a:t>
            </a:fld>
            <a:endParaRPr lang="zh-CN" altLang="en-US" dirty="0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algn="ctr">
              <a:defRPr sz="900">
                <a:solidFill>
                  <a:schemeClr val="bg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KSO_TEMPLATE" hidden="1"/>
          <p:cNvSpPr/>
          <p:nvPr userDrawn="1"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random/>
      </p:transition>
    </mc:Choice>
    <mc:Fallback xmlns="">
      <p:transition spd="slow" advClick="0" advTm="3000">
        <p:random/>
      </p:transition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6.xml"/><Relationship Id="rId3" Type="http://schemas.openxmlformats.org/officeDocument/2006/relationships/image" Target="../media/image1.jpeg"/><Relationship Id="rId4" Type="http://schemas.openxmlformats.org/officeDocument/2006/relationships/tags" Target="../tags/tag5.xml"/><Relationship Id="rId5" Type="http://schemas.openxmlformats.org/officeDocument/2006/relationships/tags" Target="../tags/tag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1.xml"/><Relationship Id="rId3" Type="http://schemas.openxmlformats.org/officeDocument/2006/relationships/chart" Target="../charts/chart3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3" Type="http://schemas.openxmlformats.org/officeDocument/2006/relationships/image" Target="../media/image10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3" Type="http://schemas.openxmlformats.org/officeDocument/2006/relationships/image" Target="../media/image10.jpe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microsoft.com/office/2007/relationships/hdphoto" Target="../media/hdphoto8.wdp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microsoft.com/office/2007/relationships/hdphoto" Target="../media/hdphoto8.wdp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9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11.xml"/><Relationship Id="rId3" Type="http://schemas.openxmlformats.org/officeDocument/2006/relationships/image" Target="../media/image10.jpe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ags" Target="../tags/tag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jpe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microsoft.com/office/2007/relationships/hdphoto" Target="../media/hdphoto8.wdp"/><Relationship Id="rId3" Type="http://schemas.openxmlformats.org/officeDocument/2006/relationships/image" Target="../media/image13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3" Type="http://schemas.openxmlformats.org/officeDocument/2006/relationships/image" Target="../media/image1.jpeg"/><Relationship Id="rId4" Type="http://schemas.openxmlformats.org/officeDocument/2006/relationships/tags" Target="../tags/tag13.xml"/><Relationship Id="rId5" Type="http://schemas.openxmlformats.org/officeDocument/2006/relationships/tags" Target="../tags/tag15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910c8dbefd44dba6ce05a395d4f64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" y="6192"/>
            <a:ext cx="9242584" cy="5166836"/>
          </a:xfrm>
          <a:prstGeom prst="rect">
            <a:avLst/>
          </a:prstGeom>
        </p:spPr>
      </p:pic>
      <p:sp>
        <p:nvSpPr>
          <p:cNvPr id="40" name="椭圆 39"/>
          <p:cNvSpPr/>
          <p:nvPr/>
        </p:nvSpPr>
        <p:spPr>
          <a:xfrm>
            <a:off x="1571632" y="-444038"/>
            <a:ext cx="6031575" cy="6031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364933" y="-604361"/>
            <a:ext cx="6382226" cy="6351270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0" name="矩形 49"/>
          <p:cNvSpPr/>
          <p:nvPr/>
        </p:nvSpPr>
        <p:spPr>
          <a:xfrm>
            <a:off x="2579371" y="1320642"/>
            <a:ext cx="3854291" cy="83869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000" dirty="0">
                <a:cs typeface="+mn-ea"/>
                <a:sym typeface="+mn-lt"/>
              </a:rPr>
              <a:t>面向家庭全人群的智能门锁 AI 原型</a:t>
            </a:r>
          </a:p>
        </p:txBody>
      </p:sp>
      <p:sp>
        <p:nvSpPr>
          <p:cNvPr id="51" name="矩形 50"/>
          <p:cNvSpPr/>
          <p:nvPr/>
        </p:nvSpPr>
        <p:spPr>
          <a:xfrm>
            <a:off x="2602344" y="3386583"/>
            <a:ext cx="4069379" cy="23852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100" dirty="0">
                <a:solidFill>
                  <a:srgbClr val="121212">
                    <a:alpha val="80000"/>
                  </a:srgbClr>
                </a:solidFill>
                <a:cs typeface="+mn-ea"/>
                <a:sym typeface="+mn-lt"/>
              </a:rPr>
              <a:t>立项调研 · 技术预研 · 系统实现 · 验证与商业规划</a:t>
            </a:r>
            <a:endParaRPr lang="zh-CN" altLang="en-US" sz="1100" spc="225" dirty="0"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4111" y="2854166"/>
            <a:ext cx="4257675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dirty="0">
                <a:cs typeface="+mn-ea"/>
                <a:sym typeface="+mn-lt"/>
              </a:rPr>
              <a:t>基于 Jetson 的多模态融合认证与低延迟语音 Agent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414111" y="2423636"/>
            <a:ext cx="4185285" cy="87630"/>
            <a:chOff x="5156" y="5307"/>
            <a:chExt cx="8788" cy="184"/>
          </a:xfrm>
        </p:grpSpPr>
        <p:cxnSp>
          <p:nvCxnSpPr>
            <p:cNvPr id="8" name="PA_直接连接符 4"/>
            <p:cNvCxnSpPr/>
            <p:nvPr>
              <p:custDataLst>
                <p:tags r:id="rId2"/>
              </p:custDataLst>
            </p:nvPr>
          </p:nvCxnSpPr>
          <p:spPr>
            <a:xfrm>
              <a:off x="5156" y="5315"/>
              <a:ext cx="8788" cy="0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A_矩形 27"/>
            <p:cNvSpPr/>
            <p:nvPr>
              <p:custDataLst>
                <p:tags r:id="rId5"/>
              </p:custDataLst>
            </p:nvPr>
          </p:nvSpPr>
          <p:spPr>
            <a:xfrm>
              <a:off x="7995" y="5307"/>
              <a:ext cx="3110" cy="184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73241" y="4215283"/>
            <a:ext cx="2996565" cy="491489"/>
            <a:chOff x="6316" y="9230"/>
            <a:chExt cx="6292" cy="1032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9142" y="9433"/>
              <a:ext cx="640" cy="618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316" y="9230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spc="450" dirty="0">
                  <a:solidFill>
                    <a:srgbClr val="121212"/>
                  </a:solidFill>
                  <a:cs typeface="+mn-ea"/>
                  <a:sym typeface="+mn-lt"/>
                </a:rPr>
                <a:t>汇报人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782" y="9713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100" spc="450" dirty="0" smtClean="0">
                  <a:solidFill>
                    <a:srgbClr val="121212"/>
                  </a:solidFill>
                  <a:cs typeface="+mn-ea"/>
                  <a:sym typeface="+mn-lt"/>
                </a:rPr>
                <a:t>中南大学 · IPD 集成产品开发   2026 年 8 月</a:t>
              </a:r>
              <a:endParaRPr lang="en-US" altLang="zh-CN" sz="1100" spc="450" dirty="0">
                <a:solidFill>
                  <a:srgbClr val="12121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51" grpId="0"/>
      <p:bldP spid="65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530" y="6192"/>
            <a:ext cx="9242584" cy="5166836"/>
          </a:xfrm>
          <a:prstGeom prst="rect">
            <a:avLst/>
          </a:prstGeom>
        </p:spPr>
      </p:pic>
      <p:grpSp>
        <p:nvGrpSpPr>
          <p:cNvPr id="20" name="组合 19"/>
          <p:cNvGrpSpPr/>
          <p:nvPr/>
        </p:nvGrpSpPr>
        <p:grpSpPr>
          <a:xfrm>
            <a:off x="4480560" y="658368"/>
            <a:ext cx="3672408" cy="758033"/>
            <a:chOff x="4727054" y="1768670"/>
            <a:chExt cx="4896544" cy="1010710"/>
          </a:xfrm>
        </p:grpSpPr>
        <p:sp>
          <p:nvSpPr>
            <p:cNvPr id="57" name="TextBox 12"/>
            <p:cNvSpPr txBox="1"/>
            <p:nvPr/>
          </p:nvSpPr>
          <p:spPr>
            <a:xfrm>
              <a:off x="4822629" y="1828399"/>
              <a:ext cx="30820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dirty="0">
                  <a:cs typeface="+mn-ea"/>
                  <a:sym typeface="+mn-lt"/>
                </a:rPr>
                <a:t>01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8" name="组合 57"/>
            <p:cNvGrpSpPr/>
            <p:nvPr/>
          </p:nvGrpSpPr>
          <p:grpSpPr>
            <a:xfrm>
              <a:off x="4727054" y="1768670"/>
              <a:ext cx="504056" cy="488790"/>
              <a:chOff x="4727054" y="1768670"/>
              <a:chExt cx="504056" cy="488790"/>
            </a:xfrm>
          </p:grpSpPr>
          <p:sp>
            <p:nvSpPr>
              <p:cNvPr id="61" name="左中括号 60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左中括号 61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9" name="TextBox 15"/>
            <p:cNvSpPr txBox="1"/>
            <p:nvPr/>
          </p:nvSpPr>
          <p:spPr>
            <a:xfrm>
              <a:off x="5375126" y="1772817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b="1" dirty="0">
                  <a:cs typeface="+mn-ea"/>
                  <a:sym typeface="+mn-lt"/>
                </a:rPr>
                <a:t>立项背景与市场机会</a:t>
              </a:r>
            </a:p>
          </p:txBody>
        </p:sp>
        <p:sp>
          <p:nvSpPr>
            <p:cNvPr id="60" name="TextBox 16"/>
            <p:cNvSpPr txBox="1"/>
            <p:nvPr/>
          </p:nvSpPr>
          <p:spPr>
            <a:xfrm>
              <a:off x="5447134" y="2204864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grpSp>
        <p:nvGrpSpPr>
          <p:cNvPr id="22" name="组合 21"/>
          <p:cNvGrpSpPr/>
          <p:nvPr/>
        </p:nvGrpSpPr>
        <p:grpSpPr>
          <a:xfrm>
            <a:off x="4480560" y="1234440"/>
            <a:ext cx="3672408" cy="754923"/>
            <a:chOff x="4727054" y="3140968"/>
            <a:chExt cx="4896544" cy="1006564"/>
          </a:xfrm>
        </p:grpSpPr>
        <p:sp>
          <p:nvSpPr>
            <p:cNvPr id="51" name="TextBox 20"/>
            <p:cNvSpPr txBox="1"/>
            <p:nvPr/>
          </p:nvSpPr>
          <p:spPr>
            <a:xfrm>
              <a:off x="4822629" y="3200697"/>
              <a:ext cx="36591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dirty="0">
                  <a:cs typeface="+mn-ea"/>
                  <a:sym typeface="+mn-lt"/>
                </a:rPr>
                <a:t>02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2" name="组合 51"/>
            <p:cNvGrpSpPr/>
            <p:nvPr/>
          </p:nvGrpSpPr>
          <p:grpSpPr>
            <a:xfrm>
              <a:off x="4727054" y="3140968"/>
              <a:ext cx="504056" cy="488790"/>
              <a:chOff x="4727054" y="1768670"/>
              <a:chExt cx="504056" cy="488790"/>
            </a:xfrm>
          </p:grpSpPr>
          <p:sp>
            <p:nvSpPr>
              <p:cNvPr id="55" name="左中括号 54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6" name="左中括号 55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3" name="TextBox 24"/>
            <p:cNvSpPr txBox="1"/>
            <p:nvPr/>
          </p:nvSpPr>
          <p:spPr>
            <a:xfrm>
              <a:off x="5375126" y="3145115"/>
              <a:ext cx="2400657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b="1" dirty="0">
                  <a:cs typeface="+mn-ea"/>
                  <a:sym typeface="+mn-lt"/>
                </a:rPr>
                <a:t>关键技术预研与选型</a:t>
              </a:r>
            </a:p>
          </p:txBody>
        </p:sp>
        <p:sp>
          <p:nvSpPr>
            <p:cNvPr id="54" name="TextBox 25"/>
            <p:cNvSpPr txBox="1"/>
            <p:nvPr/>
          </p:nvSpPr>
          <p:spPr>
            <a:xfrm>
              <a:off x="5447134" y="3573016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grpSp>
        <p:nvGrpSpPr>
          <p:cNvPr id="23" name="组合 22"/>
          <p:cNvGrpSpPr/>
          <p:nvPr/>
        </p:nvGrpSpPr>
        <p:grpSpPr>
          <a:xfrm>
            <a:off x="4480560" y="1810512"/>
            <a:ext cx="3672408" cy="772406"/>
            <a:chOff x="4727054" y="4413802"/>
            <a:chExt cx="4896544" cy="1029874"/>
          </a:xfrm>
        </p:grpSpPr>
        <p:sp>
          <p:nvSpPr>
            <p:cNvPr id="39" name="TextBox 26"/>
            <p:cNvSpPr txBox="1"/>
            <p:nvPr/>
          </p:nvSpPr>
          <p:spPr>
            <a:xfrm>
              <a:off x="4822629" y="4473531"/>
              <a:ext cx="376600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dirty="0">
                  <a:cs typeface="+mn-ea"/>
                  <a:sym typeface="+mn-lt"/>
                </a:rPr>
                <a:t>03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>
              <a:off x="4727054" y="4413802"/>
              <a:ext cx="504056" cy="488790"/>
              <a:chOff x="4727054" y="1768670"/>
              <a:chExt cx="504056" cy="488790"/>
            </a:xfrm>
          </p:grpSpPr>
          <p:sp>
            <p:nvSpPr>
              <p:cNvPr id="49" name="左中括号 48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左中括号 49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44" name="TextBox 30"/>
            <p:cNvSpPr txBox="1"/>
            <p:nvPr/>
          </p:nvSpPr>
          <p:spPr>
            <a:xfrm>
              <a:off x="5375126" y="4417949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b="1" dirty="0">
                  <a:cs typeface="+mn-ea"/>
                  <a:sym typeface="+mn-lt"/>
                </a:rPr>
                <a:t>系统架构与实现</a:t>
              </a:r>
            </a:p>
          </p:txBody>
        </p:sp>
        <p:sp>
          <p:nvSpPr>
            <p:cNvPr id="47" name="TextBox 31"/>
            <p:cNvSpPr txBox="1"/>
            <p:nvPr/>
          </p:nvSpPr>
          <p:spPr>
            <a:xfrm>
              <a:off x="5447134" y="4869160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grpSp>
        <p:nvGrpSpPr>
          <p:cNvPr id="26" name="组合 25"/>
          <p:cNvGrpSpPr/>
          <p:nvPr/>
        </p:nvGrpSpPr>
        <p:grpSpPr>
          <a:xfrm>
            <a:off x="4480560" y="2386584"/>
            <a:ext cx="3672408" cy="772406"/>
            <a:chOff x="4727054" y="4413802"/>
            <a:chExt cx="4896544" cy="1029874"/>
          </a:xfrm>
        </p:grpSpPr>
        <p:sp>
          <p:nvSpPr>
            <p:cNvPr id="27" name="TextBox 26"/>
            <p:cNvSpPr txBox="1"/>
            <p:nvPr/>
          </p:nvSpPr>
          <p:spPr>
            <a:xfrm>
              <a:off x="4822629" y="4473531"/>
              <a:ext cx="363776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dirty="0">
                  <a:cs typeface="+mn-ea"/>
                  <a:sym typeface="+mn-lt"/>
                </a:rPr>
                <a:t>04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28" name="组合 27"/>
            <p:cNvGrpSpPr/>
            <p:nvPr/>
          </p:nvGrpSpPr>
          <p:grpSpPr>
            <a:xfrm>
              <a:off x="4727054" y="4413802"/>
              <a:ext cx="504056" cy="488790"/>
              <a:chOff x="4727054" y="1768670"/>
              <a:chExt cx="504056" cy="488790"/>
            </a:xfrm>
          </p:grpSpPr>
          <p:sp>
            <p:nvSpPr>
              <p:cNvPr id="35" name="左中括号 34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左中括号 35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33" name="TextBox 30"/>
            <p:cNvSpPr txBox="1"/>
            <p:nvPr/>
          </p:nvSpPr>
          <p:spPr>
            <a:xfrm>
              <a:off x="5375126" y="4417949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b="1" dirty="0">
                  <a:cs typeface="+mn-ea"/>
                  <a:sym typeface="+mn-lt"/>
                </a:rPr>
                <a:t>安全设计与异常闭环</a:t>
              </a:r>
            </a:p>
          </p:txBody>
        </p:sp>
        <p:sp>
          <p:nvSpPr>
            <p:cNvPr id="34" name="TextBox 31"/>
            <p:cNvSpPr txBox="1"/>
            <p:nvPr/>
          </p:nvSpPr>
          <p:spPr>
            <a:xfrm>
              <a:off x="5447134" y="4869160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sp>
        <p:nvSpPr>
          <p:cNvPr id="40" name="椭圆 39"/>
          <p:cNvSpPr/>
          <p:nvPr/>
        </p:nvSpPr>
        <p:spPr>
          <a:xfrm>
            <a:off x="1571632" y="-444038"/>
            <a:ext cx="6031575" cy="6031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-2125504" y="-604838"/>
            <a:ext cx="6489383" cy="6351270"/>
            <a:chOff x="-4463" y="-1270"/>
            <a:chExt cx="13626" cy="13336"/>
          </a:xfrm>
        </p:grpSpPr>
        <p:grpSp>
          <p:nvGrpSpPr>
            <p:cNvPr id="11" name="组合 10"/>
            <p:cNvGrpSpPr/>
            <p:nvPr/>
          </p:nvGrpSpPr>
          <p:grpSpPr>
            <a:xfrm rot="19860000">
              <a:off x="-4463" y="-1270"/>
              <a:ext cx="13627" cy="13337"/>
              <a:chOff x="2899" y="-1269"/>
              <a:chExt cx="13627" cy="13337"/>
            </a:xfrm>
          </p:grpSpPr>
          <p:sp>
            <p:nvSpPr>
              <p:cNvPr id="4" name="椭圆 3"/>
              <p:cNvSpPr/>
              <p:nvPr/>
            </p:nvSpPr>
            <p:spPr>
              <a:xfrm>
                <a:off x="2964" y="-1269"/>
                <a:ext cx="13337" cy="13337"/>
              </a:xfrm>
              <a:prstGeom prst="ellipse">
                <a:avLst/>
              </a:prstGeom>
              <a:noFill/>
              <a:ln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36000">
                      <a:schemeClr val="tx1"/>
                    </a:gs>
                    <a:gs pos="60000">
                      <a:schemeClr val="bg1"/>
                    </a:gs>
                    <a:gs pos="100000">
                      <a:schemeClr val="tx1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grpSp>
            <p:nvGrpSpPr>
              <p:cNvPr id="5" name="组合 4"/>
              <p:cNvGrpSpPr/>
              <p:nvPr/>
            </p:nvGrpSpPr>
            <p:grpSpPr>
              <a:xfrm>
                <a:off x="2899" y="3268"/>
                <a:ext cx="503" cy="1249"/>
                <a:chOff x="1820381" y="2075156"/>
                <a:chExt cx="319500" cy="792801"/>
              </a:xfrm>
            </p:grpSpPr>
            <p:sp>
              <p:nvSpPr>
                <p:cNvPr id="6" name="椭圆 5"/>
                <p:cNvSpPr/>
                <p:nvPr/>
              </p:nvSpPr>
              <p:spPr>
                <a:xfrm>
                  <a:off x="1975944" y="2075156"/>
                  <a:ext cx="163937" cy="16393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7" name="椭圆 6"/>
                <p:cNvSpPr/>
                <p:nvPr/>
              </p:nvSpPr>
              <p:spPr>
                <a:xfrm>
                  <a:off x="1820381" y="2331550"/>
                  <a:ext cx="295688" cy="295688"/>
                </a:xfrm>
                <a:prstGeom prst="ellipse">
                  <a:avLst/>
                </a:prstGeom>
                <a:solidFill>
                  <a:srgbClr val="E1F1F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  <p:sp>
              <p:nvSpPr>
                <p:cNvPr id="8" name="椭圆 7"/>
                <p:cNvSpPr/>
                <p:nvPr/>
              </p:nvSpPr>
              <p:spPr>
                <a:xfrm>
                  <a:off x="1820381" y="2704020"/>
                  <a:ext cx="163937" cy="163937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>
                      <a:solidFill>
                        <a:schemeClr val="lt1"/>
                      </a:solidFill>
                    </a:defRPr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6" name="椭圆 45"/>
              <p:cNvSpPr/>
              <p:nvPr/>
            </p:nvSpPr>
            <p:spPr>
              <a:xfrm>
                <a:off x="16060" y="4703"/>
                <a:ext cx="466" cy="466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12" name="椭圆 11"/>
            <p:cNvSpPr/>
            <p:nvPr/>
          </p:nvSpPr>
          <p:spPr>
            <a:xfrm rot="19860000">
              <a:off x="8658" y="3984"/>
              <a:ext cx="466" cy="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 rot="19860000">
              <a:off x="8648" y="6144"/>
              <a:ext cx="466" cy="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 rot="19860000">
              <a:off x="7828" y="8474"/>
              <a:ext cx="466" cy="46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629482" y="2012857"/>
            <a:ext cx="2715860" cy="90024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/>
            <a:r>
              <a:rPr lang="zh-CN" altLang="en-US" sz="5400" dirty="0">
                <a:solidFill>
                  <a:srgbClr val="121212"/>
                </a:solidFill>
                <a:cs typeface="+mn-ea"/>
                <a:sym typeface="+mn-lt"/>
              </a:rPr>
              <a:t>目录</a:t>
            </a:r>
            <a:endParaRPr lang="en-US" altLang="zh-CN" sz="54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29482" y="3190147"/>
            <a:ext cx="2715860" cy="25288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dist"/>
            <a:r>
              <a:rPr lang="en-US" sz="1200" dirty="0">
                <a:solidFill>
                  <a:srgbClr val="121212"/>
                </a:solidFill>
                <a:cs typeface="+mn-ea"/>
                <a:sym typeface="+mn-lt"/>
              </a:rPr>
              <a:t>CONTENTS</a:t>
            </a:r>
          </a:p>
        </p:txBody>
      </p:sp>
      <p:grpSp>
        <p:nvGrpSpPr>
          <p:cNvPr id="5001" name="组合 19"/>
          <p:cNvGrpSpPr/>
          <p:nvPr/>
        </p:nvGrpSpPr>
        <p:grpSpPr>
          <a:xfrm>
            <a:off x="4480560" y="2962656"/>
            <a:ext cx="3672408" cy="758033"/>
            <a:chOff x="4727054" y="1768670"/>
            <a:chExt cx="4896544" cy="1010710"/>
          </a:xfrm>
        </p:grpSpPr>
        <p:sp>
          <p:nvSpPr>
            <p:cNvPr id="5002" name="TextBox 12"/>
            <p:cNvSpPr txBox="1"/>
            <p:nvPr/>
          </p:nvSpPr>
          <p:spPr>
            <a:xfrm>
              <a:off x="4822629" y="1828399"/>
              <a:ext cx="30820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dirty="0">
                  <a:cs typeface="+mn-ea"/>
                  <a:sym typeface="+mn-lt"/>
                </a:rPr>
                <a:t>05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003" name="组合 57"/>
            <p:cNvGrpSpPr/>
            <p:nvPr/>
          </p:nvGrpSpPr>
          <p:grpSpPr>
            <a:xfrm>
              <a:off x="4727054" y="1768670"/>
              <a:ext cx="504056" cy="488790"/>
              <a:chOff x="4727054" y="1768670"/>
              <a:chExt cx="504056" cy="488790"/>
            </a:xfrm>
          </p:grpSpPr>
          <p:sp>
            <p:nvSpPr>
              <p:cNvPr id="5004" name="左中括号 60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05" name="左中括号 61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06" name="TextBox 15"/>
            <p:cNvSpPr txBox="1"/>
            <p:nvPr/>
          </p:nvSpPr>
          <p:spPr>
            <a:xfrm>
              <a:off x="5375126" y="1772817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b="1" dirty="0">
                  <a:cs typeface="+mn-ea"/>
                  <a:sym typeface="+mn-lt"/>
                </a:rPr>
                <a:t>验证结果与工程问题</a:t>
              </a:r>
            </a:p>
          </p:txBody>
        </p:sp>
        <p:sp>
          <p:nvSpPr>
            <p:cNvPr id="5007" name="TextBox 16"/>
            <p:cNvSpPr txBox="1"/>
            <p:nvPr/>
          </p:nvSpPr>
          <p:spPr>
            <a:xfrm>
              <a:off x="5447134" y="2204864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grpSp>
        <p:nvGrpSpPr>
          <p:cNvPr id="5008" name="组合 19"/>
          <p:cNvGrpSpPr/>
          <p:nvPr/>
        </p:nvGrpSpPr>
        <p:grpSpPr>
          <a:xfrm>
            <a:off x="4480560" y="3538728"/>
            <a:ext cx="3672408" cy="758033"/>
            <a:chOff x="4727054" y="1768670"/>
            <a:chExt cx="4896544" cy="1010710"/>
          </a:xfrm>
        </p:grpSpPr>
        <p:sp>
          <p:nvSpPr>
            <p:cNvPr id="5009" name="TextBox 12"/>
            <p:cNvSpPr txBox="1"/>
            <p:nvPr/>
          </p:nvSpPr>
          <p:spPr>
            <a:xfrm>
              <a:off x="4822629" y="1828399"/>
              <a:ext cx="30820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dirty="0">
                  <a:cs typeface="+mn-ea"/>
                  <a:sym typeface="+mn-lt"/>
                </a:rPr>
                <a:t>06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010" name="组合 57"/>
            <p:cNvGrpSpPr/>
            <p:nvPr/>
          </p:nvGrpSpPr>
          <p:grpSpPr>
            <a:xfrm>
              <a:off x="4727054" y="1768670"/>
              <a:ext cx="504056" cy="488790"/>
              <a:chOff x="4727054" y="1768670"/>
              <a:chExt cx="504056" cy="488790"/>
            </a:xfrm>
          </p:grpSpPr>
          <p:sp>
            <p:nvSpPr>
              <p:cNvPr id="5011" name="左中括号 60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12" name="左中括号 61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13" name="TextBox 15"/>
            <p:cNvSpPr txBox="1"/>
            <p:nvPr/>
          </p:nvSpPr>
          <p:spPr>
            <a:xfrm>
              <a:off x="5375126" y="1772817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b="1" dirty="0">
                  <a:cs typeface="+mn-ea"/>
                  <a:sym typeface="+mn-lt"/>
                </a:rPr>
                <a:t>商业规划与产品路标</a:t>
              </a:r>
            </a:p>
          </p:txBody>
        </p:sp>
        <p:sp>
          <p:nvSpPr>
            <p:cNvPr id="5014" name="TextBox 16"/>
            <p:cNvSpPr txBox="1"/>
            <p:nvPr/>
          </p:nvSpPr>
          <p:spPr>
            <a:xfrm>
              <a:off x="5447134" y="2204864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grpSp>
        <p:nvGrpSpPr>
          <p:cNvPr id="5015" name="组合 19"/>
          <p:cNvGrpSpPr/>
          <p:nvPr/>
        </p:nvGrpSpPr>
        <p:grpSpPr>
          <a:xfrm>
            <a:off x="4480560" y="4114800"/>
            <a:ext cx="3672408" cy="758033"/>
            <a:chOff x="4727054" y="1768670"/>
            <a:chExt cx="4896544" cy="1010710"/>
          </a:xfrm>
        </p:grpSpPr>
        <p:sp>
          <p:nvSpPr>
            <p:cNvPr id="5016" name="TextBox 12"/>
            <p:cNvSpPr txBox="1"/>
            <p:nvPr/>
          </p:nvSpPr>
          <p:spPr>
            <a:xfrm>
              <a:off x="4822629" y="1828399"/>
              <a:ext cx="308205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altLang="zh-CN" dirty="0">
                  <a:cs typeface="+mn-ea"/>
                  <a:sym typeface="+mn-lt"/>
                </a:rPr>
                <a:t>07</a:t>
              </a:r>
              <a:endParaRPr lang="zh-CN" altLang="en-US" dirty="0">
                <a:cs typeface="+mn-ea"/>
                <a:sym typeface="+mn-lt"/>
              </a:endParaRPr>
            </a:p>
          </p:txBody>
        </p:sp>
        <p:grpSp>
          <p:nvGrpSpPr>
            <p:cNvPr id="5017" name="组合 57"/>
            <p:cNvGrpSpPr/>
            <p:nvPr/>
          </p:nvGrpSpPr>
          <p:grpSpPr>
            <a:xfrm>
              <a:off x="4727054" y="1768670"/>
              <a:ext cx="504056" cy="488790"/>
              <a:chOff x="4727054" y="1768670"/>
              <a:chExt cx="504056" cy="488790"/>
            </a:xfrm>
          </p:grpSpPr>
          <p:sp>
            <p:nvSpPr>
              <p:cNvPr id="5018" name="左中括号 60"/>
              <p:cNvSpPr/>
              <p:nvPr/>
            </p:nvSpPr>
            <p:spPr>
              <a:xfrm>
                <a:off x="472705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19" name="左中括号 61"/>
              <p:cNvSpPr/>
              <p:nvPr/>
            </p:nvSpPr>
            <p:spPr>
              <a:xfrm flipH="1">
                <a:off x="5087094" y="1768670"/>
                <a:ext cx="144016" cy="488790"/>
              </a:xfrm>
              <a:prstGeom prst="leftBracket">
                <a:avLst/>
              </a:prstGeom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tx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sp>
          <p:nvSpPr>
            <p:cNvPr id="5020" name="TextBox 15"/>
            <p:cNvSpPr txBox="1"/>
            <p:nvPr/>
          </p:nvSpPr>
          <p:spPr>
            <a:xfrm>
              <a:off x="5375126" y="1772817"/>
              <a:ext cx="2400657" cy="4924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zh-CN" altLang="en-US" b="1" dirty="0">
                  <a:cs typeface="+mn-ea"/>
                  <a:sym typeface="+mn-lt"/>
                </a:rPr>
                <a:t>风险边界与下一步</a:t>
              </a:r>
            </a:p>
          </p:txBody>
        </p:sp>
        <p:sp>
          <p:nvSpPr>
            <p:cNvPr id="5021" name="TextBox 16"/>
            <p:cNvSpPr txBox="1"/>
            <p:nvPr/>
          </p:nvSpPr>
          <p:spPr>
            <a:xfrm>
              <a:off x="5447134" y="2204864"/>
              <a:ext cx="4176464" cy="574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/>
          </p:txBody>
        </p:sp>
      </p:grpSp>
      <p:sp>
        <p:nvSpPr>
          <p:cNvPr id="5022" name="TextBox 5021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3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54" y="-11906"/>
            <a:ext cx="9242584" cy="51668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21618" y="881119"/>
            <a:ext cx="1175657" cy="33816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21500" dirty="0">
                <a:solidFill>
                  <a:schemeClr val="bg2"/>
                </a:solidFill>
                <a:cs typeface="+mn-ea"/>
                <a:sym typeface="+mn-lt"/>
              </a:rPr>
              <a:t>1</a:t>
            </a:r>
            <a:endParaRPr lang="zh-CN" altLang="en-US" sz="215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5783" y="1276675"/>
            <a:ext cx="1175657" cy="282769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79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183005" y="1957864"/>
            <a:ext cx="66675" cy="122824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0267" y="1912397"/>
            <a:ext cx="1723583" cy="4838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zh-CN" altLang="en-US" sz="2700" dirty="0">
                <a:cs typeface="+mn-ea"/>
                <a:sym typeface="+mn-lt"/>
              </a:rPr>
              <a:t>01  立项背景与市场机会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90032" y="2541531"/>
            <a:ext cx="2566146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市场规模 · 客群痛点 · 竞品格局 · 产品边界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65346" y="863918"/>
            <a:ext cx="3549491" cy="3532346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367 -0.00046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00" y="-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-0.01432 0.00138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00" y="6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22" grpId="0" bldLvl="0" animBg="1"/>
      <p:bldP spid="25" grpId="0"/>
      <p:bldP spid="27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 txBox="1"/>
          <p:nvPr/>
        </p:nvSpPr>
        <p:spPr>
          <a:xfrm>
            <a:off x="4951476" y="1245020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项目定位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面向家庭全人群的智能门锁 AI 原型 Demo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编号 CH-2026-SL01-V1.0，编制日 2026-08-25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用途：IPD CDCP 立项决策评审核心材料</a:t>
            </a:r>
          </a:p>
        </p:txBody>
      </p:sp>
      <p:sp>
        <p:nvSpPr>
          <p:cNvPr id="30" name="Content Placeholder 2"/>
          <p:cNvSpPr txBox="1"/>
          <p:nvPr/>
        </p:nvSpPr>
        <p:spPr>
          <a:xfrm>
            <a:off x="4951476" y="2462989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硬件构成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Jetson 边缘设备 + 单个 RGB 摄像头 + 传感器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智能音箱 + NVIDIA GPU 笔记本</a:t>
            </a:r>
          </a:p>
        </p:txBody>
      </p:sp>
      <p:sp>
        <p:nvSpPr>
          <p:cNvPr id="31" name="Content Placeholder 2"/>
          <p:cNvSpPr txBox="1"/>
          <p:nvPr/>
        </p:nvSpPr>
        <p:spPr>
          <a:xfrm>
            <a:off x="4951475" y="3618216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核心能力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单目深度估计（Depth Anything / MiDaS）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2D 人脸识别、动作活体、声纹识别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人脸与声纹多模态融合、传感器唤醒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语音交互、模拟开锁、本地管理端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B9D3BB-147B-4B73-97DC-8B0D7F2050E8}"/>
              </a:ext>
            </a:extLst>
          </p:cNvPr>
          <p:cNvGrpSpPr/>
          <p:nvPr/>
        </p:nvGrpSpPr>
        <p:grpSpPr>
          <a:xfrm>
            <a:off x="1795687" y="1078466"/>
            <a:ext cx="2922296" cy="4131202"/>
            <a:chOff x="2394249" y="1437955"/>
            <a:chExt cx="3896395" cy="550826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4670444" y="5506224"/>
              <a:ext cx="0" cy="144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670445" y="2351329"/>
              <a:ext cx="0" cy="136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4670444" y="3935623"/>
              <a:ext cx="0" cy="1404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4670444" y="1498570"/>
              <a:ext cx="0" cy="64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4542204" y="2115031"/>
              <a:ext cx="252000" cy="252000"/>
              <a:chOff x="5934044" y="2659656"/>
              <a:chExt cx="252000" cy="2520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 rot="10800000">
              <a:off x="4538993" y="3717193"/>
              <a:ext cx="252000" cy="252000"/>
              <a:chOff x="5934044" y="2659656"/>
              <a:chExt cx="252000" cy="2520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4" name="Isosceles Triangle 13"/>
              <p:cNvSpPr/>
              <p:nvPr/>
            </p:nvSpPr>
            <p:spPr>
              <a:xfrm rot="16200000">
                <a:off x="5960354" y="2706576"/>
                <a:ext cx="144000" cy="14400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547381" y="5303068"/>
              <a:ext cx="252000" cy="252000"/>
              <a:chOff x="5934044" y="2659656"/>
              <a:chExt cx="252000" cy="2520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7" name="Isosceles Triangle 16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sp>
          <p:nvSpPr>
            <p:cNvPr id="20" name="Content Placeholder 2"/>
            <p:cNvSpPr txBox="1"/>
            <p:nvPr/>
          </p:nvSpPr>
          <p:spPr>
            <a:xfrm>
              <a:off x="3525564" y="2107037"/>
              <a:ext cx="940592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CEO</a:t>
              </a:r>
            </a:p>
          </p:txBody>
        </p:sp>
        <p:sp>
          <p:nvSpPr>
            <p:cNvPr id="21" name="Content Placeholder 2"/>
            <p:cNvSpPr txBox="1"/>
            <p:nvPr/>
          </p:nvSpPr>
          <p:spPr>
            <a:xfrm>
              <a:off x="3390891" y="3682379"/>
              <a:ext cx="1071586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MANAGER</a:t>
              </a:r>
            </a:p>
          </p:txBody>
        </p:sp>
        <p:sp>
          <p:nvSpPr>
            <p:cNvPr id="22" name="Content Placeholder 2"/>
            <p:cNvSpPr txBox="1"/>
            <p:nvPr/>
          </p:nvSpPr>
          <p:spPr>
            <a:xfrm>
              <a:off x="3018971" y="5273938"/>
              <a:ext cx="1454489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ASS. MANAGER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 rot="5400000">
              <a:off x="3604512" y="424063"/>
              <a:ext cx="0" cy="216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2394249" y="1437955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5047917" y="1639092"/>
              <a:ext cx="1242727" cy="1242727"/>
            </a:xfrm>
            <a:prstGeom prst="ellipse">
              <a:avLst/>
            </a:prstGeom>
            <a:solidFill>
              <a:schemeClr val="accent1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047916" y="3221829"/>
              <a:ext cx="1242727" cy="1242727"/>
            </a:xfrm>
            <a:prstGeom prst="ellipse">
              <a:avLst/>
            </a:prstGeom>
            <a:solidFill>
              <a:schemeClr val="accent3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047916" y="4807704"/>
              <a:ext cx="1242727" cy="1242727"/>
            </a:xfrm>
            <a:prstGeom prst="ellipse">
              <a:avLst/>
            </a:prstGeom>
            <a:solidFill>
              <a:schemeClr val="tx2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07A9DAD-ECE3-4F5B-BB2B-4DEB2E0F537D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4CF3693-C072-41AD-A802-F07A963AB475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548093C-F51F-4EA3-87B9-56AC599A418B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B1DEDAD-58E7-4AA0-AE3C-96369DDEDA9D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5C70D06-1887-424F-BE4D-784DEB83CF83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64008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项目概况与产品定位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45"/>
          <p:cNvSpPr>
            <a:spLocks noChangeAspect="1"/>
          </p:cNvSpPr>
          <p:nvPr/>
        </p:nvSpPr>
        <p:spPr bwMode="auto">
          <a:xfrm>
            <a:off x="4984571" y="1518357"/>
            <a:ext cx="135000" cy="135000"/>
          </a:xfrm>
          <a:prstGeom prst="ellipse">
            <a:avLst/>
          </a:prstGeom>
          <a:noFill/>
          <a:ln w="25400" cap="flat">
            <a:solidFill>
              <a:schemeClr val="accent1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Oval 45"/>
          <p:cNvSpPr>
            <a:spLocks noChangeAspect="1"/>
          </p:cNvSpPr>
          <p:nvPr/>
        </p:nvSpPr>
        <p:spPr bwMode="auto">
          <a:xfrm>
            <a:off x="4984571" y="1991333"/>
            <a:ext cx="135000" cy="135000"/>
          </a:xfrm>
          <a:prstGeom prst="ellipse">
            <a:avLst/>
          </a:prstGeom>
          <a:noFill/>
          <a:ln w="25400" cap="flat">
            <a:solidFill>
              <a:schemeClr val="accent2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45"/>
          <p:cNvSpPr>
            <a:spLocks noChangeAspect="1"/>
          </p:cNvSpPr>
          <p:nvPr/>
        </p:nvSpPr>
        <p:spPr bwMode="auto">
          <a:xfrm>
            <a:off x="4984571" y="2449814"/>
            <a:ext cx="135000" cy="135000"/>
          </a:xfrm>
          <a:prstGeom prst="ellipse">
            <a:avLst/>
          </a:prstGeom>
          <a:noFill/>
          <a:ln w="25400" cap="flat">
            <a:solidFill>
              <a:schemeClr val="accent3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45"/>
          <p:cNvSpPr>
            <a:spLocks noChangeAspect="1"/>
          </p:cNvSpPr>
          <p:nvPr/>
        </p:nvSpPr>
        <p:spPr bwMode="auto">
          <a:xfrm>
            <a:off x="4989064" y="2905674"/>
            <a:ext cx="135000" cy="135000"/>
          </a:xfrm>
          <a:prstGeom prst="ellipse">
            <a:avLst/>
          </a:prstGeom>
          <a:noFill/>
          <a:ln w="25400" cap="flat">
            <a:solidFill>
              <a:schemeClr val="accent4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45"/>
          <p:cNvSpPr>
            <a:spLocks noChangeAspect="1"/>
          </p:cNvSpPr>
          <p:nvPr/>
        </p:nvSpPr>
        <p:spPr bwMode="auto">
          <a:xfrm>
            <a:off x="4989064" y="3378650"/>
            <a:ext cx="135000" cy="135000"/>
          </a:xfrm>
          <a:prstGeom prst="ellipse">
            <a:avLst/>
          </a:prstGeom>
          <a:noFill/>
          <a:ln w="25400" cap="flat">
            <a:solidFill>
              <a:schemeClr val="accent5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152227" y="1431342"/>
            <a:ext cx="2944693" cy="484729"/>
            <a:chOff x="5207179" y="1643291"/>
            <a:chExt cx="3037229" cy="646305"/>
          </a:xfrm>
        </p:grpSpPr>
        <p:sp>
          <p:nvSpPr>
            <p:cNvPr id="12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13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One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52227" y="1899541"/>
            <a:ext cx="2944693" cy="484729"/>
            <a:chOff x="5207179" y="1643291"/>
            <a:chExt cx="3037229" cy="646305"/>
          </a:xfrm>
        </p:grpSpPr>
        <p:sp>
          <p:nvSpPr>
            <p:cNvPr id="15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16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T</a:t>
              </a:r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wo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61897" y="2359315"/>
            <a:ext cx="2944693" cy="484729"/>
            <a:chOff x="5207179" y="1643291"/>
            <a:chExt cx="3037229" cy="646305"/>
          </a:xfrm>
        </p:grpSpPr>
        <p:sp>
          <p:nvSpPr>
            <p:cNvPr id="18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19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Three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66732" y="2829974"/>
            <a:ext cx="2944693" cy="484729"/>
            <a:chOff x="5207179" y="1643291"/>
            <a:chExt cx="3037229" cy="646305"/>
          </a:xfrm>
        </p:grpSpPr>
        <p:sp>
          <p:nvSpPr>
            <p:cNvPr id="21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22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F</a:t>
              </a:r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our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177618" y="3298769"/>
            <a:ext cx="2944693" cy="484729"/>
            <a:chOff x="5207179" y="1643291"/>
            <a:chExt cx="3037229" cy="646305"/>
          </a:xfrm>
        </p:grpSpPr>
        <p:sp>
          <p:nvSpPr>
            <p:cNvPr id="24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25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Five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84ADCE-B762-43DB-9703-3591651AB94B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6651C9F-4A25-4101-8CF6-442478A46D06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7F8E3ED-96E1-441F-B43C-E762F2A6CD3F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1DCC738-C364-4FB4-AE04-D66E47D40B53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AE57239-83B2-4AF7-987C-522AF108BD32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777240" y="76809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中国智能门锁产销量趋势（万套）</a:t>
            </a:r>
          </a:p>
        </p:txBody>
      </p:sp>
      <p:graphicFrame>
        <p:nvGraphicFramePr>
          <p:cNvPr id="56" name="Chart 55"/>
          <p:cNvGraphicFramePr>
            <a:graphicFrameLocks noGrp="1"/>
          </p:cNvGraphicFramePr>
          <p:nvPr/>
        </p:nvGraphicFramePr>
        <p:xfrm>
          <a:off x="751108" y="1444109"/>
          <a:ext cx="3899264" cy="246887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立项背景与市场机会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市场结构：渗透率、品类与集中度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城镇家庭渗透率低于 30%：一线约 45%，新一线 38%，三四线 22%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88720" y="170992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日韩市场渗透率已超 60%，中国仍处普及中段，增量空间明确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8424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人脸识别 2025 年传统电商零售量占比 43.2%，零售额占比 59.4%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225856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2026 年 1-4 月线上销量份额 51.6%，掌静脉 16.5%（+9.2pct）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53288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AI 智能锁 2025 年销量占比 11.2%，销售额占比 24.7%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8720" y="28072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品牌集中度：小米 + 德施曼 + 凯迪仕合计 28.3%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88720" y="308152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2025Q3 小米、德施曼、海尔、凯迪仕合计 51.0%，TOP10 超 75%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188720" y="335584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TAM 450-700 亿元/年，SAM 140-210 亿元/年（01_ 统一口径）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45"/>
          <p:cNvSpPr>
            <a:spLocks noChangeAspect="1"/>
          </p:cNvSpPr>
          <p:nvPr/>
        </p:nvSpPr>
        <p:spPr bwMode="auto">
          <a:xfrm>
            <a:off x="4984571" y="1518357"/>
            <a:ext cx="135000" cy="135000"/>
          </a:xfrm>
          <a:prstGeom prst="ellipse">
            <a:avLst/>
          </a:prstGeom>
          <a:noFill/>
          <a:ln w="25400" cap="flat">
            <a:solidFill>
              <a:schemeClr val="accent1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" name="Oval 45"/>
          <p:cNvSpPr>
            <a:spLocks noChangeAspect="1"/>
          </p:cNvSpPr>
          <p:nvPr/>
        </p:nvSpPr>
        <p:spPr bwMode="auto">
          <a:xfrm>
            <a:off x="4984571" y="1991333"/>
            <a:ext cx="135000" cy="135000"/>
          </a:xfrm>
          <a:prstGeom prst="ellipse">
            <a:avLst/>
          </a:prstGeom>
          <a:noFill/>
          <a:ln w="25400" cap="flat">
            <a:solidFill>
              <a:schemeClr val="accent2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Oval 45"/>
          <p:cNvSpPr>
            <a:spLocks noChangeAspect="1"/>
          </p:cNvSpPr>
          <p:nvPr/>
        </p:nvSpPr>
        <p:spPr bwMode="auto">
          <a:xfrm>
            <a:off x="4984571" y="2449814"/>
            <a:ext cx="135000" cy="135000"/>
          </a:xfrm>
          <a:prstGeom prst="ellipse">
            <a:avLst/>
          </a:prstGeom>
          <a:noFill/>
          <a:ln w="25400" cap="flat">
            <a:solidFill>
              <a:schemeClr val="accent3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Oval 45"/>
          <p:cNvSpPr>
            <a:spLocks noChangeAspect="1"/>
          </p:cNvSpPr>
          <p:nvPr/>
        </p:nvSpPr>
        <p:spPr bwMode="auto">
          <a:xfrm>
            <a:off x="4989064" y="2905674"/>
            <a:ext cx="135000" cy="135000"/>
          </a:xfrm>
          <a:prstGeom prst="ellipse">
            <a:avLst/>
          </a:prstGeom>
          <a:noFill/>
          <a:ln w="25400" cap="flat">
            <a:solidFill>
              <a:schemeClr val="accent4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Oval 45"/>
          <p:cNvSpPr>
            <a:spLocks noChangeAspect="1"/>
          </p:cNvSpPr>
          <p:nvPr/>
        </p:nvSpPr>
        <p:spPr bwMode="auto">
          <a:xfrm>
            <a:off x="4989064" y="3378650"/>
            <a:ext cx="135000" cy="135000"/>
          </a:xfrm>
          <a:prstGeom prst="ellipse">
            <a:avLst/>
          </a:prstGeom>
          <a:noFill/>
          <a:ln w="25400" cap="flat">
            <a:solidFill>
              <a:schemeClr val="accent5">
                <a:alpha val="8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pPr algn="just"/>
            <a:endParaRPr lang="en-US" sz="700">
              <a:solidFill>
                <a:schemeClr val="bg1">
                  <a:lumMod val="6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5152227" y="1431342"/>
            <a:ext cx="2944693" cy="484729"/>
            <a:chOff x="5207179" y="1643291"/>
            <a:chExt cx="3037229" cy="646305"/>
          </a:xfrm>
        </p:grpSpPr>
        <p:sp>
          <p:nvSpPr>
            <p:cNvPr id="12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13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One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5152227" y="1899541"/>
            <a:ext cx="2944693" cy="484729"/>
            <a:chOff x="5207179" y="1643291"/>
            <a:chExt cx="3037229" cy="646305"/>
          </a:xfrm>
        </p:grpSpPr>
        <p:sp>
          <p:nvSpPr>
            <p:cNvPr id="15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16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T</a:t>
              </a:r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wo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5161897" y="2359315"/>
            <a:ext cx="2944693" cy="484729"/>
            <a:chOff x="5207179" y="1643291"/>
            <a:chExt cx="3037229" cy="646305"/>
          </a:xfrm>
        </p:grpSpPr>
        <p:sp>
          <p:nvSpPr>
            <p:cNvPr id="18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19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Three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66732" y="2829974"/>
            <a:ext cx="2944693" cy="484729"/>
            <a:chOff x="5207179" y="1643291"/>
            <a:chExt cx="3037229" cy="646305"/>
          </a:xfrm>
        </p:grpSpPr>
        <p:sp>
          <p:nvSpPr>
            <p:cNvPr id="21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22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F</a:t>
              </a:r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our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5177618" y="3298769"/>
            <a:ext cx="2944693" cy="484729"/>
            <a:chOff x="5207179" y="1643291"/>
            <a:chExt cx="3037229" cy="646305"/>
          </a:xfrm>
        </p:grpSpPr>
        <p:sp>
          <p:nvSpPr>
            <p:cNvPr id="24" name="Content Placeholder 2"/>
            <p:cNvSpPr txBox="1"/>
            <p:nvPr/>
          </p:nvSpPr>
          <p:spPr>
            <a:xfrm>
              <a:off x="5220072" y="1872493"/>
              <a:ext cx="3024336" cy="41710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342900" indent="-3429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2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sz="1050" kern="1200">
                  <a:solidFill>
                    <a:schemeClr val="bg1">
                      <a:lumMod val="6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just">
                <a:buNone/>
              </a:pPr>
              <a:r>
                <a:rPr lang="id-ID" sz="900" dirty="0">
                  <a:cs typeface="+mn-ea"/>
                  <a:sym typeface="+mn-lt"/>
                </a:rPr>
                <a:t>W</a:t>
              </a:r>
              <a:r>
                <a:rPr lang="en-US" sz="900" dirty="0">
                  <a:cs typeface="+mn-ea"/>
                  <a:sym typeface="+mn-lt"/>
                </a:rPr>
                <a:t>hen an unknown printer took a galley of type and scrambled it to make a type specimen book.</a:t>
              </a:r>
            </a:p>
          </p:txBody>
        </p:sp>
        <p:sp>
          <p:nvSpPr>
            <p:cNvPr id="25" name="Title 13"/>
            <p:cNvSpPr txBox="1"/>
            <p:nvPr/>
          </p:nvSpPr>
          <p:spPr>
            <a:xfrm>
              <a:off x="5207179" y="1643291"/>
              <a:ext cx="1797483" cy="330799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lnSpcReduction="10000"/>
            </a:bodyPr>
            <a:lstStyle>
              <a:lvl1pPr algn="l" defTabSz="914400" rtl="0" eaLnBrk="1" latinLnBrk="0" hangingPunct="1">
                <a:spcBef>
                  <a:spcPct val="0"/>
                </a:spcBef>
                <a:buNone/>
                <a:defRPr sz="3200" b="0" kern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Source Sans Pro Light" pitchFamily="34" charset="0"/>
                  <a:ea typeface="+mj-ea"/>
                  <a:cs typeface="+mj-cs"/>
                </a:defRPr>
              </a:lvl1pPr>
            </a:lstStyle>
            <a:p>
              <a:pPr algn="just"/>
              <a:r>
                <a:rPr lang="id-ID" sz="1100" b="1" dirty="0">
                  <a:solidFill>
                    <a:schemeClr val="tx1"/>
                  </a:solidFill>
                  <a:latin typeface="+mn-lt"/>
                  <a:ea typeface="+mn-ea"/>
                  <a:cs typeface="+mn-ea"/>
                  <a:sym typeface="+mn-lt"/>
                </a:rPr>
                <a:t>Five Category</a:t>
              </a:r>
              <a:endParaRPr lang="en-US" sz="1100" b="1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4084ADCE-B762-43DB-9703-3591651AB94B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E6651C9F-4A25-4101-8CF6-442478A46D06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7F8E3ED-96E1-441F-B43C-E762F2A6CD3F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21DCC738-C364-4FB4-AE04-D66E47D40B53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DAE57239-83B2-4AF7-987C-522AF108BD32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/>
          <p:cNvSpPr txBox="1"/>
          <p:nvPr/>
        </p:nvSpPr>
        <p:spPr>
          <a:xfrm>
            <a:off x="777240" y="768096"/>
            <a:ext cx="42976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价格段结构（传统电商零售量占比）</a:t>
            </a:r>
          </a:p>
        </p:txBody>
      </p:sp>
      <p:graphicFrame>
        <p:nvGraphicFramePr>
          <p:cNvPr id="56" name="Chart 55"/>
          <p:cNvGraphicFramePr>
            <a:graphicFrameLocks noGrp="1"/>
          </p:cNvGraphicFramePr>
          <p:nvPr/>
        </p:nvGraphicFramePr>
        <p:xfrm>
          <a:off x="751108" y="1444109"/>
          <a:ext cx="3899264" cy="246887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7" name="TextBox 56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42950" y="805815"/>
            <a:ext cx="3531870" cy="353187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9144" y="1517904"/>
            <a:ext cx="3939064" cy="12984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老人指纹浅，识别率低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晚间楼道暗光识别失败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担心照片 / 视频攻击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担心人脸数据上传云端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临时密码操作麻烦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门锁 + 猫眼需打两个孔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电池半年一换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579144" y="1213430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6A9AC4"/>
                </a:solidFill>
                <a:cs typeface="+mn-ea"/>
                <a:sym typeface="+mn-lt"/>
              </a:rPr>
              <a:t>用户痛点 VOC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9144" y="2999232"/>
            <a:ext cx="3939064" cy="129844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核心：城市中产 / 多代同堂家庭</a:t>
            </a:r>
            <a:endParaRPr lang="zh-CN" altLang="en-US" sz="800" dirty="0">
              <a:solidFill>
                <a:srgbClr val="0A1428"/>
              </a:solidFill>
              <a:cs typeface="+mn-ea"/>
              <a:sym typeface="+mn-lt"/>
            </a:endParaRP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核心价格带 2500-3500 元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次要：年轻智能家居用户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次要价格带 2000-3000 元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渠道：高端社区物业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渠道：智能家居集成商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渠道：长租公寓 / 民宿集采 1800-2800 元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9144" y="2751773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6A9AC4"/>
                </a:solidFill>
                <a:cs typeface="+mn-ea"/>
                <a:sym typeface="+mn-lt"/>
              </a:rPr>
              <a:t>目标客群与价格带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F64CD7-D890-4631-A305-598B85956535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F52E97E-E474-4CC7-B64A-370347CAC0A1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49D794F-F135-4630-81E7-9A0CACA4C442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CBCE04E-EE70-4F75-A59D-270B05556AF6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3584DA7-4CC0-4F5A-9338-93FF3914FAC6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77724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用户痛点 VOC 与目标客群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4" grpId="0"/>
      <p:bldP spid="24" grpId="1"/>
      <p:bldP spid="25" grpId="0"/>
      <p:bldP spid="4" grpId="0"/>
      <p:bldP spid="4" grpId="1"/>
      <p:bldP spid="5" grpId="0"/>
    </p:bld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立项背景与市场机会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竞品格局对比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竞品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主要配置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价格带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德施曼 R8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双目红外 3D 人脸 + 指静脉 + 大屏猫眼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3000-4000 元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凯迪仕 K70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3D 人脸 + 掌静脉 + 本地 AI 语音管家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3500-5000 元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小米 M30 Pro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AI 3D 结构光 + 广角猫眼 + 米家生态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2000-3000 元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华为 Pro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3D ToF + 分布式可视猫眼 + 鸿蒙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2500-3500 元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42950" y="805815"/>
            <a:ext cx="3531870" cy="353187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9144" y="1517904"/>
            <a:ext cx="3939064" cy="91440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多模态多为「或逻辑」，缺自适应降级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生物特征上传云端，存在隐私顾虑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身高 &lt;1.3m 儿童、&gt;1.9m 成人覆盖不全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PIR 存在误报与漏报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竞品续航普遍仅 3-6 个月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579144" y="1213430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6A9AC4"/>
                </a:solidFill>
                <a:cs typeface="+mn-ea"/>
                <a:sym typeface="+mn-lt"/>
              </a:rPr>
              <a:t>市场空白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9144" y="2999232"/>
            <a:ext cx="3939064" cy="91440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本地加权融合，阈值与权重可配置</a:t>
            </a:r>
            <a:endParaRPr lang="zh-CN" altLang="en-US" sz="800" dirty="0">
              <a:solidFill>
                <a:srgbClr val="0A1428"/>
              </a:solidFill>
              <a:cs typeface="+mn-ea"/>
              <a:sym typeface="+mn-lt"/>
            </a:endParaRP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端侧比对，生物特征不出设备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多模态 + 一次性凭证，判定可解释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红外上升沿触发 + 状态保持，抑制抖动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端侧不上云，无云存储订阅成本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9144" y="2751773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6A9AC4"/>
                </a:solidFill>
                <a:cs typeface="+mn-ea"/>
                <a:sym typeface="+mn-lt"/>
              </a:rPr>
              <a:t>我们的切入点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F64CD7-D890-4631-A305-598B85956535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F52E97E-E474-4CC7-B64A-370347CAC0A1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49D794F-F135-4630-81E7-9A0CACA4C442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CBCE04E-EE70-4F75-A59D-270B05556AF6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3584DA7-4CC0-4F5A-9338-93FF3914FAC6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77724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市场空白与我们的切入点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4" grpId="0"/>
      <p:bldP spid="24" grpId="1"/>
      <p:bldP spid="25" grpId="0"/>
      <p:bldP spid="4" grpId="0"/>
      <p:bldP spid="4" grpId="1"/>
      <p:bldP spid="5" grpId="0"/>
    </p:bld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立项背景与市场机会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产品边界：本项目明确不做的事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不做真实硬件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35024" y="1673351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真实整机硬件结构与开模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33955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仅做方案分析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35024" y="2171700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3D 结构光 / ToF 人脸、半导体指纹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335024" y="2368296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全自动锁体、安全芯片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8720" y="2628899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不做验证与送检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335024" y="2866644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真实低功耗与电池续航验证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35024" y="3063239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真实认证送检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720" y="3323843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当前版本不做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35024" y="3561587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声纹独立单因子开锁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335024" y="3758183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AI 主动安防与视频事件分析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188720" y="401878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不做平台化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335024" y="4256531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大规模云平台与社区门禁中台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54" y="-11906"/>
            <a:ext cx="9242584" cy="51668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21618" y="881119"/>
            <a:ext cx="1175657" cy="33816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21500" dirty="0">
                <a:solidFill>
                  <a:schemeClr val="bg2"/>
                </a:solidFill>
                <a:cs typeface="+mn-ea"/>
                <a:sym typeface="+mn-lt"/>
              </a:rPr>
              <a:t>2</a:t>
            </a:r>
            <a:endParaRPr lang="zh-CN" altLang="en-US" sz="215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5783" y="1276675"/>
            <a:ext cx="1175657" cy="282769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79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183005" y="1957864"/>
            <a:ext cx="66675" cy="122824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0267" y="1912397"/>
            <a:ext cx="1723583" cy="4838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zh-CN" altLang="en-US" sz="2700" dirty="0">
                <a:cs typeface="+mn-ea"/>
                <a:sym typeface="+mn-lt"/>
              </a:rPr>
              <a:t>02  关键技术预研与选型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90032" y="2541531"/>
            <a:ext cx="2566146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两条技术路线 · 否定项 · 判定结论 · 指标基线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65346" y="863918"/>
            <a:ext cx="3549491" cy="3532346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367 -0.00046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00" y="-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-0.01432 0.00138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00" y="6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22" grpId="0" bldLvl="0" animBg="1"/>
      <p:bldP spid="25" grpId="0"/>
      <p:bldP spid="27" grpId="0"/>
    </p:bld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关键技术预研与选型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技术选型：Demo 验证路线 vs 量产方案路线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能力域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Demo 验证路线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量产方案路线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深度估计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Depth Anything / MiDaS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3D 结构光优先，双目 IR 备选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人脸识别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InsightFace / SCRFD / ArcFace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3D 结构光 + 端侧比对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活体检测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MediaPipe FaceMesh 动作活体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3D 活体 + 分级唤醒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声纹识别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SpeechBrain ECAPA-TDNN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声纹作为第二因子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主认证兜底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自研规则引擎 + 人脸声纹融合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半导体指纹 + 密码兜底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多模态融合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自研规则引擎，加权融合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规则化多模态，策略从简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执行与推理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Jetson.GPIO + ONNX Runtime / TensorRT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全自动锁体 + 端侧 NPU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关键技术预研与选型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被否定的技术路线及理由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常电视觉方案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35024" y="1673351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功耗高、续航差，不适合电池供电门锁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33955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云端比对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35024" y="2171700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隐私、断网可用性与合规风险难以接受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432303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光学指纹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35024" y="2670048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安全性不足，干湿手识别弱，改选半导体指纹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88720" y="2930651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复杂 AI 多模态融合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35024" y="3168396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可解释性差，留待 V2.0；本版采用规则化融合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720" y="3428999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UWB / 声纹独立开锁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35024" y="3666744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UWB 短期可行性低；声纹 V1.0 仅作第二因子，不做单因子放行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188720" y="392734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指静脉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335024" y="4165091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识别慢约 1-2 秒、体积大、需用户教育，仅作旗舰补充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关键技术预研与选型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关键技术项判定结论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04495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技术项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判定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人脸识别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Pass（方案级）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Demo 用 2D，量产转 3D 结构光</a:t>
                      </a:r>
                    </a:p>
                  </a:txBody>
                  <a:tcPr marL="36576" marR="36576"/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指纹识别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Pass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量产采用半导体指纹</a:t>
                      </a:r>
                    </a:p>
                  </a:txBody>
                  <a:tcPr marL="36576" marR="36576"/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密码兜底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Pass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保留为最终降级通道</a:t>
                      </a:r>
                    </a:p>
                  </a:txBody>
                  <a:tcPr marL="36576" marR="36576"/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声纹识别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Conditional Pass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仅作第二因子，不单独放行</a:t>
                      </a:r>
                    </a:p>
                  </a:txBody>
                  <a:tcPr marL="36576" marR="36576"/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多模态融合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Pass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框架先行，策略从简</a:t>
                      </a:r>
                    </a:p>
                  </a:txBody>
                  <a:tcPr marL="36576" marR="36576"/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低功耗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Pass（设计验证）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分级唤醒，未做真机续航天验证</a:t>
                      </a:r>
                    </a:p>
                  </a:txBody>
                  <a:tcPr marL="36576" marR="36576"/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安全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Pass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端侧比对，特征不出设备</a:t>
                      </a:r>
                    </a:p>
                  </a:txBody>
                  <a:tcPr marL="36576" marR="36576"/>
                </a:tc>
              </a:tr>
              <a:tr h="304495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锁体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Pass（方案级）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全自动锁体仅方案分析</a:t>
                      </a:r>
                    </a:p>
                  </a:txBody>
                  <a:tcPr marL="36576" marR="36576"/>
                </a:tc>
              </a:tr>
              <a:tr h="304497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遮挡场景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Conditional Pass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算法准确率 72% → 95.3%，仍需实测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 txBox="1"/>
          <p:nvPr/>
        </p:nvSpPr>
        <p:spPr>
          <a:xfrm>
            <a:off x="4951476" y="1245020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Demo 基线（预研报告 6.2）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深度图 ≤ 1~2 秒；人脸识别单次 ≤ 1~2 秒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声纹识别 ≤ 2~3 秒；整体演示链路 ≤ 5~8 秒</a:t>
            </a:r>
          </a:p>
        </p:txBody>
      </p:sp>
      <p:sp>
        <p:nvSpPr>
          <p:cNvPr id="30" name="Content Placeholder 2"/>
          <p:cNvSpPr txBox="1"/>
          <p:nvPr/>
        </p:nvSpPr>
        <p:spPr>
          <a:xfrm>
            <a:off x="4951476" y="2462989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量产建议目标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识别成功率 ≥ 98%~99%；误识率 FAR ≤ 0.001%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活体拦截率 ≥ 95%~99%；开锁链路 ≤ 1.5~2 秒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唤醒 ≤ 300~500 毫秒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续航 ≥ 6 个月，低于 4 个月强制改方案</a:t>
            </a:r>
          </a:p>
        </p:txBody>
      </p:sp>
      <p:sp>
        <p:nvSpPr>
          <p:cNvPr id="31" name="Content Placeholder 2"/>
          <p:cNvSpPr txBox="1"/>
          <p:nvPr/>
        </p:nvSpPr>
        <p:spPr>
          <a:xfrm>
            <a:off x="4951475" y="3618216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遮挡优化参考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领先算法准确率 72% → 95.3%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单帧耗时 85 毫秒 → 38 毫秒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B9D3BB-147B-4B73-97DC-8B0D7F2050E8}"/>
              </a:ext>
            </a:extLst>
          </p:cNvPr>
          <p:cNvGrpSpPr/>
          <p:nvPr/>
        </p:nvGrpSpPr>
        <p:grpSpPr>
          <a:xfrm>
            <a:off x="1795687" y="1078466"/>
            <a:ext cx="2922296" cy="4131202"/>
            <a:chOff x="2394249" y="1437955"/>
            <a:chExt cx="3896395" cy="550826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4670444" y="5506224"/>
              <a:ext cx="0" cy="144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670445" y="2351329"/>
              <a:ext cx="0" cy="136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4670444" y="3935623"/>
              <a:ext cx="0" cy="1404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4670444" y="1498570"/>
              <a:ext cx="0" cy="64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4542204" y="2115031"/>
              <a:ext cx="252000" cy="252000"/>
              <a:chOff x="5934044" y="2659656"/>
              <a:chExt cx="252000" cy="2520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 rot="10800000">
              <a:off x="4538993" y="3717193"/>
              <a:ext cx="252000" cy="252000"/>
              <a:chOff x="5934044" y="2659656"/>
              <a:chExt cx="252000" cy="2520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4" name="Isosceles Triangle 13"/>
              <p:cNvSpPr/>
              <p:nvPr/>
            </p:nvSpPr>
            <p:spPr>
              <a:xfrm rot="16200000">
                <a:off x="5960354" y="2706576"/>
                <a:ext cx="144000" cy="14400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547381" y="5303068"/>
              <a:ext cx="252000" cy="252000"/>
              <a:chOff x="5934044" y="2659656"/>
              <a:chExt cx="252000" cy="2520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7" name="Isosceles Triangle 16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sp>
          <p:nvSpPr>
            <p:cNvPr id="20" name="Content Placeholder 2"/>
            <p:cNvSpPr txBox="1"/>
            <p:nvPr/>
          </p:nvSpPr>
          <p:spPr>
            <a:xfrm>
              <a:off x="3525564" y="2107037"/>
              <a:ext cx="940592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CEO</a:t>
              </a:r>
            </a:p>
          </p:txBody>
        </p:sp>
        <p:sp>
          <p:nvSpPr>
            <p:cNvPr id="21" name="Content Placeholder 2"/>
            <p:cNvSpPr txBox="1"/>
            <p:nvPr/>
          </p:nvSpPr>
          <p:spPr>
            <a:xfrm>
              <a:off x="3390891" y="3682379"/>
              <a:ext cx="1071586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MANAGER</a:t>
              </a:r>
            </a:p>
          </p:txBody>
        </p:sp>
        <p:sp>
          <p:nvSpPr>
            <p:cNvPr id="22" name="Content Placeholder 2"/>
            <p:cNvSpPr txBox="1"/>
            <p:nvPr/>
          </p:nvSpPr>
          <p:spPr>
            <a:xfrm>
              <a:off x="3018971" y="5273938"/>
              <a:ext cx="1454489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ASS. MANAGER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 rot="5400000">
              <a:off x="3604512" y="424063"/>
              <a:ext cx="0" cy="216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2394249" y="1437955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5047917" y="1639092"/>
              <a:ext cx="1242727" cy="1242727"/>
            </a:xfrm>
            <a:prstGeom prst="ellipse">
              <a:avLst/>
            </a:prstGeom>
            <a:solidFill>
              <a:schemeClr val="accent1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047916" y="3221829"/>
              <a:ext cx="1242727" cy="1242727"/>
            </a:xfrm>
            <a:prstGeom prst="ellipse">
              <a:avLst/>
            </a:prstGeom>
            <a:solidFill>
              <a:schemeClr val="accent3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047916" y="4807704"/>
              <a:ext cx="1242727" cy="1242727"/>
            </a:xfrm>
            <a:prstGeom prst="ellipse">
              <a:avLst/>
            </a:prstGeom>
            <a:solidFill>
              <a:schemeClr val="tx2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07A9DAD-ECE3-4F5B-BB2B-4DEB2E0F537D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4CF3693-C072-41AD-A802-F07A963AB475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548093C-F51F-4EA3-87B9-56AC599A418B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B1DEDAD-58E7-4AA0-AE3C-96369DDEDA9D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5C70D06-1887-424F-BE4D-784DEB83CF83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64008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性能指标：Demo 基线与量产目标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54" y="-11906"/>
            <a:ext cx="9242584" cy="51668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21618" y="881119"/>
            <a:ext cx="1175657" cy="33816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21500" dirty="0">
                <a:solidFill>
                  <a:schemeClr val="bg2"/>
                </a:solidFill>
                <a:cs typeface="+mn-ea"/>
                <a:sym typeface="+mn-lt"/>
              </a:rPr>
              <a:t>3</a:t>
            </a:r>
            <a:endParaRPr lang="zh-CN" altLang="en-US" sz="215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5783" y="1276675"/>
            <a:ext cx="1175657" cy="282769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79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3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183005" y="1957864"/>
            <a:ext cx="66675" cy="122824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0267" y="1912397"/>
            <a:ext cx="1723583" cy="4838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zh-CN" altLang="en-US" sz="2700" dirty="0">
                <a:cs typeface="+mn-ea"/>
                <a:sym typeface="+mn-lt"/>
              </a:rPr>
              <a:t>03  系统架构与实现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90032" y="2541531"/>
            <a:ext cx="2566146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四层职责边界 · 融合认证 · 两阶段开门 · 语音 Agent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65346" y="863918"/>
            <a:ext cx="3549491" cy="3532346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367 -0.00046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00" y="-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-0.01432 0.00138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00" y="6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22" grpId="0" bldLvl="0" animBg="1"/>
      <p:bldP spid="25" grpId="0"/>
      <p:bldP spid="27" grpId="0"/>
    </p:bldLst>
  </p:timing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401558" y="1278641"/>
            <a:ext cx="3742442" cy="20291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8253" y="1659751"/>
            <a:ext cx="1887717" cy="392415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2" name="Shape 1183"/>
          <p:cNvSpPr/>
          <p:nvPr/>
        </p:nvSpPr>
        <p:spPr>
          <a:xfrm>
            <a:off x="5878917" y="1758518"/>
            <a:ext cx="325293" cy="3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14288" tIns="14288" rIns="14288" bIns="14288" numCol="1" anchor="ctr">
            <a:noAutofit/>
          </a:bodyPr>
          <a:lstStyle/>
          <a:p>
            <a:pPr algn="ctr" defTabSz="17145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90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13" name="Shape 1184"/>
          <p:cNvSpPr/>
          <p:nvPr/>
        </p:nvSpPr>
        <p:spPr>
          <a:xfrm>
            <a:off x="5897930" y="1773295"/>
            <a:ext cx="296424" cy="2699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rmAutofit/>
          </a:bodyPr>
          <a:lstStyle>
            <a:lvl1pPr algn="ctr">
              <a:spcBef>
                <a:spcPts val="500"/>
              </a:spcBef>
              <a:defRPr sz="2500" spc="0">
                <a:solidFill>
                  <a:srgbClr val="FFFFFF"/>
                </a:solidFill>
              </a:defRPr>
            </a:lvl1pPr>
          </a:lstStyle>
          <a:p>
            <a:pPr lvl="0">
              <a:defRPr sz="1800" b="0" spc="0">
                <a:solidFill>
                  <a:srgbClr val="000000"/>
                </a:solidFill>
              </a:defRPr>
            </a:pPr>
            <a:r>
              <a:rPr sz="900" dirty="0">
                <a:solidFill>
                  <a:schemeClr val="bg2"/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253" y="2444533"/>
            <a:ext cx="1887717" cy="392415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8" name="Shape 1183"/>
          <p:cNvSpPr/>
          <p:nvPr/>
        </p:nvSpPr>
        <p:spPr>
          <a:xfrm>
            <a:off x="5878917" y="2543300"/>
            <a:ext cx="325293" cy="3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14288" tIns="14288" rIns="14288" bIns="14288" numCol="1" anchor="ctr">
            <a:noAutofit/>
          </a:bodyPr>
          <a:lstStyle/>
          <a:p>
            <a:pPr algn="ctr" defTabSz="17145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90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19" name="Shape 1184"/>
          <p:cNvSpPr/>
          <p:nvPr/>
        </p:nvSpPr>
        <p:spPr>
          <a:xfrm>
            <a:off x="5897930" y="2558077"/>
            <a:ext cx="296424" cy="2699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rmAutofit/>
          </a:bodyPr>
          <a:lstStyle>
            <a:lvl1pPr algn="ctr">
              <a:spcBef>
                <a:spcPts val="500"/>
              </a:spcBef>
              <a:defRPr sz="2500" spc="0">
                <a:solidFill>
                  <a:srgbClr val="FFFFFF"/>
                </a:solidFill>
              </a:defRPr>
            </a:lvl1pPr>
          </a:lstStyle>
          <a:p>
            <a:pPr lvl="0">
              <a:defRPr sz="1800" b="0" spc="0">
                <a:solidFill>
                  <a:srgbClr val="000000"/>
                </a:solidFill>
              </a:defRPr>
            </a:pPr>
            <a:r>
              <a:rPr lang="en-US" sz="900" dirty="0">
                <a:solidFill>
                  <a:schemeClr val="bg2"/>
                </a:solidFill>
                <a:cs typeface="+mn-ea"/>
                <a:sym typeface="+mn-lt"/>
              </a:rPr>
              <a:t>2</a:t>
            </a:r>
            <a:endParaRPr sz="9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0" name="Shape 1353"/>
          <p:cNvSpPr/>
          <p:nvPr/>
        </p:nvSpPr>
        <p:spPr>
          <a:xfrm>
            <a:off x="3544535" y="3619422"/>
            <a:ext cx="633470" cy="507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4" h="21410" extrusionOk="0">
                <a:moveTo>
                  <a:pt x="20264" y="4961"/>
                </a:moveTo>
                <a:cubicBezTo>
                  <a:pt x="20042" y="6440"/>
                  <a:pt x="19011" y="7513"/>
                  <a:pt x="17815" y="7513"/>
                </a:cubicBezTo>
                <a:cubicBezTo>
                  <a:pt x="17659" y="7513"/>
                  <a:pt x="17502" y="7495"/>
                  <a:pt x="17348" y="7458"/>
                </a:cubicBezTo>
                <a:cubicBezTo>
                  <a:pt x="17149" y="7411"/>
                  <a:pt x="16946" y="7328"/>
                  <a:pt x="16748" y="7212"/>
                </a:cubicBezTo>
                <a:cubicBezTo>
                  <a:pt x="16549" y="7094"/>
                  <a:pt x="16312" y="7156"/>
                  <a:pt x="16166" y="7358"/>
                </a:cubicBezTo>
                <a:cubicBezTo>
                  <a:pt x="15917" y="7708"/>
                  <a:pt x="15541" y="7873"/>
                  <a:pt x="15176" y="7786"/>
                </a:cubicBezTo>
                <a:cubicBezTo>
                  <a:pt x="14711" y="7676"/>
                  <a:pt x="14356" y="7182"/>
                  <a:pt x="14315" y="6582"/>
                </a:cubicBezTo>
                <a:cubicBezTo>
                  <a:pt x="14302" y="6382"/>
                  <a:pt x="14213" y="6203"/>
                  <a:pt x="14077" y="6102"/>
                </a:cubicBezTo>
                <a:cubicBezTo>
                  <a:pt x="13518" y="5675"/>
                  <a:pt x="13223" y="4849"/>
                  <a:pt x="13343" y="4044"/>
                </a:cubicBezTo>
                <a:cubicBezTo>
                  <a:pt x="13484" y="3111"/>
                  <a:pt x="14133" y="2431"/>
                  <a:pt x="14890" y="2431"/>
                </a:cubicBezTo>
                <a:cubicBezTo>
                  <a:pt x="14988" y="2431"/>
                  <a:pt x="15087" y="2444"/>
                  <a:pt x="15184" y="2466"/>
                </a:cubicBezTo>
                <a:cubicBezTo>
                  <a:pt x="15254" y="2482"/>
                  <a:pt x="15318" y="2507"/>
                  <a:pt x="15383" y="2533"/>
                </a:cubicBezTo>
                <a:cubicBezTo>
                  <a:pt x="15575" y="2610"/>
                  <a:pt x="15784" y="2537"/>
                  <a:pt x="15915" y="2346"/>
                </a:cubicBezTo>
                <a:cubicBezTo>
                  <a:pt x="16494" y="1500"/>
                  <a:pt x="17398" y="1096"/>
                  <a:pt x="18274" y="1303"/>
                </a:cubicBezTo>
                <a:cubicBezTo>
                  <a:pt x="19625" y="1622"/>
                  <a:pt x="20520" y="3263"/>
                  <a:pt x="20264" y="4961"/>
                </a:cubicBezTo>
                <a:cubicBezTo>
                  <a:pt x="20264" y="4961"/>
                  <a:pt x="20264" y="4961"/>
                  <a:pt x="20264" y="4961"/>
                </a:cubicBezTo>
                <a:close/>
                <a:moveTo>
                  <a:pt x="9590" y="20161"/>
                </a:moveTo>
                <a:lnTo>
                  <a:pt x="9590" y="13799"/>
                </a:lnTo>
                <a:cubicBezTo>
                  <a:pt x="9590" y="13455"/>
                  <a:pt x="9366" y="13174"/>
                  <a:pt x="9091" y="13174"/>
                </a:cubicBezTo>
                <a:lnTo>
                  <a:pt x="6043" y="13174"/>
                </a:lnTo>
                <a:cubicBezTo>
                  <a:pt x="5769" y="13174"/>
                  <a:pt x="5545" y="13455"/>
                  <a:pt x="5545" y="13799"/>
                </a:cubicBezTo>
                <a:lnTo>
                  <a:pt x="5545" y="20161"/>
                </a:lnTo>
                <a:lnTo>
                  <a:pt x="2350" y="20161"/>
                </a:lnTo>
                <a:lnTo>
                  <a:pt x="2350" y="11698"/>
                </a:lnTo>
                <a:cubicBezTo>
                  <a:pt x="2350" y="11668"/>
                  <a:pt x="2345" y="11637"/>
                  <a:pt x="2343" y="11606"/>
                </a:cubicBezTo>
                <a:lnTo>
                  <a:pt x="7567" y="6960"/>
                </a:lnTo>
                <a:lnTo>
                  <a:pt x="12793" y="11606"/>
                </a:lnTo>
                <a:cubicBezTo>
                  <a:pt x="12790" y="11637"/>
                  <a:pt x="12785" y="11668"/>
                  <a:pt x="12785" y="11698"/>
                </a:cubicBezTo>
                <a:lnTo>
                  <a:pt x="12785" y="20161"/>
                </a:lnTo>
                <a:cubicBezTo>
                  <a:pt x="12785" y="20161"/>
                  <a:pt x="9590" y="20161"/>
                  <a:pt x="9590" y="20161"/>
                </a:cubicBezTo>
                <a:close/>
                <a:moveTo>
                  <a:pt x="18457" y="75"/>
                </a:moveTo>
                <a:cubicBezTo>
                  <a:pt x="17342" y="-190"/>
                  <a:pt x="16183" y="258"/>
                  <a:pt x="15377" y="1240"/>
                </a:cubicBezTo>
                <a:cubicBezTo>
                  <a:pt x="15373" y="1240"/>
                  <a:pt x="15372" y="1240"/>
                  <a:pt x="15369" y="1238"/>
                </a:cubicBezTo>
                <a:cubicBezTo>
                  <a:pt x="15210" y="1201"/>
                  <a:pt x="15049" y="1183"/>
                  <a:pt x="14890" y="1183"/>
                </a:cubicBezTo>
                <a:cubicBezTo>
                  <a:pt x="13655" y="1183"/>
                  <a:pt x="12592" y="2289"/>
                  <a:pt x="12363" y="3812"/>
                </a:cubicBezTo>
                <a:cubicBezTo>
                  <a:pt x="12182" y="5026"/>
                  <a:pt x="12577" y="6268"/>
                  <a:pt x="13359" y="6999"/>
                </a:cubicBezTo>
                <a:cubicBezTo>
                  <a:pt x="13529" y="8011"/>
                  <a:pt x="14169" y="8821"/>
                  <a:pt x="14991" y="9014"/>
                </a:cubicBezTo>
                <a:cubicBezTo>
                  <a:pt x="15117" y="9043"/>
                  <a:pt x="15246" y="9059"/>
                  <a:pt x="15372" y="9059"/>
                </a:cubicBezTo>
                <a:cubicBezTo>
                  <a:pt x="15669" y="9059"/>
                  <a:pt x="15955" y="8969"/>
                  <a:pt x="16221" y="8817"/>
                </a:cubicBezTo>
                <a:lnTo>
                  <a:pt x="16221" y="20161"/>
                </a:lnTo>
                <a:lnTo>
                  <a:pt x="13782" y="20161"/>
                </a:lnTo>
                <a:lnTo>
                  <a:pt x="13782" y="12485"/>
                </a:lnTo>
                <a:lnTo>
                  <a:pt x="14299" y="12947"/>
                </a:lnTo>
                <a:cubicBezTo>
                  <a:pt x="14385" y="13022"/>
                  <a:pt x="14485" y="13060"/>
                  <a:pt x="14588" y="13060"/>
                </a:cubicBezTo>
                <a:cubicBezTo>
                  <a:pt x="14665" y="13060"/>
                  <a:pt x="14745" y="13038"/>
                  <a:pt x="14816" y="12991"/>
                </a:cubicBezTo>
                <a:cubicBezTo>
                  <a:pt x="14981" y="12884"/>
                  <a:pt x="15085" y="12670"/>
                  <a:pt x="15085" y="12436"/>
                </a:cubicBezTo>
                <a:lnTo>
                  <a:pt x="15085" y="10771"/>
                </a:lnTo>
                <a:cubicBezTo>
                  <a:pt x="15085" y="10567"/>
                  <a:pt x="15007" y="10378"/>
                  <a:pt x="14876" y="10260"/>
                </a:cubicBezTo>
                <a:lnTo>
                  <a:pt x="12127" y="7816"/>
                </a:lnTo>
                <a:lnTo>
                  <a:pt x="12127" y="5439"/>
                </a:lnTo>
                <a:cubicBezTo>
                  <a:pt x="12127" y="5095"/>
                  <a:pt x="11905" y="4814"/>
                  <a:pt x="11629" y="4814"/>
                </a:cubicBezTo>
                <a:cubicBezTo>
                  <a:pt x="11353" y="4814"/>
                  <a:pt x="11131" y="5095"/>
                  <a:pt x="11131" y="5439"/>
                </a:cubicBezTo>
                <a:lnTo>
                  <a:pt x="11131" y="6932"/>
                </a:lnTo>
                <a:lnTo>
                  <a:pt x="7856" y="4017"/>
                </a:lnTo>
                <a:cubicBezTo>
                  <a:pt x="7684" y="3865"/>
                  <a:pt x="7452" y="3865"/>
                  <a:pt x="7280" y="4017"/>
                </a:cubicBezTo>
                <a:lnTo>
                  <a:pt x="259" y="10262"/>
                </a:lnTo>
                <a:cubicBezTo>
                  <a:pt x="128" y="10378"/>
                  <a:pt x="50" y="10569"/>
                  <a:pt x="50" y="10771"/>
                </a:cubicBezTo>
                <a:lnTo>
                  <a:pt x="50" y="12438"/>
                </a:lnTo>
                <a:cubicBezTo>
                  <a:pt x="50" y="12670"/>
                  <a:pt x="154" y="12886"/>
                  <a:pt x="320" y="12991"/>
                </a:cubicBezTo>
                <a:cubicBezTo>
                  <a:pt x="485" y="13100"/>
                  <a:pt x="684" y="13083"/>
                  <a:pt x="837" y="12947"/>
                </a:cubicBezTo>
                <a:lnTo>
                  <a:pt x="1354" y="12488"/>
                </a:lnTo>
                <a:lnTo>
                  <a:pt x="1354" y="20161"/>
                </a:lnTo>
                <a:lnTo>
                  <a:pt x="498" y="20161"/>
                </a:lnTo>
                <a:cubicBezTo>
                  <a:pt x="222" y="20161"/>
                  <a:pt x="0" y="20440"/>
                  <a:pt x="0" y="20786"/>
                </a:cubicBezTo>
                <a:cubicBezTo>
                  <a:pt x="0" y="21131"/>
                  <a:pt x="222" y="21410"/>
                  <a:pt x="498" y="21410"/>
                </a:cubicBezTo>
                <a:lnTo>
                  <a:pt x="18063" y="21410"/>
                </a:lnTo>
                <a:cubicBezTo>
                  <a:pt x="18338" y="21410"/>
                  <a:pt x="18560" y="21131"/>
                  <a:pt x="18560" y="20786"/>
                </a:cubicBezTo>
                <a:cubicBezTo>
                  <a:pt x="18560" y="20440"/>
                  <a:pt x="18338" y="20161"/>
                  <a:pt x="18063" y="20161"/>
                </a:cubicBezTo>
                <a:lnTo>
                  <a:pt x="17218" y="20161"/>
                </a:lnTo>
                <a:lnTo>
                  <a:pt x="17218" y="15812"/>
                </a:lnTo>
                <a:lnTo>
                  <a:pt x="18423" y="14232"/>
                </a:lnTo>
                <a:cubicBezTo>
                  <a:pt x="18614" y="13982"/>
                  <a:pt x="18606" y="13587"/>
                  <a:pt x="18408" y="13347"/>
                </a:cubicBezTo>
                <a:cubicBezTo>
                  <a:pt x="18209" y="13109"/>
                  <a:pt x="17894" y="13120"/>
                  <a:pt x="17703" y="13368"/>
                </a:cubicBezTo>
                <a:lnTo>
                  <a:pt x="17218" y="14004"/>
                </a:lnTo>
                <a:lnTo>
                  <a:pt x="17218" y="8696"/>
                </a:lnTo>
                <a:cubicBezTo>
                  <a:pt x="17416" y="8740"/>
                  <a:pt x="17616" y="8764"/>
                  <a:pt x="17815" y="8764"/>
                </a:cubicBezTo>
                <a:cubicBezTo>
                  <a:pt x="19491" y="8764"/>
                  <a:pt x="20934" y="7261"/>
                  <a:pt x="21243" y="5191"/>
                </a:cubicBezTo>
                <a:cubicBezTo>
                  <a:pt x="21600" y="2818"/>
                  <a:pt x="20350" y="522"/>
                  <a:pt x="18457" y="75"/>
                </a:cubicBezTo>
                <a:cubicBezTo>
                  <a:pt x="18457" y="75"/>
                  <a:pt x="18457" y="75"/>
                  <a:pt x="18457" y="7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algn="ctr" defTabSz="34290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8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Shape 1354"/>
          <p:cNvSpPr/>
          <p:nvPr/>
        </p:nvSpPr>
        <p:spPr>
          <a:xfrm>
            <a:off x="5675634" y="3611585"/>
            <a:ext cx="649643" cy="523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66" y="0"/>
                </a:moveTo>
                <a:lnTo>
                  <a:pt x="5767" y="5144"/>
                </a:lnTo>
                <a:lnTo>
                  <a:pt x="5767" y="2783"/>
                </a:lnTo>
                <a:lnTo>
                  <a:pt x="3878" y="2783"/>
                </a:lnTo>
                <a:lnTo>
                  <a:pt x="3878" y="7075"/>
                </a:lnTo>
                <a:lnTo>
                  <a:pt x="0" y="11031"/>
                </a:lnTo>
                <a:lnTo>
                  <a:pt x="1202" y="12844"/>
                </a:lnTo>
                <a:lnTo>
                  <a:pt x="3828" y="10163"/>
                </a:lnTo>
                <a:lnTo>
                  <a:pt x="3828" y="18950"/>
                </a:lnTo>
                <a:lnTo>
                  <a:pt x="4873" y="18950"/>
                </a:lnTo>
                <a:lnTo>
                  <a:pt x="4873" y="14126"/>
                </a:lnTo>
                <a:lnTo>
                  <a:pt x="10866" y="7990"/>
                </a:lnTo>
                <a:lnTo>
                  <a:pt x="13384" y="10593"/>
                </a:lnTo>
                <a:lnTo>
                  <a:pt x="13384" y="8693"/>
                </a:lnTo>
                <a:lnTo>
                  <a:pt x="14694" y="8693"/>
                </a:lnTo>
                <a:lnTo>
                  <a:pt x="14694" y="11937"/>
                </a:lnTo>
                <a:lnTo>
                  <a:pt x="16853" y="14150"/>
                </a:lnTo>
                <a:lnTo>
                  <a:pt x="16853" y="18950"/>
                </a:lnTo>
                <a:lnTo>
                  <a:pt x="17860" y="18950"/>
                </a:lnTo>
                <a:lnTo>
                  <a:pt x="17860" y="10249"/>
                </a:lnTo>
                <a:lnTo>
                  <a:pt x="20398" y="12844"/>
                </a:lnTo>
                <a:lnTo>
                  <a:pt x="21600" y="11031"/>
                </a:lnTo>
                <a:cubicBezTo>
                  <a:pt x="21600" y="11031"/>
                  <a:pt x="10866" y="0"/>
                  <a:pt x="10866" y="0"/>
                </a:cubicBezTo>
                <a:close/>
                <a:moveTo>
                  <a:pt x="10854" y="9506"/>
                </a:moveTo>
                <a:lnTo>
                  <a:pt x="5641" y="14853"/>
                </a:lnTo>
                <a:lnTo>
                  <a:pt x="5641" y="21600"/>
                </a:lnTo>
                <a:lnTo>
                  <a:pt x="16066" y="21600"/>
                </a:lnTo>
                <a:lnTo>
                  <a:pt x="16066" y="14869"/>
                </a:lnTo>
                <a:cubicBezTo>
                  <a:pt x="16066" y="14869"/>
                  <a:pt x="10854" y="9506"/>
                  <a:pt x="10854" y="9506"/>
                </a:cubicBezTo>
                <a:close/>
                <a:moveTo>
                  <a:pt x="8845" y="14251"/>
                </a:moveTo>
                <a:lnTo>
                  <a:pt x="10778" y="14251"/>
                </a:lnTo>
                <a:cubicBezTo>
                  <a:pt x="10778" y="14251"/>
                  <a:pt x="10778" y="16495"/>
                  <a:pt x="10778" y="16495"/>
                </a:cubicBezTo>
                <a:lnTo>
                  <a:pt x="8845" y="16495"/>
                </a:lnTo>
                <a:lnTo>
                  <a:pt x="8845" y="14251"/>
                </a:lnTo>
                <a:close/>
                <a:moveTo>
                  <a:pt x="11030" y="14251"/>
                </a:moveTo>
                <a:lnTo>
                  <a:pt x="12956" y="14251"/>
                </a:lnTo>
                <a:cubicBezTo>
                  <a:pt x="12956" y="14251"/>
                  <a:pt x="12956" y="16495"/>
                  <a:pt x="12956" y="16495"/>
                </a:cubicBezTo>
                <a:lnTo>
                  <a:pt x="11030" y="16495"/>
                </a:lnTo>
                <a:lnTo>
                  <a:pt x="11030" y="14251"/>
                </a:lnTo>
                <a:close/>
                <a:moveTo>
                  <a:pt x="8845" y="16784"/>
                </a:moveTo>
                <a:lnTo>
                  <a:pt x="10778" y="16784"/>
                </a:lnTo>
                <a:cubicBezTo>
                  <a:pt x="10778" y="16784"/>
                  <a:pt x="10778" y="19028"/>
                  <a:pt x="10778" y="19028"/>
                </a:cubicBezTo>
                <a:lnTo>
                  <a:pt x="8845" y="19028"/>
                </a:lnTo>
                <a:lnTo>
                  <a:pt x="8845" y="16784"/>
                </a:lnTo>
                <a:close/>
                <a:moveTo>
                  <a:pt x="11030" y="16784"/>
                </a:moveTo>
                <a:lnTo>
                  <a:pt x="12956" y="16784"/>
                </a:lnTo>
                <a:cubicBezTo>
                  <a:pt x="12956" y="16784"/>
                  <a:pt x="12956" y="19028"/>
                  <a:pt x="12956" y="19028"/>
                </a:cubicBezTo>
                <a:lnTo>
                  <a:pt x="11030" y="19028"/>
                </a:lnTo>
                <a:lnTo>
                  <a:pt x="11030" y="16784"/>
                </a:lnTo>
                <a:close/>
              </a:path>
            </a:pathLst>
          </a:custGeom>
          <a:solidFill>
            <a:schemeClr val="tx1">
              <a:alpha val="15000"/>
            </a:schemeClr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algn="ctr" defTabSz="34290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8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Shape 1355"/>
          <p:cNvSpPr/>
          <p:nvPr/>
        </p:nvSpPr>
        <p:spPr>
          <a:xfrm>
            <a:off x="1486773" y="3611585"/>
            <a:ext cx="470627" cy="523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1" h="21600" extrusionOk="0">
                <a:moveTo>
                  <a:pt x="17894" y="9796"/>
                </a:moveTo>
                <a:lnTo>
                  <a:pt x="2264" y="9796"/>
                </a:lnTo>
                <a:lnTo>
                  <a:pt x="10720" y="1679"/>
                </a:lnTo>
                <a:lnTo>
                  <a:pt x="11876" y="2788"/>
                </a:lnTo>
                <a:lnTo>
                  <a:pt x="11876" y="3922"/>
                </a:lnTo>
                <a:cubicBezTo>
                  <a:pt x="11876" y="4296"/>
                  <a:pt x="12213" y="4604"/>
                  <a:pt x="12629" y="4604"/>
                </a:cubicBezTo>
                <a:cubicBezTo>
                  <a:pt x="13046" y="4604"/>
                  <a:pt x="13383" y="4296"/>
                  <a:pt x="13383" y="3922"/>
                </a:cubicBezTo>
                <a:lnTo>
                  <a:pt x="13383" y="1367"/>
                </a:lnTo>
                <a:lnTo>
                  <a:pt x="15511" y="1367"/>
                </a:lnTo>
                <a:lnTo>
                  <a:pt x="15511" y="7092"/>
                </a:lnTo>
                <a:cubicBezTo>
                  <a:pt x="15511" y="7469"/>
                  <a:pt x="15849" y="7776"/>
                  <a:pt x="16265" y="7776"/>
                </a:cubicBezTo>
                <a:cubicBezTo>
                  <a:pt x="16492" y="7776"/>
                  <a:pt x="16689" y="7686"/>
                  <a:pt x="16830" y="7542"/>
                </a:cubicBezTo>
                <a:lnTo>
                  <a:pt x="19175" y="9796"/>
                </a:lnTo>
                <a:cubicBezTo>
                  <a:pt x="19175" y="9796"/>
                  <a:pt x="17894" y="9796"/>
                  <a:pt x="17894" y="9796"/>
                </a:cubicBezTo>
                <a:close/>
                <a:moveTo>
                  <a:pt x="17644" y="20236"/>
                </a:moveTo>
                <a:lnTo>
                  <a:pt x="13396" y="20236"/>
                </a:lnTo>
                <a:lnTo>
                  <a:pt x="13396" y="15059"/>
                </a:lnTo>
                <a:cubicBezTo>
                  <a:pt x="13396" y="14932"/>
                  <a:pt x="13283" y="14830"/>
                  <a:pt x="13143" y="14830"/>
                </a:cubicBezTo>
                <a:lnTo>
                  <a:pt x="8295" y="14830"/>
                </a:lnTo>
                <a:cubicBezTo>
                  <a:pt x="8155" y="14830"/>
                  <a:pt x="8043" y="14932"/>
                  <a:pt x="8043" y="15059"/>
                </a:cubicBezTo>
                <a:lnTo>
                  <a:pt x="8043" y="20236"/>
                </a:lnTo>
                <a:lnTo>
                  <a:pt x="3796" y="20236"/>
                </a:lnTo>
                <a:lnTo>
                  <a:pt x="3796" y="11163"/>
                </a:lnTo>
                <a:lnTo>
                  <a:pt x="17644" y="11163"/>
                </a:lnTo>
                <a:cubicBezTo>
                  <a:pt x="17644" y="11163"/>
                  <a:pt x="17644" y="20236"/>
                  <a:pt x="17644" y="20236"/>
                </a:cubicBezTo>
                <a:close/>
                <a:moveTo>
                  <a:pt x="12893" y="20236"/>
                </a:moveTo>
                <a:lnTo>
                  <a:pt x="8546" y="20236"/>
                </a:lnTo>
                <a:lnTo>
                  <a:pt x="8546" y="15284"/>
                </a:lnTo>
                <a:lnTo>
                  <a:pt x="12893" y="15284"/>
                </a:lnTo>
                <a:cubicBezTo>
                  <a:pt x="12893" y="15284"/>
                  <a:pt x="12893" y="20236"/>
                  <a:pt x="12893" y="20236"/>
                </a:cubicBezTo>
                <a:close/>
                <a:moveTo>
                  <a:pt x="15765" y="0"/>
                </a:moveTo>
                <a:lnTo>
                  <a:pt x="13133" y="0"/>
                </a:lnTo>
                <a:cubicBezTo>
                  <a:pt x="12552" y="0"/>
                  <a:pt x="12067" y="357"/>
                  <a:pt x="11924" y="842"/>
                </a:cubicBezTo>
                <a:lnTo>
                  <a:pt x="11613" y="544"/>
                </a:lnTo>
                <a:cubicBezTo>
                  <a:pt x="11147" y="98"/>
                  <a:pt x="10289" y="98"/>
                  <a:pt x="9827" y="544"/>
                </a:cubicBezTo>
                <a:lnTo>
                  <a:pt x="313" y="9680"/>
                </a:lnTo>
                <a:cubicBezTo>
                  <a:pt x="9" y="9972"/>
                  <a:pt x="-80" y="10333"/>
                  <a:pt x="73" y="10655"/>
                </a:cubicBezTo>
                <a:cubicBezTo>
                  <a:pt x="222" y="10973"/>
                  <a:pt x="578" y="11163"/>
                  <a:pt x="1018" y="11163"/>
                </a:cubicBezTo>
                <a:lnTo>
                  <a:pt x="2286" y="11163"/>
                </a:lnTo>
                <a:lnTo>
                  <a:pt x="2286" y="20464"/>
                </a:lnTo>
                <a:cubicBezTo>
                  <a:pt x="2286" y="21088"/>
                  <a:pt x="2851" y="21600"/>
                  <a:pt x="3544" y="21600"/>
                </a:cubicBezTo>
                <a:lnTo>
                  <a:pt x="17894" y="21600"/>
                </a:lnTo>
                <a:cubicBezTo>
                  <a:pt x="18587" y="21600"/>
                  <a:pt x="19153" y="21088"/>
                  <a:pt x="19153" y="20464"/>
                </a:cubicBezTo>
                <a:lnTo>
                  <a:pt x="19153" y="11163"/>
                </a:lnTo>
                <a:lnTo>
                  <a:pt x="20419" y="11163"/>
                </a:lnTo>
                <a:cubicBezTo>
                  <a:pt x="20862" y="11163"/>
                  <a:pt x="21217" y="10973"/>
                  <a:pt x="21367" y="10655"/>
                </a:cubicBezTo>
                <a:cubicBezTo>
                  <a:pt x="21520" y="10333"/>
                  <a:pt x="21429" y="9972"/>
                  <a:pt x="21127" y="9680"/>
                </a:cubicBezTo>
                <a:lnTo>
                  <a:pt x="17021" y="5737"/>
                </a:lnTo>
                <a:lnTo>
                  <a:pt x="17021" y="1138"/>
                </a:lnTo>
                <a:cubicBezTo>
                  <a:pt x="17021" y="511"/>
                  <a:pt x="16457" y="0"/>
                  <a:pt x="15765" y="0"/>
                </a:cubicBezTo>
                <a:cubicBezTo>
                  <a:pt x="15765" y="0"/>
                  <a:pt x="15765" y="0"/>
                  <a:pt x="15765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algn="ctr" defTabSz="34290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8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3" name="Group 1362"/>
          <p:cNvGrpSpPr/>
          <p:nvPr/>
        </p:nvGrpSpPr>
        <p:grpSpPr>
          <a:xfrm>
            <a:off x="3995634" y="3870058"/>
            <a:ext cx="377662" cy="358924"/>
            <a:chOff x="0" y="0"/>
            <a:chExt cx="943894" cy="897061"/>
          </a:xfrm>
        </p:grpSpPr>
        <p:sp>
          <p:nvSpPr>
            <p:cNvPr id="24" name="Shape 1360"/>
            <p:cNvSpPr/>
            <p:nvPr/>
          </p:nvSpPr>
          <p:spPr>
            <a:xfrm>
              <a:off x="0" y="0"/>
              <a:ext cx="897062" cy="89706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100000"/>
                </a:lnSpc>
                <a:defRPr sz="3200" b="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Shape 1361"/>
            <p:cNvSpPr/>
            <p:nvPr/>
          </p:nvSpPr>
          <p:spPr>
            <a:xfrm>
              <a:off x="109611" y="59616"/>
              <a:ext cx="834284" cy="686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821"/>
                  </a:moveTo>
                  <a:lnTo>
                    <a:pt x="4278" y="5949"/>
                  </a:lnTo>
                  <a:lnTo>
                    <a:pt x="8007" y="12055"/>
                  </a:lnTo>
                  <a:lnTo>
                    <a:pt x="18660" y="0"/>
                  </a:lnTo>
                  <a:lnTo>
                    <a:pt x="21600" y="5098"/>
                  </a:lnTo>
                  <a:lnTo>
                    <a:pt x="6793" y="21600"/>
                  </a:lnTo>
                  <a:lnTo>
                    <a:pt x="0" y="9821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100000"/>
                </a:lnSpc>
                <a:defRPr sz="3200" b="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6" name="Shape 1363"/>
          <p:cNvSpPr/>
          <p:nvPr/>
        </p:nvSpPr>
        <p:spPr>
          <a:xfrm>
            <a:off x="2080197" y="3753153"/>
            <a:ext cx="930398" cy="3354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2200" b="0">
                <a:solidFill>
                  <a:srgbClr val="A5AAA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27" name="Shape 1364"/>
          <p:cNvSpPr/>
          <p:nvPr/>
        </p:nvSpPr>
        <p:spPr>
          <a:xfrm>
            <a:off x="4433342" y="3753153"/>
            <a:ext cx="930398" cy="3354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2200" b="0">
                <a:solidFill>
                  <a:srgbClr val="323C46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28" name="Shape 1365"/>
          <p:cNvSpPr/>
          <p:nvPr/>
        </p:nvSpPr>
        <p:spPr>
          <a:xfrm>
            <a:off x="6436651" y="3753153"/>
            <a:ext cx="930398" cy="3354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2200" b="0">
                <a:solidFill>
                  <a:srgbClr val="A5AAA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272908" y="4382377"/>
            <a:ext cx="6829431" cy="392415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50" dirty="0">
                <a:solidFill>
                  <a:srgbClr val="44546A"/>
                </a:solidFill>
                <a:cs typeface="+mn-ea"/>
                <a:sym typeface="+mn-lt"/>
              </a:rPr>
              <a:t>Jetson 边缘端负责硬件、实时语音与最终安全裁决；Windows / WSL 负责 FastGPT 与 DeepSeek 对话编排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0CD87DA-D02F-4A5D-8C7A-4035F88FCEFD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9A3BBA3-1C14-4C82-91C2-250A96DECF01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96B0505D-00B2-44C6-8B27-E90A43588820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BD13E7E-A80C-4596-8B91-AF903AB99C4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D2D00CE-BB7D-4E6B-83C9-01CD7F46BB39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/>
          <p:cNvSpPr txBox="1"/>
          <p:nvPr/>
        </p:nvSpPr>
        <p:spPr>
          <a:xfrm>
            <a:off x="658368" y="7680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总体部署架构</a:t>
            </a:r>
          </a:p>
        </p:txBody>
      </p:sp>
      <p:pic>
        <p:nvPicPr>
          <p:cNvPr id="3" name="Picture 68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90" y="1278641"/>
            <a:ext cx="4231653" cy="2016533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0" grpId="0"/>
      <p:bldP spid="12" grpId="0" bldLvl="0" animBg="1"/>
      <p:bldP spid="13" grpId="0" bldLvl="0" animBg="1"/>
      <p:bldP spid="17" grpId="0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6" grpId="0" animBg="1"/>
      <p:bldP spid="27" grpId="0" animBg="1"/>
      <p:bldP spid="28" grpId="0" animBg="1"/>
      <p:bldP spid="30" grpId="0"/>
    </p:bldLst>
  </p:timing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系统架构与实现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系统四层职责边界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Jetson 硬件认证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35024" y="1673351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独立完成红外 / 人脸 / 活体 / 声纹与融合判定，只产生凭证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33955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FastGPT + DeepSeek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35024" y="2171700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只做语言理解与工具编排，不接触摄像头特征与声纹 embedding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432303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Jetson 工具网关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35024" y="2670048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只验证凭证与干运行开关，最终驱动执行器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88720" y="2930651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Pipecat 语音流水线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35024" y="3168396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只做音频流水线、轮流说话与打断，不参与安全判定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720" y="3428999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异常事件服务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35024" y="3666744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只记录认证失败，故障不得改变融合判定与开锁结果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系统架构与实现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硬件多模态认证流程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① 红外传感器常驻轮询，检测到人体靠近后开启摄像头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88720" y="170992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② InsightFace 人脸识别，与本地人脸库 embedding 比对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8424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③ MediaPipe 活体检测，要求眨眼一次并左右转头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225856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④ SpeechBrain ECAPA 文本无关声纹识别，无需固定口令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53288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⑤ 校验人脸身份与声纹身份一致，进入本地加权融合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8720" y="28072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全部参数位于 config.yaml，Agent 不参与任何评分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系统架构与实现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多模态融合权重与阈值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融合权重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单项阈值与关键参数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人脸（InsightFace）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0.45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min_score 0.65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活体（MediaPipe）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0.25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min_score 0.60，需眨眼 + 转头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声纹（SpeechBrain ECAPA）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0.20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min_score 0.70，最短语音 2.0 秒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红外（串口传感器）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0.10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上升沿触发，状态保持 30 秒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融合阈值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0.78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require_all = false，按加权总分判定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401558" y="1278641"/>
            <a:ext cx="3742442" cy="20291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78253" y="1659751"/>
            <a:ext cx="1887717" cy="392415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2" name="Shape 1183"/>
          <p:cNvSpPr/>
          <p:nvPr/>
        </p:nvSpPr>
        <p:spPr>
          <a:xfrm>
            <a:off x="5878917" y="1758518"/>
            <a:ext cx="325293" cy="3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14288" tIns="14288" rIns="14288" bIns="14288" numCol="1" anchor="ctr">
            <a:noAutofit/>
          </a:bodyPr>
          <a:lstStyle/>
          <a:p>
            <a:pPr algn="ctr" defTabSz="17145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90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13" name="Shape 1184"/>
          <p:cNvSpPr/>
          <p:nvPr/>
        </p:nvSpPr>
        <p:spPr>
          <a:xfrm>
            <a:off x="5897930" y="1773295"/>
            <a:ext cx="296424" cy="2699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rmAutofit/>
          </a:bodyPr>
          <a:lstStyle>
            <a:lvl1pPr algn="ctr">
              <a:spcBef>
                <a:spcPts val="500"/>
              </a:spcBef>
              <a:defRPr sz="2500" spc="0">
                <a:solidFill>
                  <a:srgbClr val="FFFFFF"/>
                </a:solidFill>
              </a:defRPr>
            </a:lvl1pPr>
          </a:lstStyle>
          <a:p>
            <a:pPr lvl="0">
              <a:defRPr sz="1800" b="0" spc="0">
                <a:solidFill>
                  <a:srgbClr val="000000"/>
                </a:solidFill>
              </a:defRPr>
            </a:pPr>
            <a:r>
              <a:rPr sz="900" dirty="0">
                <a:solidFill>
                  <a:schemeClr val="bg2"/>
                </a:solidFill>
                <a:cs typeface="+mn-ea"/>
                <a:sym typeface="+mn-lt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253" y="2444533"/>
            <a:ext cx="1887717" cy="392415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>
              <a:lnSpc>
                <a:spcPct val="150000"/>
              </a:lnSpc>
            </a:pPr>
          </a:p>
        </p:txBody>
      </p:sp>
      <p:sp>
        <p:nvSpPr>
          <p:cNvPr id="18" name="Shape 1183"/>
          <p:cNvSpPr/>
          <p:nvPr/>
        </p:nvSpPr>
        <p:spPr>
          <a:xfrm>
            <a:off x="5878917" y="2543300"/>
            <a:ext cx="325293" cy="3254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lose/>
              </a:path>
            </a:pathLst>
          </a:custGeom>
          <a:solidFill>
            <a:schemeClr val="tx2"/>
          </a:solidFill>
          <a:ln w="12700" cap="flat">
            <a:noFill/>
            <a:miter lim="400000"/>
          </a:ln>
          <a:effectLst/>
        </p:spPr>
        <p:txBody>
          <a:bodyPr wrap="square" lIns="14288" tIns="14288" rIns="14288" bIns="14288" numCol="1" anchor="ctr">
            <a:noAutofit/>
          </a:bodyPr>
          <a:lstStyle/>
          <a:p>
            <a:pPr algn="ctr" defTabSz="17145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90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19" name="Shape 1184"/>
          <p:cNvSpPr/>
          <p:nvPr/>
        </p:nvSpPr>
        <p:spPr>
          <a:xfrm>
            <a:off x="5897930" y="2558077"/>
            <a:ext cx="296424" cy="269967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0" tIns="0" rIns="0" bIns="0" numCol="1" anchor="ctr">
            <a:normAutofit/>
          </a:bodyPr>
          <a:lstStyle>
            <a:lvl1pPr algn="ctr">
              <a:spcBef>
                <a:spcPts val="500"/>
              </a:spcBef>
              <a:defRPr sz="2500" spc="0">
                <a:solidFill>
                  <a:srgbClr val="FFFFFF"/>
                </a:solidFill>
              </a:defRPr>
            </a:lvl1pPr>
          </a:lstStyle>
          <a:p>
            <a:pPr lvl="0">
              <a:defRPr sz="1800" b="0" spc="0">
                <a:solidFill>
                  <a:srgbClr val="000000"/>
                </a:solidFill>
              </a:defRPr>
            </a:pPr>
            <a:r>
              <a:rPr lang="en-US" sz="900" dirty="0">
                <a:solidFill>
                  <a:schemeClr val="bg2"/>
                </a:solidFill>
                <a:cs typeface="+mn-ea"/>
                <a:sym typeface="+mn-lt"/>
              </a:rPr>
              <a:t>2</a:t>
            </a:r>
            <a:endParaRPr sz="9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0" name="Shape 1353"/>
          <p:cNvSpPr/>
          <p:nvPr/>
        </p:nvSpPr>
        <p:spPr>
          <a:xfrm>
            <a:off x="3544535" y="3619422"/>
            <a:ext cx="633470" cy="507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4" h="21410" extrusionOk="0">
                <a:moveTo>
                  <a:pt x="20264" y="4961"/>
                </a:moveTo>
                <a:cubicBezTo>
                  <a:pt x="20042" y="6440"/>
                  <a:pt x="19011" y="7513"/>
                  <a:pt x="17815" y="7513"/>
                </a:cubicBezTo>
                <a:cubicBezTo>
                  <a:pt x="17659" y="7513"/>
                  <a:pt x="17502" y="7495"/>
                  <a:pt x="17348" y="7458"/>
                </a:cubicBezTo>
                <a:cubicBezTo>
                  <a:pt x="17149" y="7411"/>
                  <a:pt x="16946" y="7328"/>
                  <a:pt x="16748" y="7212"/>
                </a:cubicBezTo>
                <a:cubicBezTo>
                  <a:pt x="16549" y="7094"/>
                  <a:pt x="16312" y="7156"/>
                  <a:pt x="16166" y="7358"/>
                </a:cubicBezTo>
                <a:cubicBezTo>
                  <a:pt x="15917" y="7708"/>
                  <a:pt x="15541" y="7873"/>
                  <a:pt x="15176" y="7786"/>
                </a:cubicBezTo>
                <a:cubicBezTo>
                  <a:pt x="14711" y="7676"/>
                  <a:pt x="14356" y="7182"/>
                  <a:pt x="14315" y="6582"/>
                </a:cubicBezTo>
                <a:cubicBezTo>
                  <a:pt x="14302" y="6382"/>
                  <a:pt x="14213" y="6203"/>
                  <a:pt x="14077" y="6102"/>
                </a:cubicBezTo>
                <a:cubicBezTo>
                  <a:pt x="13518" y="5675"/>
                  <a:pt x="13223" y="4849"/>
                  <a:pt x="13343" y="4044"/>
                </a:cubicBezTo>
                <a:cubicBezTo>
                  <a:pt x="13484" y="3111"/>
                  <a:pt x="14133" y="2431"/>
                  <a:pt x="14890" y="2431"/>
                </a:cubicBezTo>
                <a:cubicBezTo>
                  <a:pt x="14988" y="2431"/>
                  <a:pt x="15087" y="2444"/>
                  <a:pt x="15184" y="2466"/>
                </a:cubicBezTo>
                <a:cubicBezTo>
                  <a:pt x="15254" y="2482"/>
                  <a:pt x="15318" y="2507"/>
                  <a:pt x="15383" y="2533"/>
                </a:cubicBezTo>
                <a:cubicBezTo>
                  <a:pt x="15575" y="2610"/>
                  <a:pt x="15784" y="2537"/>
                  <a:pt x="15915" y="2346"/>
                </a:cubicBezTo>
                <a:cubicBezTo>
                  <a:pt x="16494" y="1500"/>
                  <a:pt x="17398" y="1096"/>
                  <a:pt x="18274" y="1303"/>
                </a:cubicBezTo>
                <a:cubicBezTo>
                  <a:pt x="19625" y="1622"/>
                  <a:pt x="20520" y="3263"/>
                  <a:pt x="20264" y="4961"/>
                </a:cubicBezTo>
                <a:cubicBezTo>
                  <a:pt x="20264" y="4961"/>
                  <a:pt x="20264" y="4961"/>
                  <a:pt x="20264" y="4961"/>
                </a:cubicBezTo>
                <a:close/>
                <a:moveTo>
                  <a:pt x="9590" y="20161"/>
                </a:moveTo>
                <a:lnTo>
                  <a:pt x="9590" y="13799"/>
                </a:lnTo>
                <a:cubicBezTo>
                  <a:pt x="9590" y="13455"/>
                  <a:pt x="9366" y="13174"/>
                  <a:pt x="9091" y="13174"/>
                </a:cubicBezTo>
                <a:lnTo>
                  <a:pt x="6043" y="13174"/>
                </a:lnTo>
                <a:cubicBezTo>
                  <a:pt x="5769" y="13174"/>
                  <a:pt x="5545" y="13455"/>
                  <a:pt x="5545" y="13799"/>
                </a:cubicBezTo>
                <a:lnTo>
                  <a:pt x="5545" y="20161"/>
                </a:lnTo>
                <a:lnTo>
                  <a:pt x="2350" y="20161"/>
                </a:lnTo>
                <a:lnTo>
                  <a:pt x="2350" y="11698"/>
                </a:lnTo>
                <a:cubicBezTo>
                  <a:pt x="2350" y="11668"/>
                  <a:pt x="2345" y="11637"/>
                  <a:pt x="2343" y="11606"/>
                </a:cubicBezTo>
                <a:lnTo>
                  <a:pt x="7567" y="6960"/>
                </a:lnTo>
                <a:lnTo>
                  <a:pt x="12793" y="11606"/>
                </a:lnTo>
                <a:cubicBezTo>
                  <a:pt x="12790" y="11637"/>
                  <a:pt x="12785" y="11668"/>
                  <a:pt x="12785" y="11698"/>
                </a:cubicBezTo>
                <a:lnTo>
                  <a:pt x="12785" y="20161"/>
                </a:lnTo>
                <a:cubicBezTo>
                  <a:pt x="12785" y="20161"/>
                  <a:pt x="9590" y="20161"/>
                  <a:pt x="9590" y="20161"/>
                </a:cubicBezTo>
                <a:close/>
                <a:moveTo>
                  <a:pt x="18457" y="75"/>
                </a:moveTo>
                <a:cubicBezTo>
                  <a:pt x="17342" y="-190"/>
                  <a:pt x="16183" y="258"/>
                  <a:pt x="15377" y="1240"/>
                </a:cubicBezTo>
                <a:cubicBezTo>
                  <a:pt x="15373" y="1240"/>
                  <a:pt x="15372" y="1240"/>
                  <a:pt x="15369" y="1238"/>
                </a:cubicBezTo>
                <a:cubicBezTo>
                  <a:pt x="15210" y="1201"/>
                  <a:pt x="15049" y="1183"/>
                  <a:pt x="14890" y="1183"/>
                </a:cubicBezTo>
                <a:cubicBezTo>
                  <a:pt x="13655" y="1183"/>
                  <a:pt x="12592" y="2289"/>
                  <a:pt x="12363" y="3812"/>
                </a:cubicBezTo>
                <a:cubicBezTo>
                  <a:pt x="12182" y="5026"/>
                  <a:pt x="12577" y="6268"/>
                  <a:pt x="13359" y="6999"/>
                </a:cubicBezTo>
                <a:cubicBezTo>
                  <a:pt x="13529" y="8011"/>
                  <a:pt x="14169" y="8821"/>
                  <a:pt x="14991" y="9014"/>
                </a:cubicBezTo>
                <a:cubicBezTo>
                  <a:pt x="15117" y="9043"/>
                  <a:pt x="15246" y="9059"/>
                  <a:pt x="15372" y="9059"/>
                </a:cubicBezTo>
                <a:cubicBezTo>
                  <a:pt x="15669" y="9059"/>
                  <a:pt x="15955" y="8969"/>
                  <a:pt x="16221" y="8817"/>
                </a:cubicBezTo>
                <a:lnTo>
                  <a:pt x="16221" y="20161"/>
                </a:lnTo>
                <a:lnTo>
                  <a:pt x="13782" y="20161"/>
                </a:lnTo>
                <a:lnTo>
                  <a:pt x="13782" y="12485"/>
                </a:lnTo>
                <a:lnTo>
                  <a:pt x="14299" y="12947"/>
                </a:lnTo>
                <a:cubicBezTo>
                  <a:pt x="14385" y="13022"/>
                  <a:pt x="14485" y="13060"/>
                  <a:pt x="14588" y="13060"/>
                </a:cubicBezTo>
                <a:cubicBezTo>
                  <a:pt x="14665" y="13060"/>
                  <a:pt x="14745" y="13038"/>
                  <a:pt x="14816" y="12991"/>
                </a:cubicBezTo>
                <a:cubicBezTo>
                  <a:pt x="14981" y="12884"/>
                  <a:pt x="15085" y="12670"/>
                  <a:pt x="15085" y="12436"/>
                </a:cubicBezTo>
                <a:lnTo>
                  <a:pt x="15085" y="10771"/>
                </a:lnTo>
                <a:cubicBezTo>
                  <a:pt x="15085" y="10567"/>
                  <a:pt x="15007" y="10378"/>
                  <a:pt x="14876" y="10260"/>
                </a:cubicBezTo>
                <a:lnTo>
                  <a:pt x="12127" y="7816"/>
                </a:lnTo>
                <a:lnTo>
                  <a:pt x="12127" y="5439"/>
                </a:lnTo>
                <a:cubicBezTo>
                  <a:pt x="12127" y="5095"/>
                  <a:pt x="11905" y="4814"/>
                  <a:pt x="11629" y="4814"/>
                </a:cubicBezTo>
                <a:cubicBezTo>
                  <a:pt x="11353" y="4814"/>
                  <a:pt x="11131" y="5095"/>
                  <a:pt x="11131" y="5439"/>
                </a:cubicBezTo>
                <a:lnTo>
                  <a:pt x="11131" y="6932"/>
                </a:lnTo>
                <a:lnTo>
                  <a:pt x="7856" y="4017"/>
                </a:lnTo>
                <a:cubicBezTo>
                  <a:pt x="7684" y="3865"/>
                  <a:pt x="7452" y="3865"/>
                  <a:pt x="7280" y="4017"/>
                </a:cubicBezTo>
                <a:lnTo>
                  <a:pt x="259" y="10262"/>
                </a:lnTo>
                <a:cubicBezTo>
                  <a:pt x="128" y="10378"/>
                  <a:pt x="50" y="10569"/>
                  <a:pt x="50" y="10771"/>
                </a:cubicBezTo>
                <a:lnTo>
                  <a:pt x="50" y="12438"/>
                </a:lnTo>
                <a:cubicBezTo>
                  <a:pt x="50" y="12670"/>
                  <a:pt x="154" y="12886"/>
                  <a:pt x="320" y="12991"/>
                </a:cubicBezTo>
                <a:cubicBezTo>
                  <a:pt x="485" y="13100"/>
                  <a:pt x="684" y="13083"/>
                  <a:pt x="837" y="12947"/>
                </a:cubicBezTo>
                <a:lnTo>
                  <a:pt x="1354" y="12488"/>
                </a:lnTo>
                <a:lnTo>
                  <a:pt x="1354" y="20161"/>
                </a:lnTo>
                <a:lnTo>
                  <a:pt x="498" y="20161"/>
                </a:lnTo>
                <a:cubicBezTo>
                  <a:pt x="222" y="20161"/>
                  <a:pt x="0" y="20440"/>
                  <a:pt x="0" y="20786"/>
                </a:cubicBezTo>
                <a:cubicBezTo>
                  <a:pt x="0" y="21131"/>
                  <a:pt x="222" y="21410"/>
                  <a:pt x="498" y="21410"/>
                </a:cubicBezTo>
                <a:lnTo>
                  <a:pt x="18063" y="21410"/>
                </a:lnTo>
                <a:cubicBezTo>
                  <a:pt x="18338" y="21410"/>
                  <a:pt x="18560" y="21131"/>
                  <a:pt x="18560" y="20786"/>
                </a:cubicBezTo>
                <a:cubicBezTo>
                  <a:pt x="18560" y="20440"/>
                  <a:pt x="18338" y="20161"/>
                  <a:pt x="18063" y="20161"/>
                </a:cubicBezTo>
                <a:lnTo>
                  <a:pt x="17218" y="20161"/>
                </a:lnTo>
                <a:lnTo>
                  <a:pt x="17218" y="15812"/>
                </a:lnTo>
                <a:lnTo>
                  <a:pt x="18423" y="14232"/>
                </a:lnTo>
                <a:cubicBezTo>
                  <a:pt x="18614" y="13982"/>
                  <a:pt x="18606" y="13587"/>
                  <a:pt x="18408" y="13347"/>
                </a:cubicBezTo>
                <a:cubicBezTo>
                  <a:pt x="18209" y="13109"/>
                  <a:pt x="17894" y="13120"/>
                  <a:pt x="17703" y="13368"/>
                </a:cubicBezTo>
                <a:lnTo>
                  <a:pt x="17218" y="14004"/>
                </a:lnTo>
                <a:lnTo>
                  <a:pt x="17218" y="8696"/>
                </a:lnTo>
                <a:cubicBezTo>
                  <a:pt x="17416" y="8740"/>
                  <a:pt x="17616" y="8764"/>
                  <a:pt x="17815" y="8764"/>
                </a:cubicBezTo>
                <a:cubicBezTo>
                  <a:pt x="19491" y="8764"/>
                  <a:pt x="20934" y="7261"/>
                  <a:pt x="21243" y="5191"/>
                </a:cubicBezTo>
                <a:cubicBezTo>
                  <a:pt x="21600" y="2818"/>
                  <a:pt x="20350" y="522"/>
                  <a:pt x="18457" y="75"/>
                </a:cubicBezTo>
                <a:cubicBezTo>
                  <a:pt x="18457" y="75"/>
                  <a:pt x="18457" y="75"/>
                  <a:pt x="18457" y="75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algn="ctr" defTabSz="34290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8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Shape 1354"/>
          <p:cNvSpPr/>
          <p:nvPr/>
        </p:nvSpPr>
        <p:spPr>
          <a:xfrm>
            <a:off x="5675634" y="3611585"/>
            <a:ext cx="649643" cy="523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66" y="0"/>
                </a:moveTo>
                <a:lnTo>
                  <a:pt x="5767" y="5144"/>
                </a:lnTo>
                <a:lnTo>
                  <a:pt x="5767" y="2783"/>
                </a:lnTo>
                <a:lnTo>
                  <a:pt x="3878" y="2783"/>
                </a:lnTo>
                <a:lnTo>
                  <a:pt x="3878" y="7075"/>
                </a:lnTo>
                <a:lnTo>
                  <a:pt x="0" y="11031"/>
                </a:lnTo>
                <a:lnTo>
                  <a:pt x="1202" y="12844"/>
                </a:lnTo>
                <a:lnTo>
                  <a:pt x="3828" y="10163"/>
                </a:lnTo>
                <a:lnTo>
                  <a:pt x="3828" y="18950"/>
                </a:lnTo>
                <a:lnTo>
                  <a:pt x="4873" y="18950"/>
                </a:lnTo>
                <a:lnTo>
                  <a:pt x="4873" y="14126"/>
                </a:lnTo>
                <a:lnTo>
                  <a:pt x="10866" y="7990"/>
                </a:lnTo>
                <a:lnTo>
                  <a:pt x="13384" y="10593"/>
                </a:lnTo>
                <a:lnTo>
                  <a:pt x="13384" y="8693"/>
                </a:lnTo>
                <a:lnTo>
                  <a:pt x="14694" y="8693"/>
                </a:lnTo>
                <a:lnTo>
                  <a:pt x="14694" y="11937"/>
                </a:lnTo>
                <a:lnTo>
                  <a:pt x="16853" y="14150"/>
                </a:lnTo>
                <a:lnTo>
                  <a:pt x="16853" y="18950"/>
                </a:lnTo>
                <a:lnTo>
                  <a:pt x="17860" y="18950"/>
                </a:lnTo>
                <a:lnTo>
                  <a:pt x="17860" y="10249"/>
                </a:lnTo>
                <a:lnTo>
                  <a:pt x="20398" y="12844"/>
                </a:lnTo>
                <a:lnTo>
                  <a:pt x="21600" y="11031"/>
                </a:lnTo>
                <a:cubicBezTo>
                  <a:pt x="21600" y="11031"/>
                  <a:pt x="10866" y="0"/>
                  <a:pt x="10866" y="0"/>
                </a:cubicBezTo>
                <a:close/>
                <a:moveTo>
                  <a:pt x="10854" y="9506"/>
                </a:moveTo>
                <a:lnTo>
                  <a:pt x="5641" y="14853"/>
                </a:lnTo>
                <a:lnTo>
                  <a:pt x="5641" y="21600"/>
                </a:lnTo>
                <a:lnTo>
                  <a:pt x="16066" y="21600"/>
                </a:lnTo>
                <a:lnTo>
                  <a:pt x="16066" y="14869"/>
                </a:lnTo>
                <a:cubicBezTo>
                  <a:pt x="16066" y="14869"/>
                  <a:pt x="10854" y="9506"/>
                  <a:pt x="10854" y="9506"/>
                </a:cubicBezTo>
                <a:close/>
                <a:moveTo>
                  <a:pt x="8845" y="14251"/>
                </a:moveTo>
                <a:lnTo>
                  <a:pt x="10778" y="14251"/>
                </a:lnTo>
                <a:cubicBezTo>
                  <a:pt x="10778" y="14251"/>
                  <a:pt x="10778" y="16495"/>
                  <a:pt x="10778" y="16495"/>
                </a:cubicBezTo>
                <a:lnTo>
                  <a:pt x="8845" y="16495"/>
                </a:lnTo>
                <a:lnTo>
                  <a:pt x="8845" y="14251"/>
                </a:lnTo>
                <a:close/>
                <a:moveTo>
                  <a:pt x="11030" y="14251"/>
                </a:moveTo>
                <a:lnTo>
                  <a:pt x="12956" y="14251"/>
                </a:lnTo>
                <a:cubicBezTo>
                  <a:pt x="12956" y="14251"/>
                  <a:pt x="12956" y="16495"/>
                  <a:pt x="12956" y="16495"/>
                </a:cubicBezTo>
                <a:lnTo>
                  <a:pt x="11030" y="16495"/>
                </a:lnTo>
                <a:lnTo>
                  <a:pt x="11030" y="14251"/>
                </a:lnTo>
                <a:close/>
                <a:moveTo>
                  <a:pt x="8845" y="16784"/>
                </a:moveTo>
                <a:lnTo>
                  <a:pt x="10778" y="16784"/>
                </a:lnTo>
                <a:cubicBezTo>
                  <a:pt x="10778" y="16784"/>
                  <a:pt x="10778" y="19028"/>
                  <a:pt x="10778" y="19028"/>
                </a:cubicBezTo>
                <a:lnTo>
                  <a:pt x="8845" y="19028"/>
                </a:lnTo>
                <a:lnTo>
                  <a:pt x="8845" y="16784"/>
                </a:lnTo>
                <a:close/>
                <a:moveTo>
                  <a:pt x="11030" y="16784"/>
                </a:moveTo>
                <a:lnTo>
                  <a:pt x="12956" y="16784"/>
                </a:lnTo>
                <a:cubicBezTo>
                  <a:pt x="12956" y="16784"/>
                  <a:pt x="12956" y="19028"/>
                  <a:pt x="12956" y="19028"/>
                </a:cubicBezTo>
                <a:lnTo>
                  <a:pt x="11030" y="19028"/>
                </a:lnTo>
                <a:lnTo>
                  <a:pt x="11030" y="16784"/>
                </a:lnTo>
                <a:close/>
              </a:path>
            </a:pathLst>
          </a:custGeom>
          <a:solidFill>
            <a:schemeClr val="tx1">
              <a:alpha val="15000"/>
            </a:schemeClr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algn="ctr" defTabSz="34290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8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Shape 1355"/>
          <p:cNvSpPr/>
          <p:nvPr/>
        </p:nvSpPr>
        <p:spPr>
          <a:xfrm>
            <a:off x="1486773" y="3611585"/>
            <a:ext cx="470627" cy="5231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1" h="21600" extrusionOk="0">
                <a:moveTo>
                  <a:pt x="17894" y="9796"/>
                </a:moveTo>
                <a:lnTo>
                  <a:pt x="2264" y="9796"/>
                </a:lnTo>
                <a:lnTo>
                  <a:pt x="10720" y="1679"/>
                </a:lnTo>
                <a:lnTo>
                  <a:pt x="11876" y="2788"/>
                </a:lnTo>
                <a:lnTo>
                  <a:pt x="11876" y="3922"/>
                </a:lnTo>
                <a:cubicBezTo>
                  <a:pt x="11876" y="4296"/>
                  <a:pt x="12213" y="4604"/>
                  <a:pt x="12629" y="4604"/>
                </a:cubicBezTo>
                <a:cubicBezTo>
                  <a:pt x="13046" y="4604"/>
                  <a:pt x="13383" y="4296"/>
                  <a:pt x="13383" y="3922"/>
                </a:cubicBezTo>
                <a:lnTo>
                  <a:pt x="13383" y="1367"/>
                </a:lnTo>
                <a:lnTo>
                  <a:pt x="15511" y="1367"/>
                </a:lnTo>
                <a:lnTo>
                  <a:pt x="15511" y="7092"/>
                </a:lnTo>
                <a:cubicBezTo>
                  <a:pt x="15511" y="7469"/>
                  <a:pt x="15849" y="7776"/>
                  <a:pt x="16265" y="7776"/>
                </a:cubicBezTo>
                <a:cubicBezTo>
                  <a:pt x="16492" y="7776"/>
                  <a:pt x="16689" y="7686"/>
                  <a:pt x="16830" y="7542"/>
                </a:cubicBezTo>
                <a:lnTo>
                  <a:pt x="19175" y="9796"/>
                </a:lnTo>
                <a:cubicBezTo>
                  <a:pt x="19175" y="9796"/>
                  <a:pt x="17894" y="9796"/>
                  <a:pt x="17894" y="9796"/>
                </a:cubicBezTo>
                <a:close/>
                <a:moveTo>
                  <a:pt x="17644" y="20236"/>
                </a:moveTo>
                <a:lnTo>
                  <a:pt x="13396" y="20236"/>
                </a:lnTo>
                <a:lnTo>
                  <a:pt x="13396" y="15059"/>
                </a:lnTo>
                <a:cubicBezTo>
                  <a:pt x="13396" y="14932"/>
                  <a:pt x="13283" y="14830"/>
                  <a:pt x="13143" y="14830"/>
                </a:cubicBezTo>
                <a:lnTo>
                  <a:pt x="8295" y="14830"/>
                </a:lnTo>
                <a:cubicBezTo>
                  <a:pt x="8155" y="14830"/>
                  <a:pt x="8043" y="14932"/>
                  <a:pt x="8043" y="15059"/>
                </a:cubicBezTo>
                <a:lnTo>
                  <a:pt x="8043" y="20236"/>
                </a:lnTo>
                <a:lnTo>
                  <a:pt x="3796" y="20236"/>
                </a:lnTo>
                <a:lnTo>
                  <a:pt x="3796" y="11163"/>
                </a:lnTo>
                <a:lnTo>
                  <a:pt x="17644" y="11163"/>
                </a:lnTo>
                <a:cubicBezTo>
                  <a:pt x="17644" y="11163"/>
                  <a:pt x="17644" y="20236"/>
                  <a:pt x="17644" y="20236"/>
                </a:cubicBezTo>
                <a:close/>
                <a:moveTo>
                  <a:pt x="12893" y="20236"/>
                </a:moveTo>
                <a:lnTo>
                  <a:pt x="8546" y="20236"/>
                </a:lnTo>
                <a:lnTo>
                  <a:pt x="8546" y="15284"/>
                </a:lnTo>
                <a:lnTo>
                  <a:pt x="12893" y="15284"/>
                </a:lnTo>
                <a:cubicBezTo>
                  <a:pt x="12893" y="15284"/>
                  <a:pt x="12893" y="20236"/>
                  <a:pt x="12893" y="20236"/>
                </a:cubicBezTo>
                <a:close/>
                <a:moveTo>
                  <a:pt x="15765" y="0"/>
                </a:moveTo>
                <a:lnTo>
                  <a:pt x="13133" y="0"/>
                </a:lnTo>
                <a:cubicBezTo>
                  <a:pt x="12552" y="0"/>
                  <a:pt x="12067" y="357"/>
                  <a:pt x="11924" y="842"/>
                </a:cubicBezTo>
                <a:lnTo>
                  <a:pt x="11613" y="544"/>
                </a:lnTo>
                <a:cubicBezTo>
                  <a:pt x="11147" y="98"/>
                  <a:pt x="10289" y="98"/>
                  <a:pt x="9827" y="544"/>
                </a:cubicBezTo>
                <a:lnTo>
                  <a:pt x="313" y="9680"/>
                </a:lnTo>
                <a:cubicBezTo>
                  <a:pt x="9" y="9972"/>
                  <a:pt x="-80" y="10333"/>
                  <a:pt x="73" y="10655"/>
                </a:cubicBezTo>
                <a:cubicBezTo>
                  <a:pt x="222" y="10973"/>
                  <a:pt x="578" y="11163"/>
                  <a:pt x="1018" y="11163"/>
                </a:cubicBezTo>
                <a:lnTo>
                  <a:pt x="2286" y="11163"/>
                </a:lnTo>
                <a:lnTo>
                  <a:pt x="2286" y="20464"/>
                </a:lnTo>
                <a:cubicBezTo>
                  <a:pt x="2286" y="21088"/>
                  <a:pt x="2851" y="21600"/>
                  <a:pt x="3544" y="21600"/>
                </a:cubicBezTo>
                <a:lnTo>
                  <a:pt x="17894" y="21600"/>
                </a:lnTo>
                <a:cubicBezTo>
                  <a:pt x="18587" y="21600"/>
                  <a:pt x="19153" y="21088"/>
                  <a:pt x="19153" y="20464"/>
                </a:cubicBezTo>
                <a:lnTo>
                  <a:pt x="19153" y="11163"/>
                </a:lnTo>
                <a:lnTo>
                  <a:pt x="20419" y="11163"/>
                </a:lnTo>
                <a:cubicBezTo>
                  <a:pt x="20862" y="11163"/>
                  <a:pt x="21217" y="10973"/>
                  <a:pt x="21367" y="10655"/>
                </a:cubicBezTo>
                <a:cubicBezTo>
                  <a:pt x="21520" y="10333"/>
                  <a:pt x="21429" y="9972"/>
                  <a:pt x="21127" y="9680"/>
                </a:cubicBezTo>
                <a:lnTo>
                  <a:pt x="17021" y="5737"/>
                </a:lnTo>
                <a:lnTo>
                  <a:pt x="17021" y="1138"/>
                </a:lnTo>
                <a:cubicBezTo>
                  <a:pt x="17021" y="511"/>
                  <a:pt x="16457" y="0"/>
                  <a:pt x="15765" y="0"/>
                </a:cubicBezTo>
                <a:cubicBezTo>
                  <a:pt x="15765" y="0"/>
                  <a:pt x="15765" y="0"/>
                  <a:pt x="15765" y="0"/>
                </a:cubicBezTo>
                <a:close/>
              </a:path>
            </a:pathLst>
          </a:custGeom>
          <a:solidFill>
            <a:schemeClr val="tx1">
              <a:alpha val="15000"/>
            </a:schemeClr>
          </a:solidFill>
          <a:ln w="12700">
            <a:miter lim="400000"/>
          </a:ln>
        </p:spPr>
        <p:txBody>
          <a:bodyPr lIns="28575" tIns="28575" rIns="28575" bIns="28575" anchor="ctr"/>
          <a:lstStyle/>
          <a:p>
            <a:pPr algn="ctr" defTabSz="342900">
              <a:defRPr sz="3000" b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80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3" name="Group 1362"/>
          <p:cNvGrpSpPr/>
          <p:nvPr/>
        </p:nvGrpSpPr>
        <p:grpSpPr>
          <a:xfrm>
            <a:off x="3995634" y="3870058"/>
            <a:ext cx="377662" cy="358924"/>
            <a:chOff x="0" y="0"/>
            <a:chExt cx="943894" cy="897061"/>
          </a:xfrm>
        </p:grpSpPr>
        <p:sp>
          <p:nvSpPr>
            <p:cNvPr id="24" name="Shape 1360"/>
            <p:cNvSpPr/>
            <p:nvPr/>
          </p:nvSpPr>
          <p:spPr>
            <a:xfrm>
              <a:off x="0" y="0"/>
              <a:ext cx="897062" cy="897062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100000"/>
                </a:lnSpc>
                <a:defRPr sz="3200" b="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Shape 1361"/>
            <p:cNvSpPr/>
            <p:nvPr/>
          </p:nvSpPr>
          <p:spPr>
            <a:xfrm>
              <a:off x="109611" y="59616"/>
              <a:ext cx="834284" cy="686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9821"/>
                  </a:moveTo>
                  <a:lnTo>
                    <a:pt x="4278" y="5949"/>
                  </a:lnTo>
                  <a:lnTo>
                    <a:pt x="8007" y="12055"/>
                  </a:lnTo>
                  <a:lnTo>
                    <a:pt x="18660" y="0"/>
                  </a:lnTo>
                  <a:lnTo>
                    <a:pt x="21600" y="5098"/>
                  </a:lnTo>
                  <a:lnTo>
                    <a:pt x="6793" y="21600"/>
                  </a:lnTo>
                  <a:lnTo>
                    <a:pt x="0" y="9821"/>
                  </a:ln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lnSpc>
                  <a:spcPct val="100000"/>
                </a:lnSpc>
                <a:defRPr sz="3200" b="0">
                  <a:solidFill>
                    <a:srgbClr val="000000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80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26" name="Shape 1363"/>
          <p:cNvSpPr/>
          <p:nvPr/>
        </p:nvSpPr>
        <p:spPr>
          <a:xfrm>
            <a:off x="2080197" y="3753153"/>
            <a:ext cx="930398" cy="3354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2200" b="0">
                <a:solidFill>
                  <a:srgbClr val="A5AAA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27" name="Shape 1364"/>
          <p:cNvSpPr/>
          <p:nvPr/>
        </p:nvSpPr>
        <p:spPr>
          <a:xfrm>
            <a:off x="4433342" y="3753153"/>
            <a:ext cx="930398" cy="3354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2200" b="0">
                <a:solidFill>
                  <a:srgbClr val="323C46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28" name="Shape 1365"/>
          <p:cNvSpPr/>
          <p:nvPr/>
        </p:nvSpPr>
        <p:spPr>
          <a:xfrm>
            <a:off x="6436651" y="3753153"/>
            <a:ext cx="930398" cy="335476"/>
          </a:xfrm>
          <a:prstGeom prst="rect">
            <a:avLst/>
          </a:prstGeom>
          <a:ln w="12700">
            <a:miter lim="400000"/>
          </a:ln>
        </p:spPr>
        <p:txBody>
          <a:bodyPr wrap="square" lIns="38100" tIns="38100" rIns="38100" bIns="38100" anchor="ctr">
            <a:spAutoFit/>
          </a:bodyPr>
          <a:lstStyle>
            <a:lvl1pPr>
              <a:lnSpc>
                <a:spcPct val="120000"/>
              </a:lnSpc>
              <a:defRPr sz="2200" b="0">
                <a:solidFill>
                  <a:srgbClr val="A5AAAF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</a:p>
        </p:txBody>
      </p:sp>
      <p:sp>
        <p:nvSpPr>
          <p:cNvPr id="30" name="TextBox 29"/>
          <p:cNvSpPr txBox="1"/>
          <p:nvPr/>
        </p:nvSpPr>
        <p:spPr>
          <a:xfrm>
            <a:off x="1272908" y="4382377"/>
            <a:ext cx="6829431" cy="392415"/>
          </a:xfrm>
          <a:prstGeom prst="rect">
            <a:avLst/>
          </a:prstGeom>
          <a:noFill/>
        </p:spPr>
        <p:txBody>
          <a:bodyPr wrap="square" lIns="68580" tIns="34290" rIns="68580" bIns="34290" numCol="1" spcCol="3429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850" dirty="0">
                <a:solidFill>
                  <a:srgbClr val="44546A"/>
                </a:solidFill>
                <a:cs typeface="+mn-ea"/>
                <a:sym typeface="+mn-lt"/>
              </a:rPr>
              <a:t>硬件融合通过后只签发一次性凭证，由用户向语音 Agent 表达开门意图后，再由本地安全闸门裁决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0CD87DA-D02F-4A5D-8C7A-4035F88FCEFD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9A3BBA3-1C14-4C82-91C2-250A96DECF01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96B0505D-00B2-44C6-8B27-E90A43588820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4" name="矩形 33">
                <a:extLst>
                  <a:ext uri="{FF2B5EF4-FFF2-40B4-BE49-F238E27FC236}">
                    <a16:creationId xmlns:a16="http://schemas.microsoft.com/office/drawing/2014/main" id="{3BD13E7E-A80C-4596-8B91-AF903AB99C4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7D2D00CE-BB7D-4E6B-83C9-01CD7F46BB39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TextBox 67"/>
          <p:cNvSpPr txBox="1"/>
          <p:nvPr/>
        </p:nvSpPr>
        <p:spPr>
          <a:xfrm>
            <a:off x="658368" y="76809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两阶段开门时序</a:t>
            </a:r>
          </a:p>
        </p:txBody>
      </p:sp>
      <p:pic>
        <p:nvPicPr>
          <p:cNvPr id="3" name="Picture 68" descr="unlock_sequ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3" y="1645002"/>
            <a:ext cx="5670709" cy="1283810"/>
          </a:xfrm>
          <a:prstGeom prst="rect">
            <a:avLst/>
          </a:prstGeom>
        </p:spPr>
      </p:pic>
      <p:sp>
        <p:nvSpPr>
          <p:cNvPr id="69" name="TextBox 68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10" grpId="0"/>
      <p:bldP spid="12" grpId="0" bldLvl="0" animBg="1"/>
      <p:bldP spid="13" grpId="0" bldLvl="0" animBg="1"/>
      <p:bldP spid="17" grpId="0"/>
      <p:bldP spid="18" grpId="0" bldLvl="0" animBg="1"/>
      <p:bldP spid="19" grpId="0" bldLvl="0" animBg="1"/>
      <p:bldP spid="20" grpId="0" bldLvl="0" animBg="1"/>
      <p:bldP spid="21" grpId="0" bldLvl="0" animBg="1"/>
      <p:bldP spid="22" grpId="0" bldLvl="0" animBg="1"/>
      <p:bldP spid="26" grpId="0" animBg="1"/>
      <p:bldP spid="27" grpId="0" animBg="1"/>
      <p:bldP spid="28" grpId="0" animBg="1"/>
      <p:bldP spid="30" grpId="0"/>
    </p:bldLst>
  </p:timing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文本框 86"/>
          <p:cNvSpPr txBox="1"/>
          <p:nvPr/>
        </p:nvSpPr>
        <p:spPr>
          <a:xfrm>
            <a:off x="44404" y="954127"/>
            <a:ext cx="9099596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1400" dirty="0" b="1">
                <a:solidFill>
                  <a:srgbClr val="6A9AC4"/>
                </a:solidFill>
                <a:cs typeface="+mn-ea"/>
                <a:sym typeface="+mn-lt"/>
              </a:rPr>
              <a:t>一次性安全凭证设计</a:t>
            </a:r>
            <a:endParaRPr lang="zh-CN" altLang="en-US" sz="12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154574" y="1148694"/>
            <a:ext cx="687925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</a:p>
        </p:txBody>
      </p:sp>
      <p:sp>
        <p:nvSpPr>
          <p:cNvPr id="107" name="矩形 106"/>
          <p:cNvSpPr/>
          <p:nvPr/>
        </p:nvSpPr>
        <p:spPr>
          <a:xfrm>
            <a:off x="4165881" y="1773667"/>
            <a:ext cx="856645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</a:p>
        </p:txBody>
      </p:sp>
      <p:grpSp>
        <p:nvGrpSpPr>
          <p:cNvPr id="108" name="组合 107"/>
          <p:cNvGrpSpPr/>
          <p:nvPr/>
        </p:nvGrpSpPr>
        <p:grpSpPr>
          <a:xfrm>
            <a:off x="4451168" y="2089923"/>
            <a:ext cx="286068" cy="82626"/>
            <a:chOff x="5905288" y="3385219"/>
            <a:chExt cx="381424" cy="110168"/>
          </a:xfrm>
          <a:solidFill>
            <a:schemeClr val="accent1"/>
          </a:solidFill>
        </p:grpSpPr>
        <p:sp>
          <p:nvSpPr>
            <p:cNvPr id="109" name="椭圆 108"/>
            <p:cNvSpPr/>
            <p:nvPr/>
          </p:nvSpPr>
          <p:spPr>
            <a:xfrm>
              <a:off x="5905288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6040916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6176544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86445" y="2437330"/>
            <a:ext cx="1751468" cy="1735373"/>
            <a:chOff x="772501" y="3721210"/>
            <a:chExt cx="2335290" cy="2313831"/>
          </a:xfrm>
        </p:grpSpPr>
        <p:sp>
          <p:nvSpPr>
            <p:cNvPr id="113" name="矩形 112"/>
            <p:cNvSpPr/>
            <p:nvPr/>
          </p:nvSpPr>
          <p:spPr>
            <a:xfrm>
              <a:off x="772501" y="3721210"/>
              <a:ext cx="2335290" cy="13635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72501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5" name="Freeform 132"/>
            <p:cNvSpPr>
              <a:spLocks noEditPoints="1"/>
            </p:cNvSpPr>
            <p:nvPr/>
          </p:nvSpPr>
          <p:spPr bwMode="auto">
            <a:xfrm>
              <a:off x="1679736" y="4219279"/>
              <a:ext cx="441310" cy="400036"/>
            </a:xfrm>
            <a:custGeom>
              <a:avLst/>
              <a:gdLst>
                <a:gd name="T0" fmla="*/ 4 w 66"/>
                <a:gd name="T1" fmla="*/ 17 h 60"/>
                <a:gd name="T2" fmla="*/ 28 w 66"/>
                <a:gd name="T3" fmla="*/ 15 h 60"/>
                <a:gd name="T4" fmla="*/ 32 w 66"/>
                <a:gd name="T5" fmla="*/ 3 h 60"/>
                <a:gd name="T6" fmla="*/ 63 w 66"/>
                <a:gd name="T7" fmla="*/ 3 h 60"/>
                <a:gd name="T8" fmla="*/ 51 w 66"/>
                <a:gd name="T9" fmla="*/ 60 h 60"/>
                <a:gd name="T10" fmla="*/ 38 w 66"/>
                <a:gd name="T11" fmla="*/ 8 h 60"/>
                <a:gd name="T12" fmla="*/ 28 w 66"/>
                <a:gd name="T13" fmla="*/ 60 h 60"/>
                <a:gd name="T14" fmla="*/ 20 w 66"/>
                <a:gd name="T15" fmla="*/ 20 h 60"/>
                <a:gd name="T16" fmla="*/ 6 w 66"/>
                <a:gd name="T17" fmla="*/ 60 h 60"/>
                <a:gd name="T18" fmla="*/ 44 w 66"/>
                <a:gd name="T19" fmla="*/ 20 h 60"/>
                <a:gd name="T20" fmla="*/ 45 w 66"/>
                <a:gd name="T21" fmla="*/ 16 h 60"/>
                <a:gd name="T22" fmla="*/ 45 w 66"/>
                <a:gd name="T23" fmla="*/ 13 h 60"/>
                <a:gd name="T24" fmla="*/ 44 w 66"/>
                <a:gd name="T25" fmla="*/ 9 h 60"/>
                <a:gd name="T26" fmla="*/ 46 w 66"/>
                <a:gd name="T27" fmla="*/ 27 h 60"/>
                <a:gd name="T28" fmla="*/ 44 w 66"/>
                <a:gd name="T29" fmla="*/ 30 h 60"/>
                <a:gd name="T30" fmla="*/ 46 w 66"/>
                <a:gd name="T31" fmla="*/ 30 h 60"/>
                <a:gd name="T32" fmla="*/ 44 w 66"/>
                <a:gd name="T33" fmla="*/ 41 h 60"/>
                <a:gd name="T34" fmla="*/ 45 w 66"/>
                <a:gd name="T35" fmla="*/ 37 h 60"/>
                <a:gd name="T36" fmla="*/ 41 w 66"/>
                <a:gd name="T37" fmla="*/ 21 h 60"/>
                <a:gd name="T38" fmla="*/ 39 w 66"/>
                <a:gd name="T39" fmla="*/ 17 h 60"/>
                <a:gd name="T40" fmla="*/ 42 w 66"/>
                <a:gd name="T41" fmla="*/ 13 h 60"/>
                <a:gd name="T42" fmla="*/ 39 w 66"/>
                <a:gd name="T43" fmla="*/ 24 h 60"/>
                <a:gd name="T44" fmla="*/ 42 w 66"/>
                <a:gd name="T45" fmla="*/ 23 h 60"/>
                <a:gd name="T46" fmla="*/ 39 w 66"/>
                <a:gd name="T47" fmla="*/ 35 h 60"/>
                <a:gd name="T48" fmla="*/ 41 w 66"/>
                <a:gd name="T49" fmla="*/ 31 h 60"/>
                <a:gd name="T50" fmla="*/ 41 w 66"/>
                <a:gd name="T51" fmla="*/ 41 h 60"/>
                <a:gd name="T52" fmla="*/ 39 w 66"/>
                <a:gd name="T53" fmla="*/ 38 h 60"/>
                <a:gd name="T54" fmla="*/ 46 w 66"/>
                <a:gd name="T55" fmla="*/ 48 h 60"/>
                <a:gd name="T56" fmla="*/ 39 w 66"/>
                <a:gd name="T57" fmla="*/ 45 h 60"/>
                <a:gd name="T58" fmla="*/ 42 w 66"/>
                <a:gd name="T59" fmla="*/ 44 h 60"/>
                <a:gd name="T60" fmla="*/ 11 w 66"/>
                <a:gd name="T61" fmla="*/ 34 h 60"/>
                <a:gd name="T62" fmla="*/ 12 w 66"/>
                <a:gd name="T63" fmla="*/ 30 h 60"/>
                <a:gd name="T64" fmla="*/ 17 w 66"/>
                <a:gd name="T65" fmla="*/ 33 h 60"/>
                <a:gd name="T66" fmla="*/ 15 w 66"/>
                <a:gd name="T67" fmla="*/ 30 h 60"/>
                <a:gd name="T68" fmla="*/ 18 w 66"/>
                <a:gd name="T69" fmla="*/ 26 h 60"/>
                <a:gd name="T70" fmla="*/ 15 w 66"/>
                <a:gd name="T71" fmla="*/ 37 h 60"/>
                <a:gd name="T72" fmla="*/ 18 w 66"/>
                <a:gd name="T73" fmla="*/ 36 h 60"/>
                <a:gd name="T74" fmla="*/ 15 w 66"/>
                <a:gd name="T75" fmla="*/ 48 h 60"/>
                <a:gd name="T76" fmla="*/ 17 w 66"/>
                <a:gd name="T77" fmla="*/ 44 h 60"/>
                <a:gd name="T78" fmla="*/ 17 w 66"/>
                <a:gd name="T79" fmla="*/ 55 h 60"/>
                <a:gd name="T80" fmla="*/ 15 w 66"/>
                <a:gd name="T81" fmla="*/ 51 h 60"/>
                <a:gd name="T82" fmla="*/ 13 w 66"/>
                <a:gd name="T83" fmla="*/ 27 h 60"/>
                <a:gd name="T84" fmla="*/ 11 w 66"/>
                <a:gd name="T85" fmla="*/ 37 h 60"/>
                <a:gd name="T86" fmla="*/ 13 w 66"/>
                <a:gd name="T87" fmla="*/ 37 h 60"/>
                <a:gd name="T88" fmla="*/ 11 w 66"/>
                <a:gd name="T89" fmla="*/ 48 h 60"/>
                <a:gd name="T90" fmla="*/ 12 w 66"/>
                <a:gd name="T91" fmla="*/ 44 h 60"/>
                <a:gd name="T92" fmla="*/ 12 w 66"/>
                <a:gd name="T93" fmla="*/ 55 h 60"/>
                <a:gd name="T94" fmla="*/ 11 w 66"/>
                <a:gd name="T95" fmla="*/ 5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6" h="60">
                  <a:moveTo>
                    <a:pt x="0" y="55"/>
                  </a:moveTo>
                  <a:cubicBezTo>
                    <a:pt x="4" y="55"/>
                    <a:pt x="4" y="55"/>
                    <a:pt x="4" y="55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5"/>
                    <a:pt x="0" y="55"/>
                    <a:pt x="0" y="55"/>
                  </a:cubicBezTo>
                  <a:close/>
                  <a:moveTo>
                    <a:pt x="44" y="16"/>
                  </a:moveTo>
                  <a:cubicBezTo>
                    <a:pt x="44" y="18"/>
                    <a:pt x="44" y="19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6" y="17"/>
                    <a:pt x="46" y="16"/>
                  </a:cubicBezTo>
                  <a:cubicBezTo>
                    <a:pt x="46" y="16"/>
                    <a:pt x="46" y="16"/>
                    <a:pt x="45" y="16"/>
                  </a:cubicBezTo>
                  <a:cubicBezTo>
                    <a:pt x="45" y="16"/>
                    <a:pt x="44" y="16"/>
                    <a:pt x="44" y="16"/>
                  </a:cubicBezTo>
                  <a:close/>
                  <a:moveTo>
                    <a:pt x="44" y="9"/>
                  </a:moveTo>
                  <a:cubicBezTo>
                    <a:pt x="44" y="11"/>
                    <a:pt x="44" y="12"/>
                    <a:pt x="44" y="13"/>
                  </a:cubicBezTo>
                  <a:cubicBezTo>
                    <a:pt x="44" y="13"/>
                    <a:pt x="45" y="13"/>
                    <a:pt x="45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6" y="12"/>
                    <a:pt x="46" y="10"/>
                    <a:pt x="46" y="9"/>
                  </a:cubicBezTo>
                  <a:cubicBezTo>
                    <a:pt x="46" y="9"/>
                    <a:pt x="46" y="9"/>
                    <a:pt x="45" y="9"/>
                  </a:cubicBezTo>
                  <a:cubicBezTo>
                    <a:pt x="45" y="9"/>
                    <a:pt x="44" y="9"/>
                    <a:pt x="44" y="9"/>
                  </a:cubicBezTo>
                  <a:close/>
                  <a:moveTo>
                    <a:pt x="44" y="23"/>
                  </a:moveTo>
                  <a:cubicBezTo>
                    <a:pt x="44" y="25"/>
                    <a:pt x="44" y="26"/>
                    <a:pt x="44" y="27"/>
                  </a:cubicBezTo>
                  <a:cubicBezTo>
                    <a:pt x="44" y="27"/>
                    <a:pt x="45" y="27"/>
                    <a:pt x="45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4"/>
                    <a:pt x="46" y="23"/>
                  </a:cubicBezTo>
                  <a:cubicBezTo>
                    <a:pt x="46" y="23"/>
                    <a:pt x="46" y="23"/>
                    <a:pt x="45" y="23"/>
                  </a:cubicBezTo>
                  <a:cubicBezTo>
                    <a:pt x="45" y="23"/>
                    <a:pt x="44" y="23"/>
                    <a:pt x="44" y="23"/>
                  </a:cubicBezTo>
                  <a:close/>
                  <a:moveTo>
                    <a:pt x="44" y="30"/>
                  </a:moveTo>
                  <a:cubicBezTo>
                    <a:pt x="44" y="32"/>
                    <a:pt x="44" y="33"/>
                    <a:pt x="44" y="34"/>
                  </a:cubicBezTo>
                  <a:cubicBezTo>
                    <a:pt x="44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3"/>
                    <a:pt x="46" y="32"/>
                    <a:pt x="46" y="30"/>
                  </a:cubicBezTo>
                  <a:cubicBezTo>
                    <a:pt x="46" y="30"/>
                    <a:pt x="46" y="30"/>
                    <a:pt x="45" y="30"/>
                  </a:cubicBezTo>
                  <a:cubicBezTo>
                    <a:pt x="45" y="30"/>
                    <a:pt x="44" y="30"/>
                    <a:pt x="44" y="30"/>
                  </a:cubicBezTo>
                  <a:close/>
                  <a:moveTo>
                    <a:pt x="44" y="37"/>
                  </a:moveTo>
                  <a:cubicBezTo>
                    <a:pt x="44" y="39"/>
                    <a:pt x="44" y="40"/>
                    <a:pt x="44" y="41"/>
                  </a:cubicBezTo>
                  <a:cubicBezTo>
                    <a:pt x="44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0"/>
                    <a:pt x="46" y="39"/>
                    <a:pt x="46" y="37"/>
                  </a:cubicBezTo>
                  <a:cubicBezTo>
                    <a:pt x="46" y="37"/>
                    <a:pt x="46" y="37"/>
                    <a:pt x="45" y="37"/>
                  </a:cubicBezTo>
                  <a:cubicBezTo>
                    <a:pt x="45" y="37"/>
                    <a:pt x="44" y="37"/>
                    <a:pt x="44" y="37"/>
                  </a:cubicBezTo>
                  <a:close/>
                  <a:moveTo>
                    <a:pt x="39" y="17"/>
                  </a:moveTo>
                  <a:cubicBezTo>
                    <a:pt x="39" y="18"/>
                    <a:pt x="39" y="19"/>
                    <a:pt x="39" y="21"/>
                  </a:cubicBezTo>
                  <a:cubicBezTo>
                    <a:pt x="40" y="21"/>
                    <a:pt x="40" y="21"/>
                    <a:pt x="41" y="21"/>
                  </a:cubicBezTo>
                  <a:cubicBezTo>
                    <a:pt x="41" y="21"/>
                    <a:pt x="41" y="21"/>
                    <a:pt x="42" y="20"/>
                  </a:cubicBezTo>
                  <a:cubicBezTo>
                    <a:pt x="42" y="19"/>
                    <a:pt x="42" y="18"/>
                    <a:pt x="42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0" y="17"/>
                    <a:pt x="40" y="17"/>
                    <a:pt x="39" y="17"/>
                  </a:cubicBezTo>
                  <a:close/>
                  <a:moveTo>
                    <a:pt x="39" y="10"/>
                  </a:moveTo>
                  <a:cubicBezTo>
                    <a:pt x="39" y="11"/>
                    <a:pt x="39" y="12"/>
                    <a:pt x="39" y="14"/>
                  </a:cubicBezTo>
                  <a:cubicBezTo>
                    <a:pt x="40" y="14"/>
                    <a:pt x="40" y="14"/>
                    <a:pt x="41" y="14"/>
                  </a:cubicBezTo>
                  <a:cubicBezTo>
                    <a:pt x="41" y="14"/>
                    <a:pt x="41" y="14"/>
                    <a:pt x="42" y="13"/>
                  </a:cubicBezTo>
                  <a:cubicBezTo>
                    <a:pt x="42" y="12"/>
                    <a:pt x="42" y="11"/>
                    <a:pt x="42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0" y="10"/>
                    <a:pt x="40" y="10"/>
                    <a:pt x="39" y="10"/>
                  </a:cubicBezTo>
                  <a:close/>
                  <a:moveTo>
                    <a:pt x="39" y="24"/>
                  </a:moveTo>
                  <a:cubicBezTo>
                    <a:pt x="39" y="25"/>
                    <a:pt x="39" y="26"/>
                    <a:pt x="39" y="28"/>
                  </a:cubicBezTo>
                  <a:cubicBezTo>
                    <a:pt x="40" y="28"/>
                    <a:pt x="40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2" y="26"/>
                    <a:pt x="42" y="25"/>
                    <a:pt x="42" y="23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4"/>
                    <a:pt x="40" y="24"/>
                    <a:pt x="39" y="24"/>
                  </a:cubicBezTo>
                  <a:close/>
                  <a:moveTo>
                    <a:pt x="39" y="31"/>
                  </a:moveTo>
                  <a:cubicBezTo>
                    <a:pt x="39" y="32"/>
                    <a:pt x="39" y="33"/>
                    <a:pt x="39" y="35"/>
                  </a:cubicBezTo>
                  <a:cubicBezTo>
                    <a:pt x="40" y="35"/>
                    <a:pt x="40" y="34"/>
                    <a:pt x="41" y="34"/>
                  </a:cubicBezTo>
                  <a:cubicBezTo>
                    <a:pt x="41" y="34"/>
                    <a:pt x="41" y="34"/>
                    <a:pt x="42" y="34"/>
                  </a:cubicBezTo>
                  <a:cubicBezTo>
                    <a:pt x="42" y="33"/>
                    <a:pt x="42" y="32"/>
                    <a:pt x="42" y="30"/>
                  </a:cubicBezTo>
                  <a:cubicBezTo>
                    <a:pt x="41" y="30"/>
                    <a:pt x="41" y="30"/>
                    <a:pt x="41" y="31"/>
                  </a:cubicBezTo>
                  <a:cubicBezTo>
                    <a:pt x="40" y="31"/>
                    <a:pt x="40" y="31"/>
                    <a:pt x="39" y="31"/>
                  </a:cubicBezTo>
                  <a:close/>
                  <a:moveTo>
                    <a:pt x="39" y="38"/>
                  </a:moveTo>
                  <a:cubicBezTo>
                    <a:pt x="39" y="39"/>
                    <a:pt x="39" y="40"/>
                    <a:pt x="39" y="41"/>
                  </a:cubicBezTo>
                  <a:cubicBezTo>
                    <a:pt x="40" y="41"/>
                    <a:pt x="40" y="41"/>
                    <a:pt x="41" y="41"/>
                  </a:cubicBezTo>
                  <a:cubicBezTo>
                    <a:pt x="41" y="41"/>
                    <a:pt x="41" y="41"/>
                    <a:pt x="42" y="41"/>
                  </a:cubicBezTo>
                  <a:cubicBezTo>
                    <a:pt x="42" y="40"/>
                    <a:pt x="42" y="39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0" y="37"/>
                    <a:pt x="40" y="37"/>
                    <a:pt x="39" y="38"/>
                  </a:cubicBezTo>
                  <a:close/>
                  <a:moveTo>
                    <a:pt x="44" y="44"/>
                  </a:moveTo>
                  <a:cubicBezTo>
                    <a:pt x="44" y="46"/>
                    <a:pt x="44" y="47"/>
                    <a:pt x="44" y="48"/>
                  </a:cubicBezTo>
                  <a:cubicBezTo>
                    <a:pt x="44" y="48"/>
                    <a:pt x="45" y="48"/>
                    <a:pt x="45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7"/>
                    <a:pt x="46" y="46"/>
                    <a:pt x="46" y="44"/>
                  </a:cubicBezTo>
                  <a:cubicBezTo>
                    <a:pt x="46" y="44"/>
                    <a:pt x="46" y="44"/>
                    <a:pt x="45" y="44"/>
                  </a:cubicBezTo>
                  <a:cubicBezTo>
                    <a:pt x="45" y="44"/>
                    <a:pt x="44" y="44"/>
                    <a:pt x="44" y="44"/>
                  </a:cubicBezTo>
                  <a:close/>
                  <a:moveTo>
                    <a:pt x="39" y="45"/>
                  </a:moveTo>
                  <a:cubicBezTo>
                    <a:pt x="39" y="46"/>
                    <a:pt x="39" y="47"/>
                    <a:pt x="39" y="48"/>
                  </a:cubicBezTo>
                  <a:cubicBezTo>
                    <a:pt x="40" y="48"/>
                    <a:pt x="40" y="48"/>
                    <a:pt x="41" y="48"/>
                  </a:cubicBezTo>
                  <a:cubicBezTo>
                    <a:pt x="41" y="48"/>
                    <a:pt x="41" y="48"/>
                    <a:pt x="42" y="48"/>
                  </a:cubicBezTo>
                  <a:cubicBezTo>
                    <a:pt x="42" y="47"/>
                    <a:pt x="42" y="46"/>
                    <a:pt x="42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0" y="44"/>
                    <a:pt x="40" y="44"/>
                    <a:pt x="39" y="45"/>
                  </a:cubicBezTo>
                  <a:close/>
                  <a:moveTo>
                    <a:pt x="11" y="30"/>
                  </a:moveTo>
                  <a:cubicBezTo>
                    <a:pt x="11" y="31"/>
                    <a:pt x="11" y="33"/>
                    <a:pt x="11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2" y="34"/>
                    <a:pt x="13" y="34"/>
                    <a:pt x="13" y="34"/>
                  </a:cubicBezTo>
                  <a:cubicBezTo>
                    <a:pt x="13" y="32"/>
                    <a:pt x="13" y="31"/>
                    <a:pt x="13" y="30"/>
                  </a:cubicBezTo>
                  <a:cubicBezTo>
                    <a:pt x="13" y="30"/>
                    <a:pt x="12" y="30"/>
                    <a:pt x="12" y="30"/>
                  </a:cubicBezTo>
                  <a:cubicBezTo>
                    <a:pt x="12" y="30"/>
                    <a:pt x="11" y="30"/>
                    <a:pt x="11" y="30"/>
                  </a:cubicBezTo>
                  <a:close/>
                  <a:moveTo>
                    <a:pt x="15" y="30"/>
                  </a:moveTo>
                  <a:cubicBezTo>
                    <a:pt x="15" y="31"/>
                    <a:pt x="15" y="32"/>
                    <a:pt x="15" y="34"/>
                  </a:cubicBezTo>
                  <a:cubicBezTo>
                    <a:pt x="16" y="34"/>
                    <a:pt x="16" y="34"/>
                    <a:pt x="17" y="33"/>
                  </a:cubicBezTo>
                  <a:cubicBezTo>
                    <a:pt x="17" y="33"/>
                    <a:pt x="17" y="33"/>
                    <a:pt x="18" y="33"/>
                  </a:cubicBezTo>
                  <a:cubicBezTo>
                    <a:pt x="18" y="32"/>
                    <a:pt x="18" y="31"/>
                    <a:pt x="18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30"/>
                    <a:pt x="16" y="30"/>
                    <a:pt x="15" y="30"/>
                  </a:cubicBezTo>
                  <a:close/>
                  <a:moveTo>
                    <a:pt x="15" y="23"/>
                  </a:moveTo>
                  <a:cubicBezTo>
                    <a:pt x="15" y="24"/>
                    <a:pt x="15" y="25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6"/>
                    <a:pt x="18" y="26"/>
                  </a:cubicBezTo>
                  <a:cubicBezTo>
                    <a:pt x="18" y="25"/>
                    <a:pt x="18" y="24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5" y="23"/>
                  </a:cubicBezTo>
                  <a:close/>
                  <a:moveTo>
                    <a:pt x="15" y="37"/>
                  </a:moveTo>
                  <a:cubicBezTo>
                    <a:pt x="15" y="38"/>
                    <a:pt x="15" y="39"/>
                    <a:pt x="15" y="41"/>
                  </a:cubicBezTo>
                  <a:cubicBezTo>
                    <a:pt x="16" y="41"/>
                    <a:pt x="16" y="41"/>
                    <a:pt x="17" y="41"/>
                  </a:cubicBezTo>
                  <a:cubicBezTo>
                    <a:pt x="17" y="41"/>
                    <a:pt x="17" y="41"/>
                    <a:pt x="18" y="40"/>
                  </a:cubicBezTo>
                  <a:cubicBezTo>
                    <a:pt x="18" y="39"/>
                    <a:pt x="18" y="38"/>
                    <a:pt x="18" y="36"/>
                  </a:cubicBezTo>
                  <a:cubicBezTo>
                    <a:pt x="17" y="36"/>
                    <a:pt x="17" y="37"/>
                    <a:pt x="17" y="37"/>
                  </a:cubicBezTo>
                  <a:cubicBezTo>
                    <a:pt x="16" y="37"/>
                    <a:pt x="16" y="37"/>
                    <a:pt x="15" y="37"/>
                  </a:cubicBezTo>
                  <a:close/>
                  <a:moveTo>
                    <a:pt x="15" y="44"/>
                  </a:moveTo>
                  <a:cubicBezTo>
                    <a:pt x="15" y="45"/>
                    <a:pt x="15" y="46"/>
                    <a:pt x="15" y="48"/>
                  </a:cubicBezTo>
                  <a:cubicBezTo>
                    <a:pt x="16" y="48"/>
                    <a:pt x="16" y="48"/>
                    <a:pt x="17" y="48"/>
                  </a:cubicBezTo>
                  <a:cubicBezTo>
                    <a:pt x="17" y="48"/>
                    <a:pt x="17" y="48"/>
                    <a:pt x="18" y="48"/>
                  </a:cubicBezTo>
                  <a:cubicBezTo>
                    <a:pt x="18" y="46"/>
                    <a:pt x="18" y="45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5" y="44"/>
                  </a:cubicBezTo>
                  <a:close/>
                  <a:moveTo>
                    <a:pt x="15" y="51"/>
                  </a:moveTo>
                  <a:cubicBezTo>
                    <a:pt x="15" y="52"/>
                    <a:pt x="15" y="53"/>
                    <a:pt x="15" y="55"/>
                  </a:cubicBezTo>
                  <a:cubicBezTo>
                    <a:pt x="16" y="55"/>
                    <a:pt x="16" y="55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8" y="53"/>
                    <a:pt x="18" y="52"/>
                    <a:pt x="18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5" y="51"/>
                  </a:cubicBezTo>
                  <a:close/>
                  <a:moveTo>
                    <a:pt x="11" y="23"/>
                  </a:moveTo>
                  <a:cubicBezTo>
                    <a:pt x="11" y="24"/>
                    <a:pt x="11" y="26"/>
                    <a:pt x="11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2" y="27"/>
                    <a:pt x="13" y="27"/>
                    <a:pt x="13" y="27"/>
                  </a:cubicBezTo>
                  <a:cubicBezTo>
                    <a:pt x="13" y="25"/>
                    <a:pt x="13" y="24"/>
                    <a:pt x="13" y="23"/>
                  </a:cubicBezTo>
                  <a:cubicBezTo>
                    <a:pt x="13" y="23"/>
                    <a:pt x="12" y="23"/>
                    <a:pt x="12" y="23"/>
                  </a:cubicBezTo>
                  <a:cubicBezTo>
                    <a:pt x="12" y="23"/>
                    <a:pt x="11" y="23"/>
                    <a:pt x="11" y="23"/>
                  </a:cubicBezTo>
                  <a:close/>
                  <a:moveTo>
                    <a:pt x="11" y="37"/>
                  </a:moveTo>
                  <a:cubicBezTo>
                    <a:pt x="11" y="38"/>
                    <a:pt x="11" y="40"/>
                    <a:pt x="11" y="41"/>
                  </a:cubicBezTo>
                  <a:cubicBezTo>
                    <a:pt x="11" y="41"/>
                    <a:pt x="12" y="41"/>
                    <a:pt x="12" y="41"/>
                  </a:cubicBezTo>
                  <a:cubicBezTo>
                    <a:pt x="12" y="41"/>
                    <a:pt x="13" y="41"/>
                    <a:pt x="13" y="41"/>
                  </a:cubicBezTo>
                  <a:cubicBezTo>
                    <a:pt x="13" y="39"/>
                    <a:pt x="13" y="38"/>
                    <a:pt x="13" y="37"/>
                  </a:cubicBezTo>
                  <a:cubicBezTo>
                    <a:pt x="13" y="37"/>
                    <a:pt x="12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lose/>
                  <a:moveTo>
                    <a:pt x="11" y="44"/>
                  </a:moveTo>
                  <a:cubicBezTo>
                    <a:pt x="11" y="45"/>
                    <a:pt x="11" y="46"/>
                    <a:pt x="11" y="48"/>
                  </a:cubicBezTo>
                  <a:cubicBezTo>
                    <a:pt x="11" y="48"/>
                    <a:pt x="12" y="48"/>
                    <a:pt x="12" y="48"/>
                  </a:cubicBezTo>
                  <a:cubicBezTo>
                    <a:pt x="12" y="48"/>
                    <a:pt x="13" y="48"/>
                    <a:pt x="13" y="48"/>
                  </a:cubicBezTo>
                  <a:cubicBezTo>
                    <a:pt x="13" y="46"/>
                    <a:pt x="13" y="45"/>
                    <a:pt x="13" y="44"/>
                  </a:cubicBezTo>
                  <a:cubicBezTo>
                    <a:pt x="13" y="44"/>
                    <a:pt x="12" y="44"/>
                    <a:pt x="12" y="44"/>
                  </a:cubicBezTo>
                  <a:cubicBezTo>
                    <a:pt x="12" y="44"/>
                    <a:pt x="11" y="44"/>
                    <a:pt x="11" y="44"/>
                  </a:cubicBezTo>
                  <a:close/>
                  <a:moveTo>
                    <a:pt x="11" y="51"/>
                  </a:moveTo>
                  <a:cubicBezTo>
                    <a:pt x="11" y="52"/>
                    <a:pt x="11" y="53"/>
                    <a:pt x="11" y="55"/>
                  </a:cubicBezTo>
                  <a:cubicBezTo>
                    <a:pt x="11" y="55"/>
                    <a:pt x="12" y="55"/>
                    <a:pt x="12" y="55"/>
                  </a:cubicBezTo>
                  <a:cubicBezTo>
                    <a:pt x="12" y="55"/>
                    <a:pt x="13" y="55"/>
                    <a:pt x="13" y="55"/>
                  </a:cubicBezTo>
                  <a:cubicBezTo>
                    <a:pt x="13" y="53"/>
                    <a:pt x="13" y="52"/>
                    <a:pt x="13" y="51"/>
                  </a:cubicBezTo>
                  <a:cubicBezTo>
                    <a:pt x="13" y="51"/>
                    <a:pt x="12" y="51"/>
                    <a:pt x="12" y="51"/>
                  </a:cubicBezTo>
                  <a:cubicBezTo>
                    <a:pt x="12" y="51"/>
                    <a:pt x="11" y="51"/>
                    <a:pt x="11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TextBox 14"/>
            <p:cNvSpPr txBox="1"/>
            <p:nvPr/>
          </p:nvSpPr>
          <p:spPr>
            <a:xfrm>
              <a:off x="818652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200"/>
                </a:spcAft>
                <a:defRPr/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credential_id：一次性随机 ID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  <a:p>
              <a:pPr algn="l">
                <a:spcAft>
                  <a:spcPts val="200"/>
                </a:spcAft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time：签发时间；fusion_passed：本地融合结果</a:t>
              </a:r>
            </a:p>
            <a:p>
              <a:pPr algn="l">
                <a:spcAft>
                  <a:spcPts val="200"/>
                </a:spcAft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consumed：是否已被消费</a:t>
              </a:r>
            </a:p>
          </p:txBody>
        </p:sp>
        <p:sp>
          <p:nvSpPr>
            <p:cNvPr id="117" name="TextBox 15"/>
            <p:cNvSpPr txBox="1"/>
            <p:nvPr/>
          </p:nvSpPr>
          <p:spPr>
            <a:xfrm>
              <a:off x="818652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defRPr/>
              </a:pPr>
              <a:r>
                <a:rPr lang="id-ID" sz="1200" b="1" dirty="0">
                  <a:solidFill>
                    <a:srgbClr val="6A9AC4"/>
                  </a:solidFill>
                  <a:cs typeface="+mn-ea"/>
                  <a:sym typeface="+mn-lt"/>
                </a:rPr>
                <a:t>凭证内容（logs/auth_context.json）</a:t>
              </a:r>
            </a:p>
          </p:txBody>
        </p:sp>
      </p:grpSp>
      <p:cxnSp>
        <p:nvCxnSpPr>
          <p:cNvPr id="118" name="直接连接符 117"/>
          <p:cNvCxnSpPr/>
          <p:nvPr/>
        </p:nvCxnSpPr>
        <p:spPr>
          <a:xfrm>
            <a:off x="793669" y="1626848"/>
            <a:ext cx="7601069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2738720" y="2437330"/>
            <a:ext cx="1751468" cy="1735373"/>
            <a:chOff x="3581323" y="3721210"/>
            <a:chExt cx="2335290" cy="2313831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581323" y="3721210"/>
              <a:ext cx="2335290" cy="2313831"/>
              <a:chOff x="772501" y="3721210"/>
              <a:chExt cx="2335290" cy="2313831"/>
            </a:xfrm>
          </p:grpSpPr>
          <p:sp>
            <p:nvSpPr>
              <p:cNvPr id="122" name="矩形 121"/>
              <p:cNvSpPr/>
              <p:nvPr/>
            </p:nvSpPr>
            <p:spPr>
              <a:xfrm>
                <a:off x="772501" y="3721210"/>
                <a:ext cx="2335290" cy="1363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72501" y="5077199"/>
                <a:ext cx="2335290" cy="957842"/>
              </a:xfrm>
              <a:prstGeom prst="rect">
                <a:avLst/>
              </a:prstGeom>
              <a:solidFill>
                <a:srgbClr val="E4E4E4">
                  <a:alpha val="45000"/>
                </a:srgb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TextBox 14"/>
              <p:cNvSpPr txBox="1"/>
              <p:nvPr/>
            </p:nvSpPr>
            <p:spPr>
              <a:xfrm>
                <a:off x="818652" y="5486400"/>
                <a:ext cx="2289139" cy="4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200"/>
                  </a:spcAft>
                  <a:defRPr/>
                </a:pPr>
                <a:r>
                  <a:rPr lang="id-ID" sz="900" dirty="0">
                    <a:solidFill>
                      <a:srgbClr val="44546A"/>
                    </a:solidFill>
                    <a:cs typeface="+mn-ea"/>
                    <a:sym typeface="+mn-lt"/>
                  </a:rPr>
                  <a:t>fusion_passed 为 true，且 consumed 为 false</a:t>
                </a:r>
                <a:endParaRPr lang="en-US" sz="800" b="1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endParaRPr>
              </a:p>
              <a:p>
                <a:pPr algn="l">
                  <a:spcAft>
                    <a:spcPts val="200"/>
                  </a:spcAft>
                </a:pPr>
                <a:r>
                  <a:rPr lang="id-ID" sz="900" dirty="0">
                    <a:solidFill>
                      <a:srgbClr val="44546A"/>
                    </a:solidFill>
                    <a:cs typeface="+mn-ea"/>
                    <a:sym typeface="+mn-lt"/>
                  </a:rPr>
                  <a:t>now - time 不超过 300 秒</a:t>
                </a:r>
              </a:p>
            </p:txBody>
          </p:sp>
          <p:sp>
            <p:nvSpPr>
              <p:cNvPr id="125" name="TextBox 15"/>
              <p:cNvSpPr txBox="1"/>
              <p:nvPr/>
            </p:nvSpPr>
            <p:spPr>
              <a:xfrm>
                <a:off x="818652" y="5226130"/>
                <a:ext cx="2032894" cy="507889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l">
                  <a:defRPr/>
                </a:pPr>
                <a:r>
                  <a:rPr lang="id-ID" sz="1200" b="1" dirty="0">
                    <a:solidFill>
                      <a:srgbClr val="6A9AC4"/>
                    </a:solidFill>
                    <a:cs typeface="+mn-ea"/>
                    <a:sym typeface="+mn-lt"/>
                  </a:rPr>
                  <a:t>有效条件（需同时满足）</a:t>
                </a:r>
              </a:p>
            </p:txBody>
          </p:sp>
        </p:grpSp>
        <p:sp>
          <p:nvSpPr>
            <p:cNvPr id="121" name="Freeform 176"/>
            <p:cNvSpPr>
              <a:spLocks noEditPoints="1"/>
            </p:cNvSpPr>
            <p:nvPr/>
          </p:nvSpPr>
          <p:spPr bwMode="auto">
            <a:xfrm>
              <a:off x="4562860" y="4282887"/>
              <a:ext cx="381517" cy="312964"/>
            </a:xfrm>
            <a:custGeom>
              <a:avLst/>
              <a:gdLst>
                <a:gd name="T0" fmla="*/ 112 w 128"/>
                <a:gd name="T1" fmla="*/ 2 h 105"/>
                <a:gd name="T2" fmla="*/ 107 w 128"/>
                <a:gd name="T3" fmla="*/ 23 h 105"/>
                <a:gd name="T4" fmla="*/ 99 w 128"/>
                <a:gd name="T5" fmla="*/ 2 h 105"/>
                <a:gd name="T6" fmla="*/ 112 w 128"/>
                <a:gd name="T7" fmla="*/ 46 h 105"/>
                <a:gd name="T8" fmla="*/ 99 w 128"/>
                <a:gd name="T9" fmla="*/ 105 h 105"/>
                <a:gd name="T10" fmla="*/ 107 w 128"/>
                <a:gd name="T11" fmla="*/ 42 h 105"/>
                <a:gd name="T12" fmla="*/ 112 w 128"/>
                <a:gd name="T13" fmla="*/ 46 h 105"/>
                <a:gd name="T14" fmla="*/ 128 w 128"/>
                <a:gd name="T15" fmla="*/ 0 h 105"/>
                <a:gd name="T16" fmla="*/ 114 w 128"/>
                <a:gd name="T17" fmla="*/ 105 h 105"/>
                <a:gd name="T18" fmla="*/ 118 w 128"/>
                <a:gd name="T19" fmla="*/ 33 h 105"/>
                <a:gd name="T20" fmla="*/ 114 w 128"/>
                <a:gd name="T21" fmla="*/ 21 h 105"/>
                <a:gd name="T22" fmla="*/ 114 w 128"/>
                <a:gd name="T23" fmla="*/ 0 h 105"/>
                <a:gd name="T24" fmla="*/ 95 w 128"/>
                <a:gd name="T25" fmla="*/ 15 h 105"/>
                <a:gd name="T26" fmla="*/ 93 w 128"/>
                <a:gd name="T27" fmla="*/ 27 h 105"/>
                <a:gd name="T28" fmla="*/ 95 w 128"/>
                <a:gd name="T29" fmla="*/ 38 h 105"/>
                <a:gd name="T30" fmla="*/ 82 w 128"/>
                <a:gd name="T31" fmla="*/ 15 h 105"/>
                <a:gd name="T32" fmla="*/ 95 w 128"/>
                <a:gd name="T33" fmla="*/ 57 h 105"/>
                <a:gd name="T34" fmla="*/ 82 w 128"/>
                <a:gd name="T35" fmla="*/ 105 h 105"/>
                <a:gd name="T36" fmla="*/ 95 w 128"/>
                <a:gd name="T37" fmla="*/ 57 h 105"/>
                <a:gd name="T38" fmla="*/ 65 w 128"/>
                <a:gd name="T39" fmla="*/ 23 h 105"/>
                <a:gd name="T40" fmla="*/ 80 w 128"/>
                <a:gd name="T41" fmla="*/ 54 h 105"/>
                <a:gd name="T42" fmla="*/ 72 w 128"/>
                <a:gd name="T43" fmla="*/ 57 h 105"/>
                <a:gd name="T44" fmla="*/ 65 w 128"/>
                <a:gd name="T45" fmla="*/ 52 h 105"/>
                <a:gd name="T46" fmla="*/ 65 w 128"/>
                <a:gd name="T47" fmla="*/ 23 h 105"/>
                <a:gd name="T48" fmla="*/ 80 w 128"/>
                <a:gd name="T49" fmla="*/ 105 h 105"/>
                <a:gd name="T50" fmla="*/ 65 w 128"/>
                <a:gd name="T51" fmla="*/ 71 h 105"/>
                <a:gd name="T52" fmla="*/ 72 w 128"/>
                <a:gd name="T53" fmla="*/ 80 h 105"/>
                <a:gd name="T54" fmla="*/ 80 w 128"/>
                <a:gd name="T55" fmla="*/ 73 h 105"/>
                <a:gd name="T56" fmla="*/ 49 w 128"/>
                <a:gd name="T57" fmla="*/ 33 h 105"/>
                <a:gd name="T58" fmla="*/ 63 w 128"/>
                <a:gd name="T59" fmla="*/ 54 h 105"/>
                <a:gd name="T60" fmla="*/ 49 w 128"/>
                <a:gd name="T61" fmla="*/ 63 h 105"/>
                <a:gd name="T62" fmla="*/ 49 w 128"/>
                <a:gd name="T63" fmla="*/ 33 h 105"/>
                <a:gd name="T64" fmla="*/ 63 w 128"/>
                <a:gd name="T65" fmla="*/ 105 h 105"/>
                <a:gd name="T66" fmla="*/ 49 w 128"/>
                <a:gd name="T67" fmla="*/ 78 h 105"/>
                <a:gd name="T68" fmla="*/ 63 w 128"/>
                <a:gd name="T69" fmla="*/ 69 h 105"/>
                <a:gd name="T70" fmla="*/ 47 w 128"/>
                <a:gd name="T71" fmla="*/ 42 h 105"/>
                <a:gd name="T72" fmla="*/ 38 w 128"/>
                <a:gd name="T73" fmla="*/ 71 h 105"/>
                <a:gd name="T74" fmla="*/ 34 w 128"/>
                <a:gd name="T75" fmla="*/ 42 h 105"/>
                <a:gd name="T76" fmla="*/ 47 w 128"/>
                <a:gd name="T77" fmla="*/ 80 h 105"/>
                <a:gd name="T78" fmla="*/ 34 w 128"/>
                <a:gd name="T79" fmla="*/ 105 h 105"/>
                <a:gd name="T80" fmla="*/ 36 w 128"/>
                <a:gd name="T81" fmla="*/ 86 h 105"/>
                <a:gd name="T82" fmla="*/ 47 w 128"/>
                <a:gd name="T83" fmla="*/ 80 h 105"/>
                <a:gd name="T84" fmla="*/ 17 w 128"/>
                <a:gd name="T85" fmla="*/ 36 h 105"/>
                <a:gd name="T86" fmla="*/ 32 w 128"/>
                <a:gd name="T87" fmla="*/ 63 h 105"/>
                <a:gd name="T88" fmla="*/ 28 w 128"/>
                <a:gd name="T89" fmla="*/ 61 h 105"/>
                <a:gd name="T90" fmla="*/ 17 w 128"/>
                <a:gd name="T91" fmla="*/ 65 h 105"/>
                <a:gd name="T92" fmla="*/ 17 w 128"/>
                <a:gd name="T93" fmla="*/ 36 h 105"/>
                <a:gd name="T94" fmla="*/ 32 w 128"/>
                <a:gd name="T95" fmla="*/ 105 h 105"/>
                <a:gd name="T96" fmla="*/ 17 w 128"/>
                <a:gd name="T97" fmla="*/ 80 h 105"/>
                <a:gd name="T98" fmla="*/ 32 w 128"/>
                <a:gd name="T99" fmla="*/ 82 h 105"/>
                <a:gd name="T100" fmla="*/ 0 w 128"/>
                <a:gd name="T101" fmla="*/ 48 h 105"/>
                <a:gd name="T102" fmla="*/ 15 w 128"/>
                <a:gd name="T103" fmla="*/ 67 h 105"/>
                <a:gd name="T104" fmla="*/ 13 w 128"/>
                <a:gd name="T105" fmla="*/ 84 h 105"/>
                <a:gd name="T106" fmla="*/ 15 w 128"/>
                <a:gd name="T107" fmla="*/ 105 h 105"/>
                <a:gd name="T108" fmla="*/ 0 w 128"/>
                <a:gd name="T109" fmla="*/ 4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8" h="105">
                  <a:moveTo>
                    <a:pt x="99" y="2"/>
                  </a:moveTo>
                  <a:lnTo>
                    <a:pt x="112" y="2"/>
                  </a:lnTo>
                  <a:lnTo>
                    <a:pt x="112" y="21"/>
                  </a:lnTo>
                  <a:lnTo>
                    <a:pt x="107" y="23"/>
                  </a:lnTo>
                  <a:lnTo>
                    <a:pt x="99" y="25"/>
                  </a:lnTo>
                  <a:lnTo>
                    <a:pt x="99" y="2"/>
                  </a:lnTo>
                  <a:lnTo>
                    <a:pt x="99" y="2"/>
                  </a:lnTo>
                  <a:close/>
                  <a:moveTo>
                    <a:pt x="112" y="46"/>
                  </a:moveTo>
                  <a:lnTo>
                    <a:pt x="112" y="105"/>
                  </a:lnTo>
                  <a:lnTo>
                    <a:pt x="99" y="105"/>
                  </a:lnTo>
                  <a:lnTo>
                    <a:pt x="99" y="52"/>
                  </a:lnTo>
                  <a:lnTo>
                    <a:pt x="107" y="42"/>
                  </a:lnTo>
                  <a:lnTo>
                    <a:pt x="112" y="46"/>
                  </a:lnTo>
                  <a:lnTo>
                    <a:pt x="112" y="46"/>
                  </a:lnTo>
                  <a:close/>
                  <a:moveTo>
                    <a:pt x="114" y="0"/>
                  </a:moveTo>
                  <a:lnTo>
                    <a:pt x="128" y="0"/>
                  </a:lnTo>
                  <a:lnTo>
                    <a:pt x="128" y="105"/>
                  </a:lnTo>
                  <a:lnTo>
                    <a:pt x="114" y="105"/>
                  </a:lnTo>
                  <a:lnTo>
                    <a:pt x="114" y="44"/>
                  </a:lnTo>
                  <a:lnTo>
                    <a:pt x="118" y="33"/>
                  </a:lnTo>
                  <a:lnTo>
                    <a:pt x="120" y="19"/>
                  </a:lnTo>
                  <a:lnTo>
                    <a:pt x="114" y="21"/>
                  </a:lnTo>
                  <a:lnTo>
                    <a:pt x="114" y="0"/>
                  </a:lnTo>
                  <a:lnTo>
                    <a:pt x="114" y="0"/>
                  </a:lnTo>
                  <a:close/>
                  <a:moveTo>
                    <a:pt x="82" y="15"/>
                  </a:moveTo>
                  <a:lnTo>
                    <a:pt x="95" y="15"/>
                  </a:lnTo>
                  <a:lnTo>
                    <a:pt x="95" y="27"/>
                  </a:lnTo>
                  <a:lnTo>
                    <a:pt x="93" y="27"/>
                  </a:lnTo>
                  <a:lnTo>
                    <a:pt x="95" y="31"/>
                  </a:lnTo>
                  <a:lnTo>
                    <a:pt x="95" y="38"/>
                  </a:lnTo>
                  <a:lnTo>
                    <a:pt x="82" y="50"/>
                  </a:lnTo>
                  <a:lnTo>
                    <a:pt x="82" y="15"/>
                  </a:lnTo>
                  <a:lnTo>
                    <a:pt x="82" y="15"/>
                  </a:lnTo>
                  <a:close/>
                  <a:moveTo>
                    <a:pt x="95" y="57"/>
                  </a:moveTo>
                  <a:lnTo>
                    <a:pt x="95" y="105"/>
                  </a:lnTo>
                  <a:lnTo>
                    <a:pt x="82" y="105"/>
                  </a:lnTo>
                  <a:lnTo>
                    <a:pt x="82" y="69"/>
                  </a:lnTo>
                  <a:lnTo>
                    <a:pt x="95" y="57"/>
                  </a:lnTo>
                  <a:lnTo>
                    <a:pt x="95" y="57"/>
                  </a:lnTo>
                  <a:close/>
                  <a:moveTo>
                    <a:pt x="65" y="23"/>
                  </a:moveTo>
                  <a:lnTo>
                    <a:pt x="80" y="23"/>
                  </a:lnTo>
                  <a:lnTo>
                    <a:pt x="80" y="54"/>
                  </a:lnTo>
                  <a:lnTo>
                    <a:pt x="74" y="61"/>
                  </a:lnTo>
                  <a:lnTo>
                    <a:pt x="72" y="57"/>
                  </a:lnTo>
                  <a:lnTo>
                    <a:pt x="68" y="52"/>
                  </a:lnTo>
                  <a:lnTo>
                    <a:pt x="65" y="52"/>
                  </a:lnTo>
                  <a:lnTo>
                    <a:pt x="65" y="23"/>
                  </a:lnTo>
                  <a:lnTo>
                    <a:pt x="65" y="23"/>
                  </a:lnTo>
                  <a:close/>
                  <a:moveTo>
                    <a:pt x="80" y="73"/>
                  </a:moveTo>
                  <a:lnTo>
                    <a:pt x="80" y="105"/>
                  </a:lnTo>
                  <a:lnTo>
                    <a:pt x="65" y="105"/>
                  </a:lnTo>
                  <a:lnTo>
                    <a:pt x="65" y="71"/>
                  </a:lnTo>
                  <a:lnTo>
                    <a:pt x="68" y="73"/>
                  </a:lnTo>
                  <a:lnTo>
                    <a:pt x="72" y="80"/>
                  </a:lnTo>
                  <a:lnTo>
                    <a:pt x="78" y="73"/>
                  </a:lnTo>
                  <a:lnTo>
                    <a:pt x="80" y="73"/>
                  </a:lnTo>
                  <a:lnTo>
                    <a:pt x="80" y="73"/>
                  </a:lnTo>
                  <a:close/>
                  <a:moveTo>
                    <a:pt x="49" y="33"/>
                  </a:moveTo>
                  <a:lnTo>
                    <a:pt x="63" y="33"/>
                  </a:lnTo>
                  <a:lnTo>
                    <a:pt x="63" y="54"/>
                  </a:lnTo>
                  <a:lnTo>
                    <a:pt x="61" y="54"/>
                  </a:lnTo>
                  <a:lnTo>
                    <a:pt x="49" y="63"/>
                  </a:lnTo>
                  <a:lnTo>
                    <a:pt x="49" y="33"/>
                  </a:lnTo>
                  <a:lnTo>
                    <a:pt x="49" y="33"/>
                  </a:lnTo>
                  <a:close/>
                  <a:moveTo>
                    <a:pt x="63" y="69"/>
                  </a:moveTo>
                  <a:lnTo>
                    <a:pt x="63" y="105"/>
                  </a:lnTo>
                  <a:lnTo>
                    <a:pt x="49" y="105"/>
                  </a:lnTo>
                  <a:lnTo>
                    <a:pt x="49" y="78"/>
                  </a:lnTo>
                  <a:lnTo>
                    <a:pt x="63" y="69"/>
                  </a:lnTo>
                  <a:lnTo>
                    <a:pt x="63" y="69"/>
                  </a:lnTo>
                  <a:close/>
                  <a:moveTo>
                    <a:pt x="34" y="42"/>
                  </a:moveTo>
                  <a:lnTo>
                    <a:pt x="47" y="42"/>
                  </a:lnTo>
                  <a:lnTo>
                    <a:pt x="47" y="65"/>
                  </a:lnTo>
                  <a:lnTo>
                    <a:pt x="38" y="71"/>
                  </a:lnTo>
                  <a:lnTo>
                    <a:pt x="34" y="67"/>
                  </a:lnTo>
                  <a:lnTo>
                    <a:pt x="34" y="42"/>
                  </a:lnTo>
                  <a:lnTo>
                    <a:pt x="34" y="42"/>
                  </a:lnTo>
                  <a:close/>
                  <a:moveTo>
                    <a:pt x="47" y="80"/>
                  </a:moveTo>
                  <a:lnTo>
                    <a:pt x="47" y="105"/>
                  </a:lnTo>
                  <a:lnTo>
                    <a:pt x="34" y="105"/>
                  </a:lnTo>
                  <a:lnTo>
                    <a:pt x="34" y="84"/>
                  </a:lnTo>
                  <a:lnTo>
                    <a:pt x="36" y="86"/>
                  </a:lnTo>
                  <a:lnTo>
                    <a:pt x="40" y="84"/>
                  </a:lnTo>
                  <a:lnTo>
                    <a:pt x="47" y="80"/>
                  </a:lnTo>
                  <a:lnTo>
                    <a:pt x="47" y="80"/>
                  </a:lnTo>
                  <a:close/>
                  <a:moveTo>
                    <a:pt x="17" y="36"/>
                  </a:moveTo>
                  <a:lnTo>
                    <a:pt x="32" y="36"/>
                  </a:lnTo>
                  <a:lnTo>
                    <a:pt x="32" y="63"/>
                  </a:lnTo>
                  <a:lnTo>
                    <a:pt x="30" y="63"/>
                  </a:lnTo>
                  <a:lnTo>
                    <a:pt x="28" y="61"/>
                  </a:lnTo>
                  <a:lnTo>
                    <a:pt x="23" y="63"/>
                  </a:lnTo>
                  <a:lnTo>
                    <a:pt x="17" y="65"/>
                  </a:lnTo>
                  <a:lnTo>
                    <a:pt x="17" y="36"/>
                  </a:lnTo>
                  <a:lnTo>
                    <a:pt x="17" y="36"/>
                  </a:lnTo>
                  <a:close/>
                  <a:moveTo>
                    <a:pt x="32" y="82"/>
                  </a:moveTo>
                  <a:lnTo>
                    <a:pt x="32" y="105"/>
                  </a:lnTo>
                  <a:lnTo>
                    <a:pt x="17" y="105"/>
                  </a:lnTo>
                  <a:lnTo>
                    <a:pt x="17" y="80"/>
                  </a:lnTo>
                  <a:lnTo>
                    <a:pt x="26" y="75"/>
                  </a:lnTo>
                  <a:lnTo>
                    <a:pt x="32" y="82"/>
                  </a:lnTo>
                  <a:lnTo>
                    <a:pt x="32" y="82"/>
                  </a:lnTo>
                  <a:close/>
                  <a:moveTo>
                    <a:pt x="0" y="48"/>
                  </a:moveTo>
                  <a:lnTo>
                    <a:pt x="15" y="48"/>
                  </a:lnTo>
                  <a:lnTo>
                    <a:pt x="15" y="67"/>
                  </a:lnTo>
                  <a:lnTo>
                    <a:pt x="7" y="71"/>
                  </a:lnTo>
                  <a:lnTo>
                    <a:pt x="13" y="84"/>
                  </a:lnTo>
                  <a:lnTo>
                    <a:pt x="15" y="82"/>
                  </a:lnTo>
                  <a:lnTo>
                    <a:pt x="15" y="105"/>
                  </a:lnTo>
                  <a:lnTo>
                    <a:pt x="0" y="105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4690995" y="2437330"/>
            <a:ext cx="1751468" cy="1735373"/>
            <a:chOff x="6192089" y="3721210"/>
            <a:chExt cx="2335290" cy="2313831"/>
          </a:xfrm>
        </p:grpSpPr>
        <p:sp>
          <p:nvSpPr>
            <p:cNvPr id="127" name="矩形 126"/>
            <p:cNvSpPr/>
            <p:nvPr/>
          </p:nvSpPr>
          <p:spPr>
            <a:xfrm>
              <a:off x="6192089" y="3721210"/>
              <a:ext cx="2335290" cy="1363554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6192089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9" name="TextBox 14"/>
            <p:cNvSpPr txBox="1"/>
            <p:nvPr/>
          </p:nvSpPr>
          <p:spPr>
            <a:xfrm>
              <a:off x="6238240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200"/>
                </a:spcAft>
                <a:defRPr/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request_unlock 成功后立即标记为已消费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  <a:p>
              <a:pPr algn="l">
                <a:spcAft>
                  <a:spcPts val="200"/>
                </a:spcAft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重复请求必须被拒绝</a:t>
              </a:r>
            </a:p>
          </p:txBody>
        </p:sp>
        <p:sp>
          <p:nvSpPr>
            <p:cNvPr id="130" name="TextBox 15"/>
            <p:cNvSpPr txBox="1"/>
            <p:nvPr/>
          </p:nvSpPr>
          <p:spPr>
            <a:xfrm>
              <a:off x="6238240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defRPr/>
              </a:pPr>
              <a:r>
                <a:rPr lang="id-ID" sz="1200" b="1" dirty="0">
                  <a:solidFill>
                    <a:srgbClr val="6A9AC4"/>
                  </a:solidFill>
                  <a:cs typeface="+mn-ea"/>
                  <a:sym typeface="+mn-lt"/>
                </a:rPr>
                <a:t>消费语义</a:t>
              </a:r>
            </a:p>
          </p:txBody>
        </p:sp>
        <p:sp>
          <p:nvSpPr>
            <p:cNvPr id="131" name="Freeform 105"/>
            <p:cNvSpPr>
              <a:spLocks noEditPoints="1"/>
            </p:cNvSpPr>
            <p:nvPr/>
          </p:nvSpPr>
          <p:spPr bwMode="auto">
            <a:xfrm>
              <a:off x="7119816" y="4304750"/>
              <a:ext cx="479836" cy="282761"/>
            </a:xfrm>
            <a:custGeom>
              <a:avLst/>
              <a:gdLst>
                <a:gd name="T0" fmla="*/ 58 w 80"/>
                <a:gd name="T1" fmla="*/ 7 h 47"/>
                <a:gd name="T2" fmla="*/ 61 w 80"/>
                <a:gd name="T3" fmla="*/ 6 h 47"/>
                <a:gd name="T4" fmla="*/ 66 w 80"/>
                <a:gd name="T5" fmla="*/ 14 h 47"/>
                <a:gd name="T6" fmla="*/ 74 w 80"/>
                <a:gd name="T7" fmla="*/ 19 h 47"/>
                <a:gd name="T8" fmla="*/ 73 w 80"/>
                <a:gd name="T9" fmla="*/ 22 h 47"/>
                <a:gd name="T10" fmla="*/ 80 w 80"/>
                <a:gd name="T11" fmla="*/ 39 h 47"/>
                <a:gd name="T12" fmla="*/ 77 w 80"/>
                <a:gd name="T13" fmla="*/ 41 h 47"/>
                <a:gd name="T14" fmla="*/ 71 w 80"/>
                <a:gd name="T15" fmla="*/ 41 h 47"/>
                <a:gd name="T16" fmla="*/ 73 w 80"/>
                <a:gd name="T17" fmla="*/ 39 h 47"/>
                <a:gd name="T18" fmla="*/ 67 w 80"/>
                <a:gd name="T19" fmla="*/ 25 h 47"/>
                <a:gd name="T20" fmla="*/ 59 w 80"/>
                <a:gd name="T21" fmla="*/ 39 h 47"/>
                <a:gd name="T22" fmla="*/ 67 w 80"/>
                <a:gd name="T23" fmla="*/ 25 h 47"/>
                <a:gd name="T24" fmla="*/ 68 w 80"/>
                <a:gd name="T25" fmla="*/ 23 h 47"/>
                <a:gd name="T26" fmla="*/ 57 w 80"/>
                <a:gd name="T27" fmla="*/ 12 h 47"/>
                <a:gd name="T28" fmla="*/ 62 w 80"/>
                <a:gd name="T29" fmla="*/ 18 h 47"/>
                <a:gd name="T30" fmla="*/ 56 w 80"/>
                <a:gd name="T31" fmla="*/ 29 h 47"/>
                <a:gd name="T32" fmla="*/ 50 w 80"/>
                <a:gd name="T33" fmla="*/ 24 h 47"/>
                <a:gd name="T34" fmla="*/ 55 w 80"/>
                <a:gd name="T35" fmla="*/ 13 h 47"/>
                <a:gd name="T36" fmla="*/ 41 w 80"/>
                <a:gd name="T37" fmla="*/ 7 h 47"/>
                <a:gd name="T38" fmla="*/ 39 w 80"/>
                <a:gd name="T39" fmla="*/ 9 h 47"/>
                <a:gd name="T40" fmla="*/ 24 w 80"/>
                <a:gd name="T41" fmla="*/ 11 h 47"/>
                <a:gd name="T42" fmla="*/ 39 w 80"/>
                <a:gd name="T43" fmla="*/ 9 h 47"/>
                <a:gd name="T44" fmla="*/ 31 w 80"/>
                <a:gd name="T45" fmla="*/ 23 h 47"/>
                <a:gd name="T46" fmla="*/ 24 w 80"/>
                <a:gd name="T47" fmla="*/ 14 h 47"/>
                <a:gd name="T48" fmla="*/ 17 w 80"/>
                <a:gd name="T49" fmla="*/ 17 h 47"/>
                <a:gd name="T50" fmla="*/ 14 w 80"/>
                <a:gd name="T51" fmla="*/ 24 h 47"/>
                <a:gd name="T52" fmla="*/ 24 w 80"/>
                <a:gd name="T53" fmla="*/ 14 h 47"/>
                <a:gd name="T54" fmla="*/ 28 w 80"/>
                <a:gd name="T55" fmla="*/ 25 h 47"/>
                <a:gd name="T56" fmla="*/ 20 w 80"/>
                <a:gd name="T57" fmla="*/ 22 h 47"/>
                <a:gd name="T58" fmla="*/ 23 w 80"/>
                <a:gd name="T59" fmla="*/ 29 h 47"/>
                <a:gd name="T60" fmla="*/ 13 w 80"/>
                <a:gd name="T61" fmla="*/ 25 h 47"/>
                <a:gd name="T62" fmla="*/ 7 w 80"/>
                <a:gd name="T63" fmla="*/ 39 h 47"/>
                <a:gd name="T64" fmla="*/ 9 w 80"/>
                <a:gd name="T65" fmla="*/ 41 h 47"/>
                <a:gd name="T66" fmla="*/ 3 w 80"/>
                <a:gd name="T67" fmla="*/ 41 h 47"/>
                <a:gd name="T68" fmla="*/ 0 w 80"/>
                <a:gd name="T69" fmla="*/ 39 h 47"/>
                <a:gd name="T70" fmla="*/ 7 w 80"/>
                <a:gd name="T71" fmla="*/ 22 h 47"/>
                <a:gd name="T72" fmla="*/ 6 w 80"/>
                <a:gd name="T73" fmla="*/ 19 h 47"/>
                <a:gd name="T74" fmla="*/ 14 w 80"/>
                <a:gd name="T75" fmla="*/ 14 h 47"/>
                <a:gd name="T76" fmla="*/ 19 w 80"/>
                <a:gd name="T77" fmla="*/ 6 h 47"/>
                <a:gd name="T78" fmla="*/ 22 w 80"/>
                <a:gd name="T79" fmla="*/ 7 h 47"/>
                <a:gd name="T80" fmla="*/ 39 w 80"/>
                <a:gd name="T81" fmla="*/ 0 h 47"/>
                <a:gd name="T82" fmla="*/ 41 w 80"/>
                <a:gd name="T83" fmla="*/ 3 h 47"/>
                <a:gd name="T84" fmla="*/ 33 w 80"/>
                <a:gd name="T85" fmla="*/ 40 h 47"/>
                <a:gd name="T86" fmla="*/ 40 w 80"/>
                <a:gd name="T87" fmla="*/ 47 h 47"/>
                <a:gd name="T88" fmla="*/ 45 w 80"/>
                <a:gd name="T89" fmla="*/ 45 h 47"/>
                <a:gd name="T90" fmla="*/ 47 w 80"/>
                <a:gd name="T91" fmla="*/ 39 h 47"/>
                <a:gd name="T92" fmla="*/ 45 w 80"/>
                <a:gd name="T93" fmla="*/ 34 h 47"/>
                <a:gd name="T94" fmla="*/ 39 w 80"/>
                <a:gd name="T95" fmla="*/ 33 h 47"/>
                <a:gd name="T96" fmla="*/ 24 w 80"/>
                <a:gd name="T97" fmla="*/ 23 h 47"/>
                <a:gd name="T98" fmla="*/ 22 w 80"/>
                <a:gd name="T99" fmla="*/ 26 h 47"/>
                <a:gd name="T100" fmla="*/ 40 w 80"/>
                <a:gd name="T101" fmla="*/ 37 h 47"/>
                <a:gd name="T102" fmla="*/ 37 w 80"/>
                <a:gd name="T103" fmla="*/ 40 h 47"/>
                <a:gd name="T104" fmla="*/ 40 w 80"/>
                <a:gd name="T105" fmla="*/ 43 h 47"/>
                <a:gd name="T106" fmla="*/ 42 w 80"/>
                <a:gd name="T107" fmla="*/ 42 h 47"/>
                <a:gd name="T108" fmla="*/ 43 w 80"/>
                <a:gd name="T109" fmla="*/ 40 h 47"/>
                <a:gd name="T110" fmla="*/ 40 w 80"/>
                <a:gd name="T111" fmla="*/ 37 h 47"/>
                <a:gd name="T112" fmla="*/ 41 w 80"/>
                <a:gd name="T113" fmla="*/ 9 h 47"/>
                <a:gd name="T114" fmla="*/ 49 w 80"/>
                <a:gd name="T115" fmla="*/ 23 h 47"/>
                <a:gd name="T116" fmla="*/ 41 w 80"/>
                <a:gd name="T117" fmla="*/ 9 h 47"/>
                <a:gd name="T118" fmla="*/ 13 w 80"/>
                <a:gd name="T119" fmla="*/ 25 h 47"/>
                <a:gd name="T120" fmla="*/ 21 w 80"/>
                <a:gd name="T121" fmla="*/ 3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0" h="47">
                  <a:moveTo>
                    <a:pt x="41" y="3"/>
                  </a:moveTo>
                  <a:cubicBezTo>
                    <a:pt x="47" y="3"/>
                    <a:pt x="53" y="5"/>
                    <a:pt x="58" y="7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2" y="10"/>
                    <a:pt x="64" y="12"/>
                    <a:pt x="66" y="14"/>
                  </a:cubicBezTo>
                  <a:cubicBezTo>
                    <a:pt x="68" y="16"/>
                    <a:pt x="70" y="18"/>
                    <a:pt x="72" y="20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5" y="27"/>
                    <a:pt x="77" y="33"/>
                    <a:pt x="77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34"/>
                    <a:pt x="71" y="29"/>
                    <a:pt x="69" y="24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9" y="29"/>
                    <a:pt x="71" y="34"/>
                    <a:pt x="71" y="39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36"/>
                    <a:pt x="58" y="33"/>
                    <a:pt x="57" y="31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7" y="20"/>
                    <a:pt x="65" y="18"/>
                    <a:pt x="63" y="17"/>
                  </a:cubicBezTo>
                  <a:cubicBezTo>
                    <a:pt x="61" y="15"/>
                    <a:pt x="59" y="13"/>
                    <a:pt x="57" y="12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8" y="15"/>
                    <a:pt x="60" y="16"/>
                    <a:pt x="62" y="18"/>
                  </a:cubicBezTo>
                  <a:cubicBezTo>
                    <a:pt x="63" y="20"/>
                    <a:pt x="65" y="22"/>
                    <a:pt x="66" y="24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5" y="28"/>
                    <a:pt x="55" y="27"/>
                    <a:pt x="54" y="26"/>
                  </a:cubicBezTo>
                  <a:cubicBezTo>
                    <a:pt x="53" y="25"/>
                    <a:pt x="52" y="24"/>
                    <a:pt x="50" y="24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1" y="8"/>
                    <a:pt x="46" y="7"/>
                    <a:pt x="41" y="7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4" y="7"/>
                    <a:pt x="29" y="8"/>
                    <a:pt x="24" y="11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9" y="11"/>
                    <a:pt x="34" y="9"/>
                    <a:pt x="39" y="9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6" y="21"/>
                    <a:pt x="34" y="21"/>
                    <a:pt x="31" y="2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1" y="13"/>
                    <a:pt x="19" y="15"/>
                    <a:pt x="17" y="17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2"/>
                    <a:pt x="17" y="20"/>
                    <a:pt x="18" y="18"/>
                  </a:cubicBezTo>
                  <a:cubicBezTo>
                    <a:pt x="20" y="16"/>
                    <a:pt x="22" y="15"/>
                    <a:pt x="24" y="1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29" y="24"/>
                    <a:pt x="29" y="24"/>
                    <a:pt x="28" y="25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9" y="29"/>
                    <a:pt x="7" y="34"/>
                    <a:pt x="7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3"/>
                    <a:pt x="5" y="27"/>
                    <a:pt x="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0" y="18"/>
                    <a:pt x="12" y="16"/>
                    <a:pt x="14" y="14"/>
                  </a:cubicBezTo>
                  <a:cubicBezTo>
                    <a:pt x="16" y="12"/>
                    <a:pt x="18" y="10"/>
                    <a:pt x="21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7" y="5"/>
                    <a:pt x="33" y="3"/>
                    <a:pt x="39" y="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lose/>
                  <a:moveTo>
                    <a:pt x="33" y="39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2"/>
                    <a:pt x="34" y="44"/>
                    <a:pt x="35" y="45"/>
                  </a:cubicBezTo>
                  <a:cubicBezTo>
                    <a:pt x="37" y="47"/>
                    <a:pt x="39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2" y="47"/>
                    <a:pt x="44" y="46"/>
                    <a:pt x="45" y="45"/>
                  </a:cubicBezTo>
                  <a:cubicBezTo>
                    <a:pt x="47" y="43"/>
                    <a:pt x="47" y="41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7"/>
                    <a:pt x="46" y="36"/>
                    <a:pt x="45" y="34"/>
                  </a:cubicBezTo>
                  <a:cubicBezTo>
                    <a:pt x="43" y="33"/>
                    <a:pt x="41" y="32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33" y="39"/>
                    <a:pt x="33" y="39"/>
                    <a:pt x="33" y="39"/>
                  </a:cubicBezTo>
                  <a:close/>
                  <a:moveTo>
                    <a:pt x="40" y="37"/>
                  </a:moveTo>
                  <a:cubicBezTo>
                    <a:pt x="39" y="37"/>
                    <a:pt x="38" y="37"/>
                    <a:pt x="38" y="38"/>
                  </a:cubicBezTo>
                  <a:cubicBezTo>
                    <a:pt x="37" y="38"/>
                    <a:pt x="37" y="39"/>
                    <a:pt x="37" y="40"/>
                  </a:cubicBezTo>
                  <a:cubicBezTo>
                    <a:pt x="37" y="41"/>
                    <a:pt x="37" y="42"/>
                    <a:pt x="38" y="42"/>
                  </a:cubicBezTo>
                  <a:cubicBezTo>
                    <a:pt x="39" y="43"/>
                    <a:pt x="39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3"/>
                    <a:pt x="42" y="42"/>
                    <a:pt x="42" y="42"/>
                  </a:cubicBezTo>
                  <a:cubicBezTo>
                    <a:pt x="43" y="41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39"/>
                    <a:pt x="43" y="38"/>
                    <a:pt x="42" y="37"/>
                  </a:cubicBezTo>
                  <a:cubicBezTo>
                    <a:pt x="41" y="37"/>
                    <a:pt x="41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lose/>
                  <a:moveTo>
                    <a:pt x="41" y="9"/>
                  </a:moveTo>
                  <a:cubicBezTo>
                    <a:pt x="41" y="21"/>
                    <a:pt x="41" y="21"/>
                    <a:pt x="41" y="21"/>
                  </a:cubicBezTo>
                  <a:cubicBezTo>
                    <a:pt x="44" y="21"/>
                    <a:pt x="46" y="21"/>
                    <a:pt x="49" y="2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0" y="11"/>
                    <a:pt x="46" y="9"/>
                    <a:pt x="41" y="9"/>
                  </a:cubicBezTo>
                  <a:close/>
                  <a:moveTo>
                    <a:pt x="23" y="31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1" y="29"/>
                    <a:pt x="9" y="34"/>
                    <a:pt x="9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6"/>
                    <a:pt x="22" y="33"/>
                    <a:pt x="23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643270" y="2437330"/>
            <a:ext cx="1751468" cy="1735373"/>
            <a:chOff x="8828090" y="3721210"/>
            <a:chExt cx="2335290" cy="2313831"/>
          </a:xfrm>
        </p:grpSpPr>
        <p:sp>
          <p:nvSpPr>
            <p:cNvPr id="133" name="矩形 132"/>
            <p:cNvSpPr/>
            <p:nvPr/>
          </p:nvSpPr>
          <p:spPr>
            <a:xfrm>
              <a:off x="8828090" y="3721210"/>
              <a:ext cx="2335290" cy="1363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8828090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5" name="TextBox 14"/>
            <p:cNvSpPr txBox="1"/>
            <p:nvPr/>
          </p:nvSpPr>
          <p:spPr>
            <a:xfrm>
              <a:off x="8874241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200"/>
                </a:spcAft>
                <a:defRPr/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每次融合通过签发新凭证，失败重试不覆盖有效凭证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  <a:p>
              <a:pPr algn="l">
                <a:spcAft>
                  <a:spcPts val="200"/>
                </a:spcAft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人员离开、会话重置或脚本重启时删除凭证</a:t>
              </a:r>
            </a:p>
          </p:txBody>
        </p:sp>
        <p:sp>
          <p:nvSpPr>
            <p:cNvPr id="136" name="TextBox 15"/>
            <p:cNvSpPr txBox="1"/>
            <p:nvPr/>
          </p:nvSpPr>
          <p:spPr>
            <a:xfrm>
              <a:off x="8874241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defRPr/>
              </a:pPr>
              <a:r>
                <a:rPr lang="id-ID" sz="1200" b="1" dirty="0">
                  <a:solidFill>
                    <a:srgbClr val="6A9AC4"/>
                  </a:solidFill>
                  <a:cs typeface="+mn-ea"/>
                  <a:sym typeface="+mn-lt"/>
                </a:rPr>
                <a:t>生命周期</a:t>
              </a:r>
            </a:p>
          </p:txBody>
        </p:sp>
        <p:sp>
          <p:nvSpPr>
            <p:cNvPr id="137" name="Freeform 139"/>
            <p:cNvSpPr>
              <a:spLocks noEditPoints="1"/>
            </p:cNvSpPr>
            <p:nvPr/>
          </p:nvSpPr>
          <p:spPr bwMode="auto">
            <a:xfrm>
              <a:off x="9810274" y="4219279"/>
              <a:ext cx="370923" cy="403829"/>
            </a:xfrm>
            <a:custGeom>
              <a:avLst/>
              <a:gdLst>
                <a:gd name="T0" fmla="*/ 29 w 59"/>
                <a:gd name="T1" fmla="*/ 0 h 64"/>
                <a:gd name="T2" fmla="*/ 59 w 59"/>
                <a:gd name="T3" fmla="*/ 29 h 64"/>
                <a:gd name="T4" fmla="*/ 49 w 59"/>
                <a:gd name="T5" fmla="*/ 51 h 64"/>
                <a:gd name="T6" fmla="*/ 56 w 59"/>
                <a:gd name="T7" fmla="*/ 34 h 64"/>
                <a:gd name="T8" fmla="*/ 29 w 59"/>
                <a:gd name="T9" fmla="*/ 7 h 64"/>
                <a:gd name="T10" fmla="*/ 3 w 59"/>
                <a:gd name="T11" fmla="*/ 34 h 64"/>
                <a:gd name="T12" fmla="*/ 9 w 59"/>
                <a:gd name="T13" fmla="*/ 51 h 64"/>
                <a:gd name="T14" fmla="*/ 0 w 59"/>
                <a:gd name="T15" fmla="*/ 29 h 64"/>
                <a:gd name="T16" fmla="*/ 29 w 59"/>
                <a:gd name="T17" fmla="*/ 0 h 64"/>
                <a:gd name="T18" fmla="*/ 35 w 59"/>
                <a:gd name="T19" fmla="*/ 47 h 64"/>
                <a:gd name="T20" fmla="*/ 41 w 59"/>
                <a:gd name="T21" fmla="*/ 37 h 64"/>
                <a:gd name="T22" fmla="*/ 29 w 59"/>
                <a:gd name="T23" fmla="*/ 25 h 64"/>
                <a:gd name="T24" fmla="*/ 17 w 59"/>
                <a:gd name="T25" fmla="*/ 37 h 64"/>
                <a:gd name="T26" fmla="*/ 23 w 59"/>
                <a:gd name="T27" fmla="*/ 47 h 64"/>
                <a:gd name="T28" fmla="*/ 23 w 59"/>
                <a:gd name="T29" fmla="*/ 64 h 64"/>
                <a:gd name="T30" fmla="*/ 35 w 59"/>
                <a:gd name="T31" fmla="*/ 64 h 64"/>
                <a:gd name="T32" fmla="*/ 35 w 59"/>
                <a:gd name="T33" fmla="*/ 47 h 64"/>
                <a:gd name="T34" fmla="*/ 29 w 59"/>
                <a:gd name="T35" fmla="*/ 14 h 64"/>
                <a:gd name="T36" fmla="*/ 9 w 59"/>
                <a:gd name="T37" fmla="*/ 34 h 64"/>
                <a:gd name="T38" fmla="*/ 18 w 59"/>
                <a:gd name="T39" fmla="*/ 51 h 64"/>
                <a:gd name="T40" fmla="*/ 11 w 59"/>
                <a:gd name="T41" fmla="*/ 37 h 64"/>
                <a:gd name="T42" fmla="*/ 29 w 59"/>
                <a:gd name="T43" fmla="*/ 20 h 64"/>
                <a:gd name="T44" fmla="*/ 47 w 59"/>
                <a:gd name="T45" fmla="*/ 37 h 64"/>
                <a:gd name="T46" fmla="*/ 41 w 59"/>
                <a:gd name="T47" fmla="*/ 51 h 64"/>
                <a:gd name="T48" fmla="*/ 50 w 59"/>
                <a:gd name="T49" fmla="*/ 34 h 64"/>
                <a:gd name="T50" fmla="*/ 29 w 59"/>
                <a:gd name="T51" fmla="*/ 1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64">
                  <a:moveTo>
                    <a:pt x="29" y="0"/>
                  </a:moveTo>
                  <a:cubicBezTo>
                    <a:pt x="46" y="0"/>
                    <a:pt x="59" y="13"/>
                    <a:pt x="59" y="29"/>
                  </a:cubicBezTo>
                  <a:cubicBezTo>
                    <a:pt x="59" y="38"/>
                    <a:pt x="55" y="46"/>
                    <a:pt x="49" y="51"/>
                  </a:cubicBezTo>
                  <a:cubicBezTo>
                    <a:pt x="53" y="46"/>
                    <a:pt x="56" y="40"/>
                    <a:pt x="56" y="34"/>
                  </a:cubicBezTo>
                  <a:cubicBezTo>
                    <a:pt x="56" y="19"/>
                    <a:pt x="44" y="7"/>
                    <a:pt x="29" y="7"/>
                  </a:cubicBezTo>
                  <a:cubicBezTo>
                    <a:pt x="15" y="7"/>
                    <a:pt x="3" y="19"/>
                    <a:pt x="3" y="34"/>
                  </a:cubicBezTo>
                  <a:cubicBezTo>
                    <a:pt x="3" y="40"/>
                    <a:pt x="5" y="46"/>
                    <a:pt x="9" y="51"/>
                  </a:cubicBezTo>
                  <a:cubicBezTo>
                    <a:pt x="3" y="46"/>
                    <a:pt x="0" y="38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lose/>
                  <a:moveTo>
                    <a:pt x="35" y="47"/>
                  </a:moveTo>
                  <a:cubicBezTo>
                    <a:pt x="39" y="45"/>
                    <a:pt x="41" y="41"/>
                    <a:pt x="41" y="37"/>
                  </a:cubicBezTo>
                  <a:cubicBezTo>
                    <a:pt x="41" y="31"/>
                    <a:pt x="36" y="25"/>
                    <a:pt x="29" y="25"/>
                  </a:cubicBezTo>
                  <a:cubicBezTo>
                    <a:pt x="23" y="25"/>
                    <a:pt x="17" y="31"/>
                    <a:pt x="17" y="37"/>
                  </a:cubicBezTo>
                  <a:cubicBezTo>
                    <a:pt x="17" y="41"/>
                    <a:pt x="20" y="45"/>
                    <a:pt x="23" y="47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47"/>
                    <a:pt x="35" y="47"/>
                    <a:pt x="35" y="47"/>
                  </a:cubicBezTo>
                  <a:close/>
                  <a:moveTo>
                    <a:pt x="29" y="14"/>
                  </a:moveTo>
                  <a:cubicBezTo>
                    <a:pt x="18" y="14"/>
                    <a:pt x="9" y="23"/>
                    <a:pt x="9" y="34"/>
                  </a:cubicBezTo>
                  <a:cubicBezTo>
                    <a:pt x="9" y="41"/>
                    <a:pt x="12" y="47"/>
                    <a:pt x="18" y="51"/>
                  </a:cubicBezTo>
                  <a:cubicBezTo>
                    <a:pt x="14" y="48"/>
                    <a:pt x="11" y="43"/>
                    <a:pt x="11" y="37"/>
                  </a:cubicBezTo>
                  <a:cubicBezTo>
                    <a:pt x="11" y="27"/>
                    <a:pt x="19" y="20"/>
                    <a:pt x="29" y="20"/>
                  </a:cubicBezTo>
                  <a:cubicBezTo>
                    <a:pt x="39" y="20"/>
                    <a:pt x="47" y="27"/>
                    <a:pt x="47" y="37"/>
                  </a:cubicBezTo>
                  <a:cubicBezTo>
                    <a:pt x="47" y="43"/>
                    <a:pt x="45" y="48"/>
                    <a:pt x="41" y="51"/>
                  </a:cubicBezTo>
                  <a:cubicBezTo>
                    <a:pt x="46" y="47"/>
                    <a:pt x="50" y="41"/>
                    <a:pt x="50" y="34"/>
                  </a:cubicBezTo>
                  <a:cubicBezTo>
                    <a:pt x="50" y="23"/>
                    <a:pt x="40" y="14"/>
                    <a:pt x="29" y="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" name="组合 2"/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Box 13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系统架构与实现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低延迟语音 Agent 流水线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麦克风 → sounddevice / PortAudio → 输入 16 kHz 单声道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88720" y="170992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Pipecat + Silero VAD：检测起止说话、静音超时与打断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8424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本地 ASR：FunASR SenseVoiceSmall + FSMN-VAD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225856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FastGPT + DeepSeek：流式回复与工具编排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53288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本地 TTS：sherpa-onnx VITS/Piper 优先，edge-tts 降级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8720" y="28072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输出：ffmpeg 转 S16_LE 16 kHz 单声道 → ALSA aplay 播放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系统架构与实现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Agent 受控工具定义（仅注册两个）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/>
                <a:gridCol w="1200150"/>
                <a:gridCol w="1200150"/>
                <a:gridCol w="120015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工具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方法 / 路径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调用约束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current_auth_context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GET /tools/current_auth_context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读取最新硬件认证凭证状态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任何开锁请求前必须先调用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request_unlock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POST /tools/request_unlock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请求开锁，由本地闸门裁决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四个有效条件同时满足才调用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 txBox="1"/>
          <p:nvPr/>
        </p:nvSpPr>
        <p:spPr>
          <a:xfrm>
            <a:off x="4951476" y="1245020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ASR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FunASR SenseVoiceSmall + FSMN-VAD，本地推理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WSL CPU 峰值约 3.62 GB，Jetson 需整机内存基准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下一步评估 sherpa-onnx 流式 ASR 或模型量化</a:t>
            </a:r>
          </a:p>
        </p:txBody>
      </p:sp>
      <p:sp>
        <p:nvSpPr>
          <p:cNvPr id="30" name="Content Placeholder 2"/>
          <p:cNvSpPr txBox="1"/>
          <p:nvPr/>
        </p:nvSpPr>
        <p:spPr>
          <a:xfrm>
            <a:off x="4951476" y="2462989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TTS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已选 sherpa-onnx 1.13.6，提供 aarch64 py3.8 轮子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piper-tts 不可行：piper-phonemize 无 aarch64 预编译轮子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冒烟音色 13.4 MB，模型卡标注 non-commercial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正式音色需完成许可证确认后才能商用</a:t>
            </a:r>
          </a:p>
        </p:txBody>
      </p:sp>
      <p:sp>
        <p:nvSpPr>
          <p:cNvPr id="31" name="Content Placeholder 2"/>
          <p:cNvSpPr txBox="1"/>
          <p:nvPr/>
        </p:nvSpPr>
        <p:spPr>
          <a:xfrm>
            <a:off x="4951475" y="3618216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Jetson 依赖组合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pipecat-ai==0.0.108 --no-deps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numba==0.60.0、onnxruntime==1.16.3、soxr==0.5.0.post1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均已确认存在 aarch64 cp310 轮子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B9D3BB-147B-4B73-97DC-8B0D7F2050E8}"/>
              </a:ext>
            </a:extLst>
          </p:cNvPr>
          <p:cNvGrpSpPr/>
          <p:nvPr/>
        </p:nvGrpSpPr>
        <p:grpSpPr>
          <a:xfrm>
            <a:off x="1795687" y="1078466"/>
            <a:ext cx="2922296" cy="4131202"/>
            <a:chOff x="2394249" y="1437955"/>
            <a:chExt cx="3896395" cy="550826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4670444" y="5506224"/>
              <a:ext cx="0" cy="144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670445" y="2351329"/>
              <a:ext cx="0" cy="136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4670444" y="3935623"/>
              <a:ext cx="0" cy="1404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4670444" y="1498570"/>
              <a:ext cx="0" cy="64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4542204" y="2115031"/>
              <a:ext cx="252000" cy="252000"/>
              <a:chOff x="5934044" y="2659656"/>
              <a:chExt cx="252000" cy="2520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 rot="10800000">
              <a:off x="4538993" y="3717193"/>
              <a:ext cx="252000" cy="252000"/>
              <a:chOff x="5934044" y="2659656"/>
              <a:chExt cx="252000" cy="2520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4" name="Isosceles Triangle 13"/>
              <p:cNvSpPr/>
              <p:nvPr/>
            </p:nvSpPr>
            <p:spPr>
              <a:xfrm rot="16200000">
                <a:off x="5960354" y="2706576"/>
                <a:ext cx="144000" cy="14400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547381" y="5303068"/>
              <a:ext cx="252000" cy="252000"/>
              <a:chOff x="5934044" y="2659656"/>
              <a:chExt cx="252000" cy="2520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7" name="Isosceles Triangle 16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sp>
          <p:nvSpPr>
            <p:cNvPr id="20" name="Content Placeholder 2"/>
            <p:cNvSpPr txBox="1"/>
            <p:nvPr/>
          </p:nvSpPr>
          <p:spPr>
            <a:xfrm>
              <a:off x="3525564" y="2107037"/>
              <a:ext cx="940592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CEO</a:t>
              </a:r>
            </a:p>
          </p:txBody>
        </p:sp>
        <p:sp>
          <p:nvSpPr>
            <p:cNvPr id="21" name="Content Placeholder 2"/>
            <p:cNvSpPr txBox="1"/>
            <p:nvPr/>
          </p:nvSpPr>
          <p:spPr>
            <a:xfrm>
              <a:off x="3390891" y="3682379"/>
              <a:ext cx="1071586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MANAGER</a:t>
              </a:r>
            </a:p>
          </p:txBody>
        </p:sp>
        <p:sp>
          <p:nvSpPr>
            <p:cNvPr id="22" name="Content Placeholder 2"/>
            <p:cNvSpPr txBox="1"/>
            <p:nvPr/>
          </p:nvSpPr>
          <p:spPr>
            <a:xfrm>
              <a:off x="3018971" y="5273938"/>
              <a:ext cx="1454489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ASS. MANAGER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 rot="5400000">
              <a:off x="3604512" y="424063"/>
              <a:ext cx="0" cy="216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2394249" y="1437955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5047917" y="1639092"/>
              <a:ext cx="1242727" cy="1242727"/>
            </a:xfrm>
            <a:prstGeom prst="ellipse">
              <a:avLst/>
            </a:prstGeom>
            <a:solidFill>
              <a:schemeClr val="accent1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047916" y="3221829"/>
              <a:ext cx="1242727" cy="1242727"/>
            </a:xfrm>
            <a:prstGeom prst="ellipse">
              <a:avLst/>
            </a:prstGeom>
            <a:solidFill>
              <a:schemeClr val="accent3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047916" y="4807704"/>
              <a:ext cx="1242727" cy="1242727"/>
            </a:xfrm>
            <a:prstGeom prst="ellipse">
              <a:avLst/>
            </a:prstGeom>
            <a:solidFill>
              <a:schemeClr val="tx2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07A9DAD-ECE3-4F5B-BB2B-4DEB2E0F537D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4CF3693-C072-41AD-A802-F07A963AB475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548093C-F51F-4EA3-87B9-56AC599A418B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B1DEDAD-58E7-4AA0-AE3C-96369DDEDA9D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5C70D06-1887-424F-BE4D-784DEB83CF83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64008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ASR / TTS 与边缘资源策略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54" y="-11906"/>
            <a:ext cx="9242584" cy="51668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21618" y="881119"/>
            <a:ext cx="1175657" cy="33816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21500" dirty="0">
                <a:solidFill>
                  <a:schemeClr val="bg2"/>
                </a:solidFill>
                <a:cs typeface="+mn-ea"/>
                <a:sym typeface="+mn-lt"/>
              </a:rPr>
              <a:t>4</a:t>
            </a:r>
            <a:endParaRPr lang="zh-CN" altLang="en-US" sz="215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5783" y="1276675"/>
            <a:ext cx="1175657" cy="282769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79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4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183005" y="1957864"/>
            <a:ext cx="66675" cy="122824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0267" y="1912397"/>
            <a:ext cx="1723583" cy="4838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zh-CN" altLang="en-US" sz="2700" dirty="0">
                <a:cs typeface="+mn-ea"/>
                <a:sym typeface="+mn-lt"/>
              </a:rPr>
              <a:t>04  安全设计与异常闭环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90032" y="2541531"/>
            <a:ext cx="2566146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四层约束 · 场景验证 · 事件链路 · 进程治理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65346" y="863918"/>
            <a:ext cx="3549491" cy="3532346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367 -0.00046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00" y="-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-0.01432 0.00138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00" y="6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22" grpId="0" bldLvl="0" animBg="1"/>
      <p:bldP spid="25" grpId="0"/>
      <p:bldP spid="27" grpId="0"/>
    </p:bldLst>
  </p:timing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安全设计与异常闭环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四层安全约束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第一层 · 融合层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335024" y="1673351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只有 Jetson 本地 FusionEngine 能产生认证结果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33955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第二层 · 凭证层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335024" y="2171700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短时、一次性；过期与重复消费一律拒绝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432303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第三层 · Agent 层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335024" y="2670048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仅注册两个受控工具，不暴露裸 unlock 接口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88720" y="2930651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第四层 · 执行层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335024" y="3168396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Bearer Token、SMART_LOCK_NO_UNLOCK 与本地执行器共同控制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88720" y="3428999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6A9AC4"/>
                </a:solidFill>
                <a:latin typeface="DengXian"/>
              </a:rPr>
              <a:t>结论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335024" y="3666744"/>
            <a:ext cx="4654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900" b="0">
                <a:solidFill>
                  <a:srgbClr val="44546A"/>
                </a:solidFill>
                <a:latin typeface="DengXian"/>
              </a:rPr>
              <a:t>即使模型误解或提示词失效，本地安全闸门仍能拒绝无凭证请求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安全设计与异常闭环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安全验证：两个真实场景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932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实际工具调用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有效凭证 + 「请开门」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current_auth_context → request_unlock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干运行阻止真实动作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无效凭证 + 「请开门」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仅 current_auth_context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不调用开锁工具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29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 txBox="1"/>
          <p:nvPr/>
        </p:nvSpPr>
        <p:spPr>
          <a:xfrm>
            <a:off x="4951476" y="1245020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触发条件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红外持续检测到人员，超过 3 秒仍无法识别人脸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完整认证进入融合阶段后失败（活体、声纹或身份一致性）</a:t>
            </a:r>
          </a:p>
        </p:txBody>
      </p:sp>
      <p:sp>
        <p:nvSpPr>
          <p:cNvPr id="30" name="Content Placeholder 2"/>
          <p:cNvSpPr txBox="1"/>
          <p:nvPr/>
        </p:nvSpPr>
        <p:spPr>
          <a:xfrm>
            <a:off x="4951476" y="2462989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处理链路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认证失败 → localhost:8790/event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原子写入 latest_event.json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SCP 同步至 Windows → WorkBuddy 定时读取 → Bot 通知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通知成功后标记 processed = true</a:t>
            </a:r>
          </a:p>
        </p:txBody>
      </p:sp>
      <p:sp>
        <p:nvSpPr>
          <p:cNvPr id="31" name="Content Placeholder 2"/>
          <p:cNvSpPr txBox="1"/>
          <p:nvPr/>
        </p:nvSpPr>
        <p:spPr>
          <a:xfrm>
            <a:off x="4951475" y="3618216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设计约束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同一次人员停留只写一次，离开超过 5 秒后重新布防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事件服务异常只记日志并重试，不改变认证或开锁结果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当前只保留最新一条，不等同于完整事件队列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B9D3BB-147B-4B73-97DC-8B0D7F2050E8}"/>
              </a:ext>
            </a:extLst>
          </p:cNvPr>
          <p:cNvGrpSpPr/>
          <p:nvPr/>
        </p:nvGrpSpPr>
        <p:grpSpPr>
          <a:xfrm>
            <a:off x="1795687" y="1078466"/>
            <a:ext cx="2922296" cy="4131202"/>
            <a:chOff x="2394249" y="1437955"/>
            <a:chExt cx="3896395" cy="550826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4670444" y="5506224"/>
              <a:ext cx="0" cy="144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670445" y="2351329"/>
              <a:ext cx="0" cy="136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4670444" y="3935623"/>
              <a:ext cx="0" cy="1404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4670444" y="1498570"/>
              <a:ext cx="0" cy="64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4542204" y="2115031"/>
              <a:ext cx="252000" cy="252000"/>
              <a:chOff x="5934044" y="2659656"/>
              <a:chExt cx="252000" cy="2520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 rot="10800000">
              <a:off x="4538993" y="3717193"/>
              <a:ext cx="252000" cy="252000"/>
              <a:chOff x="5934044" y="2659656"/>
              <a:chExt cx="252000" cy="2520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4" name="Isosceles Triangle 13"/>
              <p:cNvSpPr/>
              <p:nvPr/>
            </p:nvSpPr>
            <p:spPr>
              <a:xfrm rot="16200000">
                <a:off x="5960354" y="2706576"/>
                <a:ext cx="144000" cy="14400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547381" y="5303068"/>
              <a:ext cx="252000" cy="252000"/>
              <a:chOff x="5934044" y="2659656"/>
              <a:chExt cx="252000" cy="2520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7" name="Isosceles Triangle 16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sp>
          <p:nvSpPr>
            <p:cNvPr id="20" name="Content Placeholder 2"/>
            <p:cNvSpPr txBox="1"/>
            <p:nvPr/>
          </p:nvSpPr>
          <p:spPr>
            <a:xfrm>
              <a:off x="3525564" y="2107037"/>
              <a:ext cx="940592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CEO</a:t>
              </a:r>
            </a:p>
          </p:txBody>
        </p:sp>
        <p:sp>
          <p:nvSpPr>
            <p:cNvPr id="21" name="Content Placeholder 2"/>
            <p:cNvSpPr txBox="1"/>
            <p:nvPr/>
          </p:nvSpPr>
          <p:spPr>
            <a:xfrm>
              <a:off x="3390891" y="3682379"/>
              <a:ext cx="1071586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MANAGER</a:t>
              </a:r>
            </a:p>
          </p:txBody>
        </p:sp>
        <p:sp>
          <p:nvSpPr>
            <p:cNvPr id="22" name="Content Placeholder 2"/>
            <p:cNvSpPr txBox="1"/>
            <p:nvPr/>
          </p:nvSpPr>
          <p:spPr>
            <a:xfrm>
              <a:off x="3018971" y="5273938"/>
              <a:ext cx="1454489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ASS. MANAGER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 rot="5400000">
              <a:off x="3604512" y="424063"/>
              <a:ext cx="0" cy="216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2394249" y="1437955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5047917" y="1639092"/>
              <a:ext cx="1242727" cy="1242727"/>
            </a:xfrm>
            <a:prstGeom prst="ellipse">
              <a:avLst/>
            </a:prstGeom>
            <a:solidFill>
              <a:schemeClr val="accent1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047916" y="3221829"/>
              <a:ext cx="1242727" cy="1242727"/>
            </a:xfrm>
            <a:prstGeom prst="ellipse">
              <a:avLst/>
            </a:prstGeom>
            <a:solidFill>
              <a:schemeClr val="accent3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047916" y="4807704"/>
              <a:ext cx="1242727" cy="1242727"/>
            </a:xfrm>
            <a:prstGeom prst="ellipse">
              <a:avLst/>
            </a:prstGeom>
            <a:solidFill>
              <a:schemeClr val="tx2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07A9DAD-ECE3-4F5B-BB2B-4DEB2E0F537D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4CF3693-C072-41AD-A802-F07A963AB475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548093C-F51F-4EA3-87B9-56AC599A418B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B1DEDAD-58E7-4AA0-AE3C-96369DDEDA9D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5C70D06-1887-424F-BE4D-784DEB83CF83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64008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异常事件闭环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安全设计与异常闭环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端口与服务分工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0150"/>
                <a:gridCol w="1200150"/>
                <a:gridCol w="1200150"/>
                <a:gridCol w="120015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服务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默认端口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部署位置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配置入口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FastGPT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3300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Windows / WSL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FASTGPT_PORT / API_BASE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门锁工具网关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8787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Jetson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LOCK_TOOL_GATEWAY_PORT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异常事件服务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8790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Jetson 本机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LOCK_EVENT_SERVICE_PORT / URL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安全设计与异常闭环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进程治理与一键运维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run_smart_lock.sh 支持 start / status / restart / stop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88720" y="170992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统一监督 GUI、Pipecat Agent、工具网关与异常事件服务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8424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子进程异常退出后自动拉起，保证长时间运行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225856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停止时清理 PID、临时凭证与 .tmp 文件，并释放端口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53288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启动时清理旧凭证与临时文件，保证幂等启动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8720" y="28072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Windows 侧由 run_jetson_full_stack.ps1 管理 SSH 双向隧道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54" y="-11906"/>
            <a:ext cx="9242584" cy="51668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21618" y="881119"/>
            <a:ext cx="1175657" cy="33816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21500" dirty="0">
                <a:solidFill>
                  <a:schemeClr val="bg2"/>
                </a:solidFill>
                <a:cs typeface="+mn-ea"/>
                <a:sym typeface="+mn-lt"/>
              </a:rPr>
              <a:t>5</a:t>
            </a:r>
            <a:endParaRPr lang="zh-CN" altLang="en-US" sz="215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5783" y="1276675"/>
            <a:ext cx="1175657" cy="282769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79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5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183005" y="1957864"/>
            <a:ext cx="66675" cy="122824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0267" y="1912397"/>
            <a:ext cx="1723583" cy="4838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zh-CN" altLang="en-US" sz="2700" dirty="0">
                <a:cs typeface="+mn-ea"/>
                <a:sym typeface="+mn-lt"/>
              </a:rPr>
              <a:t>05  验证结果与工程问题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90032" y="2541531"/>
            <a:ext cx="2566146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测试清单 · 资源实测 · 典型问题与解法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65346" y="863918"/>
            <a:ext cx="3549491" cy="3532346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367 -0.00046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00" y="-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-0.01432 0.00138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00" y="6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22" grpId="0" bldLvl="0" animBg="1"/>
      <p:bldP spid="25" grpId="0"/>
      <p:bldP spid="27" grpId="0"/>
    </p:bldLst>
  </p:timing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验证结果与工程问题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测试与验证结果清单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30449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</a:tblGrid>
              <a:tr h="276813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测试项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结果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原硬件正向认证流程（红外→人脸→活体→声纹）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开发板已跑通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FastGPT Web 可达性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localhost:3300 返回 200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Agent 有效 / 无效凭证工具调用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两个真实场景均通过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工具网关生命周期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start / stop / restart / crash / recovery 通过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异常事件服务生命周期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start / stop / restart / crash / recovery 通过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端口与父进程环境清理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通过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Pipecat 单元链路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通过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Windows / WSL 文件语音链路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通过</a:t>
                      </a:r>
                    </a:p>
                  </a:txBody>
                  <a:tcPr marL="36576" marR="36576"/>
                </a:tc>
              </a:tr>
              <a:tr h="276813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开发板真麦克风与音箱基础对话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历史版本已通过</a:t>
                      </a:r>
                    </a:p>
                  </a:txBody>
                  <a:tcPr marL="36576" marR="36576"/>
                </a:tc>
              </a:tr>
              <a:tr h="276822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最新异常触发与 Jetson aplay 输出改动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待板端重新同步复测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742950" y="805815"/>
            <a:ext cx="3531870" cy="353187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79144" y="1517904"/>
            <a:ext cx="3939064" cy="91440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整机运行约 5.5 GiB，剩余约 1.6 GiB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主要占用：SenseVoice 进程与 GUI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WSL 侧 FunASR CPU 峰值约 3.62 GB</a:t>
            </a:r>
          </a:p>
          <a:p>
            <a:pPr algn="l">
              <a:spcAft>
                <a:spcPts val="200"/>
              </a:spcAft>
            </a:pPr>
            <a:r>
              <a:rPr lang="zh-CN" altLang="en-US" sz="900" dirty="0">
                <a:solidFill>
                  <a:srgbClr val="44546A"/>
                </a:solidFill>
                <a:cs typeface="+mn-ea"/>
                <a:sym typeface="+mn-lt"/>
              </a:rPr>
              <a:t>人脸 / 活体 / 声纹 / ASR / 网关可同时工作</a:t>
            </a:r>
          </a:p>
        </p:txBody>
      </p:sp>
      <p:sp>
        <p:nvSpPr>
          <p:cNvPr id="25" name="文本框 24"/>
          <p:cNvSpPr txBox="1"/>
          <p:nvPr/>
        </p:nvSpPr>
        <p:spPr>
          <a:xfrm>
            <a:off x="4579144" y="1213430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6A9AC4"/>
                </a:solidFill>
                <a:cs typeface="+mn-ea"/>
                <a:sym typeface="+mn-lt"/>
              </a:rPr>
              <a:t>资源实测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4579144" y="2999232"/>
            <a:ext cx="3939064" cy="91440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fontAlgn="auto">
              <a:lnSpc>
                <a:spcPct val="200000"/>
              </a:lnSpc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实测板为 Orin NX，约 7.4 GiB 内存</a:t>
            </a:r>
            <a:endParaRPr lang="zh-CN" altLang="en-US" sz="800" dirty="0">
              <a:solidFill>
                <a:srgbClr val="0A1428"/>
              </a:solidFill>
              <a:cs typeface="+mn-ea"/>
              <a:sym typeface="+mn-lt"/>
            </a:endParaRP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Jetson Nano 4GB 是目标兼容平台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Nano 4GB 资源余量未知，需重新基准</a:t>
            </a:r>
          </a:p>
          <a:p>
            <a:pPr algn="l">
              <a:spcAft>
                <a:spcPts val="200"/>
              </a:spcAft>
            </a:pPr>
            <a:r>
              <a:rPr lang="zh-CN" altLang="en-US" sz="900">
                <a:solidFill>
                  <a:srgbClr val="44546A"/>
                </a:solidFill>
                <a:cs typeface="+mn-ea"/>
                <a:sym typeface="+mn-lt"/>
              </a:rPr>
              <a:t>不可直接宣称已完成 Nano 部署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579144" y="2751773"/>
            <a:ext cx="2757964" cy="2908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zh-CN" altLang="en-US" sz="1200" b="1" dirty="0">
                <a:solidFill>
                  <a:srgbClr val="6A9AC4"/>
                </a:solidFill>
                <a:cs typeface="+mn-ea"/>
                <a:sym typeface="+mn-lt"/>
              </a:rPr>
              <a:t>平台口径说明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AF64CD7-D890-4631-A305-598B85956535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F52E97E-E474-4CC7-B64A-370347CAC0A1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49D794F-F135-4630-81E7-9A0CACA4C442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ECBCE04E-EE70-4F75-A59D-270B05556AF6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93584DA7-4CC0-4F5A-9338-93FF3914FAC6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77724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资源实测与平台口径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4" presetClass="entr" presetSubtype="5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24" grpId="0"/>
      <p:bldP spid="24" grpId="1"/>
      <p:bldP spid="25" grpId="0"/>
      <p:bldP spid="4" grpId="0"/>
      <p:bldP spid="4" grpId="1"/>
      <p:bldP spid="5" grpId="0"/>
    </p:bldLst>
  </p:timing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验证结果与工程问题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关键工程问题与解决方案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0300"/>
                <a:gridCol w="240030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解决方案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红外持续为 true 导致重复播报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上升沿触发 + 状态保持 + 离开重置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模型首次使用延迟高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GUI 与 FunASR 启动时预加载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GUI 声纹与 Agent 同时抢麦克风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Agent 等待硬件凭证，认证结束后再开麦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Agent 可能绕过认证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一次性凭证 + 本地网关，不暴露裸开锁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FastGPT 无法直接访问 Jetson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SSH 本地 / 反向隧道连接 3300 与 8787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服务异常退出污染端口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PID 监督、信号清理、强制中断恢复测试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异常情况没有记录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独立事件服务 + 单文件原子写入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Jetson 音频路径不统一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输入统一 PortAudio，输出统一 ALSA aplay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54" y="-11906"/>
            <a:ext cx="9242584" cy="51668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21618" y="881119"/>
            <a:ext cx="1175657" cy="33816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21500" dirty="0">
                <a:solidFill>
                  <a:schemeClr val="bg2"/>
                </a:solidFill>
                <a:cs typeface="+mn-ea"/>
                <a:sym typeface="+mn-lt"/>
              </a:rPr>
              <a:t>6</a:t>
            </a:r>
            <a:endParaRPr lang="zh-CN" altLang="en-US" sz="215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5783" y="1276675"/>
            <a:ext cx="1175657" cy="282769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79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6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183005" y="1957864"/>
            <a:ext cx="66675" cy="122824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0267" y="1912397"/>
            <a:ext cx="1723583" cy="4838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zh-CN" altLang="en-US" sz="2700" dirty="0">
                <a:cs typeface="+mn-ea"/>
                <a:sym typeface="+mn-lt"/>
              </a:rPr>
              <a:t>06  商业规划与产品路标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90032" y="2541531"/>
            <a:ext cx="2566146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成本定价 · 商业模式 · 版本与流程路标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65346" y="863918"/>
            <a:ext cx="3549491" cy="3532346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367 -0.00046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00" y="-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-0.01432 0.00138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00" y="6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22" grpId="0" bldLvl="0" animBg="1"/>
      <p:bldP spid="25" grpId="0"/>
      <p:bldP spid="27" grpId="0"/>
    </p:bldLst>
  </p:timing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商业规划与产品路标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成本、定价与营收测算</a:t>
            </a:r>
          </a:p>
        </p:txBody>
      </p:sp>
      <p:graphicFrame>
        <p:nvGraphicFramePr>
          <p:cNvPr id="132" name="Table 131"/>
          <p:cNvGraphicFramePr>
            <a:graphicFrameLocks noGrp="1"/>
          </p:cNvGraphicFramePr>
          <p:nvPr/>
        </p:nvGraphicFramePr>
        <p:xfrm>
          <a:off x="1188720" y="1435607"/>
          <a:ext cx="4800600" cy="2487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</a:tblGrid>
              <a:tr h="310896"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Demo 阶段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量产测算（教学示例）</a:t>
                      </a:r>
                    </a:p>
                  </a:txBody>
                  <a:tcPr>
                    <a:solidFill>
                      <a:srgbClr val="6A9AC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硬件 / 耗材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额外耗材 0-2000 元（不含已有设备）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整机边际成本 1000-1600 元/套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人力与周期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5-8 人，3-4 个月，预留 1-2 周缓冲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毛利率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30%-45%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建议定价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基础版 2599 / 标准版 2999 / 高配版 3499 元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首年销量与营收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1-3 万套，营收 0.3-0.9 亿元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研发与营销投入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可选用免费云额度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2000-5000 万元</a:t>
                      </a:r>
                    </a:p>
                  </a:txBody>
                  <a:tcPr marL="36576" marR="36576"/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投资回收期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44546A"/>
                          </a:solidFill>
                          <a:latin typeface="DengXian"/>
                        </a:defRPr>
                      </a:pPr>
                      <a:r>
                        <a:t>2-4 年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133" name="TextBox 132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文本框 86"/>
          <p:cNvSpPr txBox="1"/>
          <p:nvPr/>
        </p:nvSpPr>
        <p:spPr>
          <a:xfrm>
            <a:off x="44404" y="954127"/>
            <a:ext cx="9099596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  <a:r>
              <a:rPr lang="en-US" altLang="zh-CN" sz="1400" dirty="0" b="1">
                <a:solidFill>
                  <a:srgbClr val="6A9AC4"/>
                </a:solidFill>
                <a:cs typeface="+mn-ea"/>
                <a:sym typeface="+mn-lt"/>
              </a:rPr>
              <a:t>商业模式与渠道策略</a:t>
            </a:r>
            <a:endParaRPr lang="zh-CN" altLang="en-US" sz="1200" dirty="0">
              <a:solidFill>
                <a:schemeClr val="bg2">
                  <a:lumMod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9" name="矩形 88"/>
          <p:cNvSpPr/>
          <p:nvPr/>
        </p:nvSpPr>
        <p:spPr>
          <a:xfrm>
            <a:off x="1154574" y="1148694"/>
            <a:ext cx="6879257" cy="253916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ctr"/>
          </a:p>
        </p:txBody>
      </p:sp>
      <p:sp>
        <p:nvSpPr>
          <p:cNvPr id="107" name="矩形 106"/>
          <p:cNvSpPr/>
          <p:nvPr/>
        </p:nvSpPr>
        <p:spPr>
          <a:xfrm>
            <a:off x="4165881" y="1773667"/>
            <a:ext cx="856645" cy="284693"/>
          </a:xfrm>
          <a:prstGeom prst="rect">
            <a:avLst/>
          </a:prstGeom>
        </p:spPr>
        <p:txBody>
          <a:bodyPr wrap="none" lIns="68580" tIns="34290" rIns="68580" bIns="34290">
            <a:spAutoFit/>
          </a:bodyPr>
          <a:lstStyle/>
          <a:p>
            <a:pPr algn="ctr"/>
          </a:p>
        </p:txBody>
      </p:sp>
      <p:grpSp>
        <p:nvGrpSpPr>
          <p:cNvPr id="108" name="组合 107"/>
          <p:cNvGrpSpPr/>
          <p:nvPr/>
        </p:nvGrpSpPr>
        <p:grpSpPr>
          <a:xfrm>
            <a:off x="4451168" y="2089923"/>
            <a:ext cx="286068" cy="82626"/>
            <a:chOff x="5905288" y="3385219"/>
            <a:chExt cx="381424" cy="110168"/>
          </a:xfrm>
          <a:solidFill>
            <a:schemeClr val="accent1"/>
          </a:solidFill>
        </p:grpSpPr>
        <p:sp>
          <p:nvSpPr>
            <p:cNvPr id="109" name="椭圆 108"/>
            <p:cNvSpPr/>
            <p:nvPr/>
          </p:nvSpPr>
          <p:spPr>
            <a:xfrm>
              <a:off x="5905288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椭圆 109"/>
            <p:cNvSpPr/>
            <p:nvPr/>
          </p:nvSpPr>
          <p:spPr>
            <a:xfrm>
              <a:off x="6040916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椭圆 110"/>
            <p:cNvSpPr/>
            <p:nvPr/>
          </p:nvSpPr>
          <p:spPr>
            <a:xfrm>
              <a:off x="6176544" y="3385219"/>
              <a:ext cx="110168" cy="11016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12" name="组合 111"/>
          <p:cNvGrpSpPr/>
          <p:nvPr/>
        </p:nvGrpSpPr>
        <p:grpSpPr>
          <a:xfrm>
            <a:off x="786445" y="2437330"/>
            <a:ext cx="1751468" cy="1735373"/>
            <a:chOff x="772501" y="3721210"/>
            <a:chExt cx="2335290" cy="2313831"/>
          </a:xfrm>
        </p:grpSpPr>
        <p:sp>
          <p:nvSpPr>
            <p:cNvPr id="113" name="矩形 112"/>
            <p:cNvSpPr/>
            <p:nvPr/>
          </p:nvSpPr>
          <p:spPr>
            <a:xfrm>
              <a:off x="772501" y="3721210"/>
              <a:ext cx="2335290" cy="1363554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14" name="矩形 113"/>
            <p:cNvSpPr/>
            <p:nvPr/>
          </p:nvSpPr>
          <p:spPr>
            <a:xfrm>
              <a:off x="772501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5" name="Freeform 132"/>
            <p:cNvSpPr>
              <a:spLocks noEditPoints="1"/>
            </p:cNvSpPr>
            <p:nvPr/>
          </p:nvSpPr>
          <p:spPr bwMode="auto">
            <a:xfrm>
              <a:off x="1679736" y="4219279"/>
              <a:ext cx="441310" cy="400036"/>
            </a:xfrm>
            <a:custGeom>
              <a:avLst/>
              <a:gdLst>
                <a:gd name="T0" fmla="*/ 4 w 66"/>
                <a:gd name="T1" fmla="*/ 17 h 60"/>
                <a:gd name="T2" fmla="*/ 28 w 66"/>
                <a:gd name="T3" fmla="*/ 15 h 60"/>
                <a:gd name="T4" fmla="*/ 32 w 66"/>
                <a:gd name="T5" fmla="*/ 3 h 60"/>
                <a:gd name="T6" fmla="*/ 63 w 66"/>
                <a:gd name="T7" fmla="*/ 3 h 60"/>
                <a:gd name="T8" fmla="*/ 51 w 66"/>
                <a:gd name="T9" fmla="*/ 60 h 60"/>
                <a:gd name="T10" fmla="*/ 38 w 66"/>
                <a:gd name="T11" fmla="*/ 8 h 60"/>
                <a:gd name="T12" fmla="*/ 28 w 66"/>
                <a:gd name="T13" fmla="*/ 60 h 60"/>
                <a:gd name="T14" fmla="*/ 20 w 66"/>
                <a:gd name="T15" fmla="*/ 20 h 60"/>
                <a:gd name="T16" fmla="*/ 6 w 66"/>
                <a:gd name="T17" fmla="*/ 60 h 60"/>
                <a:gd name="T18" fmla="*/ 44 w 66"/>
                <a:gd name="T19" fmla="*/ 20 h 60"/>
                <a:gd name="T20" fmla="*/ 45 w 66"/>
                <a:gd name="T21" fmla="*/ 16 h 60"/>
                <a:gd name="T22" fmla="*/ 45 w 66"/>
                <a:gd name="T23" fmla="*/ 13 h 60"/>
                <a:gd name="T24" fmla="*/ 44 w 66"/>
                <a:gd name="T25" fmla="*/ 9 h 60"/>
                <a:gd name="T26" fmla="*/ 46 w 66"/>
                <a:gd name="T27" fmla="*/ 27 h 60"/>
                <a:gd name="T28" fmla="*/ 44 w 66"/>
                <a:gd name="T29" fmla="*/ 30 h 60"/>
                <a:gd name="T30" fmla="*/ 46 w 66"/>
                <a:gd name="T31" fmla="*/ 30 h 60"/>
                <a:gd name="T32" fmla="*/ 44 w 66"/>
                <a:gd name="T33" fmla="*/ 41 h 60"/>
                <a:gd name="T34" fmla="*/ 45 w 66"/>
                <a:gd name="T35" fmla="*/ 37 h 60"/>
                <a:gd name="T36" fmla="*/ 41 w 66"/>
                <a:gd name="T37" fmla="*/ 21 h 60"/>
                <a:gd name="T38" fmla="*/ 39 w 66"/>
                <a:gd name="T39" fmla="*/ 17 h 60"/>
                <a:gd name="T40" fmla="*/ 42 w 66"/>
                <a:gd name="T41" fmla="*/ 13 h 60"/>
                <a:gd name="T42" fmla="*/ 39 w 66"/>
                <a:gd name="T43" fmla="*/ 24 h 60"/>
                <a:gd name="T44" fmla="*/ 42 w 66"/>
                <a:gd name="T45" fmla="*/ 23 h 60"/>
                <a:gd name="T46" fmla="*/ 39 w 66"/>
                <a:gd name="T47" fmla="*/ 35 h 60"/>
                <a:gd name="T48" fmla="*/ 41 w 66"/>
                <a:gd name="T49" fmla="*/ 31 h 60"/>
                <a:gd name="T50" fmla="*/ 41 w 66"/>
                <a:gd name="T51" fmla="*/ 41 h 60"/>
                <a:gd name="T52" fmla="*/ 39 w 66"/>
                <a:gd name="T53" fmla="*/ 38 h 60"/>
                <a:gd name="T54" fmla="*/ 46 w 66"/>
                <a:gd name="T55" fmla="*/ 48 h 60"/>
                <a:gd name="T56" fmla="*/ 39 w 66"/>
                <a:gd name="T57" fmla="*/ 45 h 60"/>
                <a:gd name="T58" fmla="*/ 42 w 66"/>
                <a:gd name="T59" fmla="*/ 44 h 60"/>
                <a:gd name="T60" fmla="*/ 11 w 66"/>
                <a:gd name="T61" fmla="*/ 34 h 60"/>
                <a:gd name="T62" fmla="*/ 12 w 66"/>
                <a:gd name="T63" fmla="*/ 30 h 60"/>
                <a:gd name="T64" fmla="*/ 17 w 66"/>
                <a:gd name="T65" fmla="*/ 33 h 60"/>
                <a:gd name="T66" fmla="*/ 15 w 66"/>
                <a:gd name="T67" fmla="*/ 30 h 60"/>
                <a:gd name="T68" fmla="*/ 18 w 66"/>
                <a:gd name="T69" fmla="*/ 26 h 60"/>
                <a:gd name="T70" fmla="*/ 15 w 66"/>
                <a:gd name="T71" fmla="*/ 37 h 60"/>
                <a:gd name="T72" fmla="*/ 18 w 66"/>
                <a:gd name="T73" fmla="*/ 36 h 60"/>
                <a:gd name="T74" fmla="*/ 15 w 66"/>
                <a:gd name="T75" fmla="*/ 48 h 60"/>
                <a:gd name="T76" fmla="*/ 17 w 66"/>
                <a:gd name="T77" fmla="*/ 44 h 60"/>
                <a:gd name="T78" fmla="*/ 17 w 66"/>
                <a:gd name="T79" fmla="*/ 55 h 60"/>
                <a:gd name="T80" fmla="*/ 15 w 66"/>
                <a:gd name="T81" fmla="*/ 51 h 60"/>
                <a:gd name="T82" fmla="*/ 13 w 66"/>
                <a:gd name="T83" fmla="*/ 27 h 60"/>
                <a:gd name="T84" fmla="*/ 11 w 66"/>
                <a:gd name="T85" fmla="*/ 37 h 60"/>
                <a:gd name="T86" fmla="*/ 13 w 66"/>
                <a:gd name="T87" fmla="*/ 37 h 60"/>
                <a:gd name="T88" fmla="*/ 11 w 66"/>
                <a:gd name="T89" fmla="*/ 48 h 60"/>
                <a:gd name="T90" fmla="*/ 12 w 66"/>
                <a:gd name="T91" fmla="*/ 44 h 60"/>
                <a:gd name="T92" fmla="*/ 12 w 66"/>
                <a:gd name="T93" fmla="*/ 55 h 60"/>
                <a:gd name="T94" fmla="*/ 11 w 66"/>
                <a:gd name="T95" fmla="*/ 5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6" h="60">
                  <a:moveTo>
                    <a:pt x="0" y="55"/>
                  </a:moveTo>
                  <a:cubicBezTo>
                    <a:pt x="4" y="55"/>
                    <a:pt x="4" y="55"/>
                    <a:pt x="4" y="55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6" y="16"/>
                    <a:pt x="6" y="16"/>
                    <a:pt x="6" y="16"/>
                  </a:cubicBezTo>
                  <a:cubicBezTo>
                    <a:pt x="22" y="14"/>
                    <a:pt x="22" y="14"/>
                    <a:pt x="22" y="14"/>
                  </a:cubicBezTo>
                  <a:cubicBezTo>
                    <a:pt x="25" y="14"/>
                    <a:pt x="25" y="14"/>
                    <a:pt x="25" y="14"/>
                  </a:cubicBezTo>
                  <a:cubicBezTo>
                    <a:pt x="28" y="15"/>
                    <a:pt x="28" y="15"/>
                    <a:pt x="28" y="15"/>
                  </a:cubicBezTo>
                  <a:cubicBezTo>
                    <a:pt x="31" y="37"/>
                    <a:pt x="31" y="37"/>
                    <a:pt x="31" y="37"/>
                  </a:cubicBezTo>
                  <a:cubicBezTo>
                    <a:pt x="32" y="38"/>
                    <a:pt x="32" y="38"/>
                    <a:pt x="32" y="38"/>
                  </a:cubicBezTo>
                  <a:cubicBezTo>
                    <a:pt x="32" y="5"/>
                    <a:pt x="32" y="5"/>
                    <a:pt x="32" y="5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51" y="0"/>
                    <a:pt x="51" y="0"/>
                    <a:pt x="51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63" y="3"/>
                    <a:pt x="63" y="3"/>
                    <a:pt x="63" y="3"/>
                  </a:cubicBezTo>
                  <a:cubicBezTo>
                    <a:pt x="63" y="55"/>
                    <a:pt x="63" y="55"/>
                    <a:pt x="63" y="55"/>
                  </a:cubicBezTo>
                  <a:cubicBezTo>
                    <a:pt x="66" y="55"/>
                    <a:pt x="66" y="55"/>
                    <a:pt x="66" y="55"/>
                  </a:cubicBezTo>
                  <a:cubicBezTo>
                    <a:pt x="66" y="60"/>
                    <a:pt x="66" y="60"/>
                    <a:pt x="66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49" y="60"/>
                    <a:pt x="49" y="60"/>
                    <a:pt x="49" y="60"/>
                  </a:cubicBezTo>
                  <a:cubicBezTo>
                    <a:pt x="49" y="57"/>
                    <a:pt x="49" y="57"/>
                    <a:pt x="49" y="57"/>
                  </a:cubicBezTo>
                  <a:cubicBezTo>
                    <a:pt x="49" y="6"/>
                    <a:pt x="49" y="6"/>
                    <a:pt x="49" y="6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57"/>
                    <a:pt x="38" y="57"/>
                    <a:pt x="38" y="57"/>
                  </a:cubicBezTo>
                  <a:cubicBezTo>
                    <a:pt x="38" y="60"/>
                    <a:pt x="38" y="60"/>
                    <a:pt x="38" y="60"/>
                  </a:cubicBezTo>
                  <a:cubicBezTo>
                    <a:pt x="37" y="60"/>
                    <a:pt x="37" y="60"/>
                    <a:pt x="37" y="60"/>
                  </a:cubicBezTo>
                  <a:cubicBezTo>
                    <a:pt x="28" y="60"/>
                    <a:pt x="28" y="60"/>
                    <a:pt x="28" y="60"/>
                  </a:cubicBezTo>
                  <a:cubicBezTo>
                    <a:pt x="23" y="60"/>
                    <a:pt x="23" y="60"/>
                    <a:pt x="23" y="60"/>
                  </a:cubicBezTo>
                  <a:cubicBezTo>
                    <a:pt x="20" y="60"/>
                    <a:pt x="20" y="60"/>
                    <a:pt x="20" y="60"/>
                  </a:cubicBezTo>
                  <a:cubicBezTo>
                    <a:pt x="20" y="57"/>
                    <a:pt x="20" y="57"/>
                    <a:pt x="20" y="57"/>
                  </a:cubicBezTo>
                  <a:cubicBezTo>
                    <a:pt x="20" y="20"/>
                    <a:pt x="20" y="20"/>
                    <a:pt x="20" y="20"/>
                  </a:cubicBezTo>
                  <a:cubicBezTo>
                    <a:pt x="9" y="21"/>
                    <a:pt x="9" y="21"/>
                    <a:pt x="9" y="21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9" y="60"/>
                    <a:pt x="9" y="60"/>
                    <a:pt x="9" y="60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55"/>
                    <a:pt x="0" y="55"/>
                    <a:pt x="0" y="55"/>
                  </a:cubicBezTo>
                  <a:close/>
                  <a:moveTo>
                    <a:pt x="44" y="16"/>
                  </a:moveTo>
                  <a:cubicBezTo>
                    <a:pt x="44" y="18"/>
                    <a:pt x="44" y="19"/>
                    <a:pt x="44" y="20"/>
                  </a:cubicBezTo>
                  <a:cubicBezTo>
                    <a:pt x="44" y="20"/>
                    <a:pt x="45" y="20"/>
                    <a:pt x="45" y="20"/>
                  </a:cubicBezTo>
                  <a:cubicBezTo>
                    <a:pt x="46" y="20"/>
                    <a:pt x="46" y="20"/>
                    <a:pt x="46" y="20"/>
                  </a:cubicBezTo>
                  <a:cubicBezTo>
                    <a:pt x="46" y="19"/>
                    <a:pt x="46" y="17"/>
                    <a:pt x="46" y="16"/>
                  </a:cubicBezTo>
                  <a:cubicBezTo>
                    <a:pt x="46" y="16"/>
                    <a:pt x="46" y="16"/>
                    <a:pt x="45" y="16"/>
                  </a:cubicBezTo>
                  <a:cubicBezTo>
                    <a:pt x="45" y="16"/>
                    <a:pt x="44" y="16"/>
                    <a:pt x="44" y="16"/>
                  </a:cubicBezTo>
                  <a:close/>
                  <a:moveTo>
                    <a:pt x="44" y="9"/>
                  </a:moveTo>
                  <a:cubicBezTo>
                    <a:pt x="44" y="11"/>
                    <a:pt x="44" y="12"/>
                    <a:pt x="44" y="13"/>
                  </a:cubicBezTo>
                  <a:cubicBezTo>
                    <a:pt x="44" y="13"/>
                    <a:pt x="45" y="13"/>
                    <a:pt x="45" y="13"/>
                  </a:cubicBezTo>
                  <a:cubicBezTo>
                    <a:pt x="46" y="13"/>
                    <a:pt x="46" y="13"/>
                    <a:pt x="46" y="13"/>
                  </a:cubicBezTo>
                  <a:cubicBezTo>
                    <a:pt x="46" y="12"/>
                    <a:pt x="46" y="10"/>
                    <a:pt x="46" y="9"/>
                  </a:cubicBezTo>
                  <a:cubicBezTo>
                    <a:pt x="46" y="9"/>
                    <a:pt x="46" y="9"/>
                    <a:pt x="45" y="9"/>
                  </a:cubicBezTo>
                  <a:cubicBezTo>
                    <a:pt x="45" y="9"/>
                    <a:pt x="44" y="9"/>
                    <a:pt x="44" y="9"/>
                  </a:cubicBezTo>
                  <a:close/>
                  <a:moveTo>
                    <a:pt x="44" y="23"/>
                  </a:moveTo>
                  <a:cubicBezTo>
                    <a:pt x="44" y="25"/>
                    <a:pt x="44" y="26"/>
                    <a:pt x="44" y="27"/>
                  </a:cubicBezTo>
                  <a:cubicBezTo>
                    <a:pt x="44" y="27"/>
                    <a:pt x="45" y="27"/>
                    <a:pt x="45" y="27"/>
                  </a:cubicBezTo>
                  <a:cubicBezTo>
                    <a:pt x="46" y="27"/>
                    <a:pt x="46" y="27"/>
                    <a:pt x="46" y="27"/>
                  </a:cubicBezTo>
                  <a:cubicBezTo>
                    <a:pt x="46" y="26"/>
                    <a:pt x="46" y="24"/>
                    <a:pt x="46" y="23"/>
                  </a:cubicBezTo>
                  <a:cubicBezTo>
                    <a:pt x="46" y="23"/>
                    <a:pt x="46" y="23"/>
                    <a:pt x="45" y="23"/>
                  </a:cubicBezTo>
                  <a:cubicBezTo>
                    <a:pt x="45" y="23"/>
                    <a:pt x="44" y="23"/>
                    <a:pt x="44" y="23"/>
                  </a:cubicBezTo>
                  <a:close/>
                  <a:moveTo>
                    <a:pt x="44" y="30"/>
                  </a:moveTo>
                  <a:cubicBezTo>
                    <a:pt x="44" y="32"/>
                    <a:pt x="44" y="33"/>
                    <a:pt x="44" y="34"/>
                  </a:cubicBezTo>
                  <a:cubicBezTo>
                    <a:pt x="44" y="34"/>
                    <a:pt x="45" y="34"/>
                    <a:pt x="45" y="34"/>
                  </a:cubicBezTo>
                  <a:cubicBezTo>
                    <a:pt x="46" y="34"/>
                    <a:pt x="46" y="34"/>
                    <a:pt x="46" y="34"/>
                  </a:cubicBezTo>
                  <a:cubicBezTo>
                    <a:pt x="46" y="33"/>
                    <a:pt x="46" y="32"/>
                    <a:pt x="46" y="30"/>
                  </a:cubicBezTo>
                  <a:cubicBezTo>
                    <a:pt x="46" y="30"/>
                    <a:pt x="46" y="30"/>
                    <a:pt x="45" y="30"/>
                  </a:cubicBezTo>
                  <a:cubicBezTo>
                    <a:pt x="45" y="30"/>
                    <a:pt x="44" y="30"/>
                    <a:pt x="44" y="30"/>
                  </a:cubicBezTo>
                  <a:close/>
                  <a:moveTo>
                    <a:pt x="44" y="37"/>
                  </a:moveTo>
                  <a:cubicBezTo>
                    <a:pt x="44" y="39"/>
                    <a:pt x="44" y="40"/>
                    <a:pt x="44" y="41"/>
                  </a:cubicBezTo>
                  <a:cubicBezTo>
                    <a:pt x="44" y="41"/>
                    <a:pt x="45" y="41"/>
                    <a:pt x="45" y="41"/>
                  </a:cubicBezTo>
                  <a:cubicBezTo>
                    <a:pt x="46" y="41"/>
                    <a:pt x="46" y="41"/>
                    <a:pt x="46" y="41"/>
                  </a:cubicBezTo>
                  <a:cubicBezTo>
                    <a:pt x="46" y="40"/>
                    <a:pt x="46" y="39"/>
                    <a:pt x="46" y="37"/>
                  </a:cubicBezTo>
                  <a:cubicBezTo>
                    <a:pt x="46" y="37"/>
                    <a:pt x="46" y="37"/>
                    <a:pt x="45" y="37"/>
                  </a:cubicBezTo>
                  <a:cubicBezTo>
                    <a:pt x="45" y="37"/>
                    <a:pt x="44" y="37"/>
                    <a:pt x="44" y="37"/>
                  </a:cubicBezTo>
                  <a:close/>
                  <a:moveTo>
                    <a:pt x="39" y="17"/>
                  </a:moveTo>
                  <a:cubicBezTo>
                    <a:pt x="39" y="18"/>
                    <a:pt x="39" y="19"/>
                    <a:pt x="39" y="21"/>
                  </a:cubicBezTo>
                  <a:cubicBezTo>
                    <a:pt x="40" y="21"/>
                    <a:pt x="40" y="21"/>
                    <a:pt x="41" y="21"/>
                  </a:cubicBezTo>
                  <a:cubicBezTo>
                    <a:pt x="41" y="21"/>
                    <a:pt x="41" y="21"/>
                    <a:pt x="42" y="20"/>
                  </a:cubicBezTo>
                  <a:cubicBezTo>
                    <a:pt x="42" y="19"/>
                    <a:pt x="42" y="18"/>
                    <a:pt x="42" y="17"/>
                  </a:cubicBezTo>
                  <a:cubicBezTo>
                    <a:pt x="41" y="17"/>
                    <a:pt x="41" y="17"/>
                    <a:pt x="41" y="17"/>
                  </a:cubicBezTo>
                  <a:cubicBezTo>
                    <a:pt x="40" y="17"/>
                    <a:pt x="40" y="17"/>
                    <a:pt x="39" y="17"/>
                  </a:cubicBezTo>
                  <a:close/>
                  <a:moveTo>
                    <a:pt x="39" y="10"/>
                  </a:moveTo>
                  <a:cubicBezTo>
                    <a:pt x="39" y="11"/>
                    <a:pt x="39" y="12"/>
                    <a:pt x="39" y="14"/>
                  </a:cubicBezTo>
                  <a:cubicBezTo>
                    <a:pt x="40" y="14"/>
                    <a:pt x="40" y="14"/>
                    <a:pt x="41" y="14"/>
                  </a:cubicBezTo>
                  <a:cubicBezTo>
                    <a:pt x="41" y="14"/>
                    <a:pt x="41" y="14"/>
                    <a:pt x="42" y="13"/>
                  </a:cubicBezTo>
                  <a:cubicBezTo>
                    <a:pt x="42" y="12"/>
                    <a:pt x="42" y="11"/>
                    <a:pt x="42" y="10"/>
                  </a:cubicBezTo>
                  <a:cubicBezTo>
                    <a:pt x="41" y="10"/>
                    <a:pt x="41" y="10"/>
                    <a:pt x="41" y="10"/>
                  </a:cubicBezTo>
                  <a:cubicBezTo>
                    <a:pt x="40" y="10"/>
                    <a:pt x="40" y="10"/>
                    <a:pt x="39" y="10"/>
                  </a:cubicBezTo>
                  <a:close/>
                  <a:moveTo>
                    <a:pt x="39" y="24"/>
                  </a:moveTo>
                  <a:cubicBezTo>
                    <a:pt x="39" y="25"/>
                    <a:pt x="39" y="26"/>
                    <a:pt x="39" y="28"/>
                  </a:cubicBezTo>
                  <a:cubicBezTo>
                    <a:pt x="40" y="28"/>
                    <a:pt x="40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2" y="26"/>
                    <a:pt x="42" y="25"/>
                    <a:pt x="42" y="23"/>
                  </a:cubicBezTo>
                  <a:cubicBezTo>
                    <a:pt x="41" y="24"/>
                    <a:pt x="41" y="24"/>
                    <a:pt x="41" y="24"/>
                  </a:cubicBezTo>
                  <a:cubicBezTo>
                    <a:pt x="40" y="24"/>
                    <a:pt x="40" y="24"/>
                    <a:pt x="39" y="24"/>
                  </a:cubicBezTo>
                  <a:close/>
                  <a:moveTo>
                    <a:pt x="39" y="31"/>
                  </a:moveTo>
                  <a:cubicBezTo>
                    <a:pt x="39" y="32"/>
                    <a:pt x="39" y="33"/>
                    <a:pt x="39" y="35"/>
                  </a:cubicBezTo>
                  <a:cubicBezTo>
                    <a:pt x="40" y="35"/>
                    <a:pt x="40" y="34"/>
                    <a:pt x="41" y="34"/>
                  </a:cubicBezTo>
                  <a:cubicBezTo>
                    <a:pt x="41" y="34"/>
                    <a:pt x="41" y="34"/>
                    <a:pt x="42" y="34"/>
                  </a:cubicBezTo>
                  <a:cubicBezTo>
                    <a:pt x="42" y="33"/>
                    <a:pt x="42" y="32"/>
                    <a:pt x="42" y="30"/>
                  </a:cubicBezTo>
                  <a:cubicBezTo>
                    <a:pt x="41" y="30"/>
                    <a:pt x="41" y="30"/>
                    <a:pt x="41" y="31"/>
                  </a:cubicBezTo>
                  <a:cubicBezTo>
                    <a:pt x="40" y="31"/>
                    <a:pt x="40" y="31"/>
                    <a:pt x="39" y="31"/>
                  </a:cubicBezTo>
                  <a:close/>
                  <a:moveTo>
                    <a:pt x="39" y="38"/>
                  </a:moveTo>
                  <a:cubicBezTo>
                    <a:pt x="39" y="39"/>
                    <a:pt x="39" y="40"/>
                    <a:pt x="39" y="41"/>
                  </a:cubicBezTo>
                  <a:cubicBezTo>
                    <a:pt x="40" y="41"/>
                    <a:pt x="40" y="41"/>
                    <a:pt x="41" y="41"/>
                  </a:cubicBezTo>
                  <a:cubicBezTo>
                    <a:pt x="41" y="41"/>
                    <a:pt x="41" y="41"/>
                    <a:pt x="42" y="41"/>
                  </a:cubicBezTo>
                  <a:cubicBezTo>
                    <a:pt x="42" y="40"/>
                    <a:pt x="42" y="39"/>
                    <a:pt x="42" y="37"/>
                  </a:cubicBezTo>
                  <a:cubicBezTo>
                    <a:pt x="41" y="37"/>
                    <a:pt x="41" y="37"/>
                    <a:pt x="41" y="37"/>
                  </a:cubicBezTo>
                  <a:cubicBezTo>
                    <a:pt x="40" y="37"/>
                    <a:pt x="40" y="37"/>
                    <a:pt x="39" y="38"/>
                  </a:cubicBezTo>
                  <a:close/>
                  <a:moveTo>
                    <a:pt x="44" y="44"/>
                  </a:moveTo>
                  <a:cubicBezTo>
                    <a:pt x="44" y="46"/>
                    <a:pt x="44" y="47"/>
                    <a:pt x="44" y="48"/>
                  </a:cubicBezTo>
                  <a:cubicBezTo>
                    <a:pt x="44" y="48"/>
                    <a:pt x="45" y="48"/>
                    <a:pt x="45" y="48"/>
                  </a:cubicBezTo>
                  <a:cubicBezTo>
                    <a:pt x="46" y="48"/>
                    <a:pt x="46" y="48"/>
                    <a:pt x="46" y="48"/>
                  </a:cubicBezTo>
                  <a:cubicBezTo>
                    <a:pt x="46" y="47"/>
                    <a:pt x="46" y="46"/>
                    <a:pt x="46" y="44"/>
                  </a:cubicBezTo>
                  <a:cubicBezTo>
                    <a:pt x="46" y="44"/>
                    <a:pt x="46" y="44"/>
                    <a:pt x="45" y="44"/>
                  </a:cubicBezTo>
                  <a:cubicBezTo>
                    <a:pt x="45" y="44"/>
                    <a:pt x="44" y="44"/>
                    <a:pt x="44" y="44"/>
                  </a:cubicBezTo>
                  <a:close/>
                  <a:moveTo>
                    <a:pt x="39" y="45"/>
                  </a:moveTo>
                  <a:cubicBezTo>
                    <a:pt x="39" y="46"/>
                    <a:pt x="39" y="47"/>
                    <a:pt x="39" y="48"/>
                  </a:cubicBezTo>
                  <a:cubicBezTo>
                    <a:pt x="40" y="48"/>
                    <a:pt x="40" y="48"/>
                    <a:pt x="41" y="48"/>
                  </a:cubicBezTo>
                  <a:cubicBezTo>
                    <a:pt x="41" y="48"/>
                    <a:pt x="41" y="48"/>
                    <a:pt x="42" y="48"/>
                  </a:cubicBezTo>
                  <a:cubicBezTo>
                    <a:pt x="42" y="47"/>
                    <a:pt x="42" y="46"/>
                    <a:pt x="42" y="44"/>
                  </a:cubicBezTo>
                  <a:cubicBezTo>
                    <a:pt x="41" y="44"/>
                    <a:pt x="41" y="44"/>
                    <a:pt x="41" y="44"/>
                  </a:cubicBezTo>
                  <a:cubicBezTo>
                    <a:pt x="40" y="44"/>
                    <a:pt x="40" y="44"/>
                    <a:pt x="39" y="45"/>
                  </a:cubicBezTo>
                  <a:close/>
                  <a:moveTo>
                    <a:pt x="11" y="30"/>
                  </a:moveTo>
                  <a:cubicBezTo>
                    <a:pt x="11" y="31"/>
                    <a:pt x="11" y="33"/>
                    <a:pt x="11" y="34"/>
                  </a:cubicBezTo>
                  <a:cubicBezTo>
                    <a:pt x="11" y="34"/>
                    <a:pt x="12" y="34"/>
                    <a:pt x="12" y="34"/>
                  </a:cubicBezTo>
                  <a:cubicBezTo>
                    <a:pt x="12" y="34"/>
                    <a:pt x="13" y="34"/>
                    <a:pt x="13" y="34"/>
                  </a:cubicBezTo>
                  <a:cubicBezTo>
                    <a:pt x="13" y="32"/>
                    <a:pt x="13" y="31"/>
                    <a:pt x="13" y="30"/>
                  </a:cubicBezTo>
                  <a:cubicBezTo>
                    <a:pt x="13" y="30"/>
                    <a:pt x="12" y="30"/>
                    <a:pt x="12" y="30"/>
                  </a:cubicBezTo>
                  <a:cubicBezTo>
                    <a:pt x="12" y="30"/>
                    <a:pt x="11" y="30"/>
                    <a:pt x="11" y="30"/>
                  </a:cubicBezTo>
                  <a:close/>
                  <a:moveTo>
                    <a:pt x="15" y="30"/>
                  </a:moveTo>
                  <a:cubicBezTo>
                    <a:pt x="15" y="31"/>
                    <a:pt x="15" y="32"/>
                    <a:pt x="15" y="34"/>
                  </a:cubicBezTo>
                  <a:cubicBezTo>
                    <a:pt x="16" y="34"/>
                    <a:pt x="16" y="34"/>
                    <a:pt x="17" y="33"/>
                  </a:cubicBezTo>
                  <a:cubicBezTo>
                    <a:pt x="17" y="33"/>
                    <a:pt x="17" y="33"/>
                    <a:pt x="18" y="33"/>
                  </a:cubicBezTo>
                  <a:cubicBezTo>
                    <a:pt x="18" y="32"/>
                    <a:pt x="18" y="31"/>
                    <a:pt x="18" y="29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6" y="30"/>
                    <a:pt x="16" y="30"/>
                    <a:pt x="15" y="30"/>
                  </a:cubicBezTo>
                  <a:close/>
                  <a:moveTo>
                    <a:pt x="15" y="23"/>
                  </a:moveTo>
                  <a:cubicBezTo>
                    <a:pt x="15" y="24"/>
                    <a:pt x="15" y="25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6"/>
                    <a:pt x="18" y="26"/>
                  </a:cubicBezTo>
                  <a:cubicBezTo>
                    <a:pt x="18" y="25"/>
                    <a:pt x="18" y="24"/>
                    <a:pt x="18" y="22"/>
                  </a:cubicBezTo>
                  <a:cubicBezTo>
                    <a:pt x="17" y="22"/>
                    <a:pt x="17" y="22"/>
                    <a:pt x="17" y="22"/>
                  </a:cubicBezTo>
                  <a:cubicBezTo>
                    <a:pt x="16" y="22"/>
                    <a:pt x="16" y="22"/>
                    <a:pt x="15" y="23"/>
                  </a:cubicBezTo>
                  <a:close/>
                  <a:moveTo>
                    <a:pt x="15" y="37"/>
                  </a:moveTo>
                  <a:cubicBezTo>
                    <a:pt x="15" y="38"/>
                    <a:pt x="15" y="39"/>
                    <a:pt x="15" y="41"/>
                  </a:cubicBezTo>
                  <a:cubicBezTo>
                    <a:pt x="16" y="41"/>
                    <a:pt x="16" y="41"/>
                    <a:pt x="17" y="41"/>
                  </a:cubicBezTo>
                  <a:cubicBezTo>
                    <a:pt x="17" y="41"/>
                    <a:pt x="17" y="41"/>
                    <a:pt x="18" y="40"/>
                  </a:cubicBezTo>
                  <a:cubicBezTo>
                    <a:pt x="18" y="39"/>
                    <a:pt x="18" y="38"/>
                    <a:pt x="18" y="36"/>
                  </a:cubicBezTo>
                  <a:cubicBezTo>
                    <a:pt x="17" y="36"/>
                    <a:pt x="17" y="37"/>
                    <a:pt x="17" y="37"/>
                  </a:cubicBezTo>
                  <a:cubicBezTo>
                    <a:pt x="16" y="37"/>
                    <a:pt x="16" y="37"/>
                    <a:pt x="15" y="37"/>
                  </a:cubicBezTo>
                  <a:close/>
                  <a:moveTo>
                    <a:pt x="15" y="44"/>
                  </a:moveTo>
                  <a:cubicBezTo>
                    <a:pt x="15" y="45"/>
                    <a:pt x="15" y="46"/>
                    <a:pt x="15" y="48"/>
                  </a:cubicBezTo>
                  <a:cubicBezTo>
                    <a:pt x="16" y="48"/>
                    <a:pt x="16" y="48"/>
                    <a:pt x="17" y="48"/>
                  </a:cubicBezTo>
                  <a:cubicBezTo>
                    <a:pt x="17" y="48"/>
                    <a:pt x="17" y="48"/>
                    <a:pt x="18" y="48"/>
                  </a:cubicBezTo>
                  <a:cubicBezTo>
                    <a:pt x="18" y="46"/>
                    <a:pt x="18" y="45"/>
                    <a:pt x="18" y="44"/>
                  </a:cubicBezTo>
                  <a:cubicBezTo>
                    <a:pt x="17" y="44"/>
                    <a:pt x="17" y="44"/>
                    <a:pt x="17" y="44"/>
                  </a:cubicBezTo>
                  <a:cubicBezTo>
                    <a:pt x="16" y="44"/>
                    <a:pt x="16" y="44"/>
                    <a:pt x="15" y="44"/>
                  </a:cubicBezTo>
                  <a:close/>
                  <a:moveTo>
                    <a:pt x="15" y="51"/>
                  </a:moveTo>
                  <a:cubicBezTo>
                    <a:pt x="15" y="52"/>
                    <a:pt x="15" y="53"/>
                    <a:pt x="15" y="55"/>
                  </a:cubicBezTo>
                  <a:cubicBezTo>
                    <a:pt x="16" y="55"/>
                    <a:pt x="16" y="55"/>
                    <a:pt x="17" y="55"/>
                  </a:cubicBezTo>
                  <a:cubicBezTo>
                    <a:pt x="17" y="55"/>
                    <a:pt x="17" y="55"/>
                    <a:pt x="18" y="55"/>
                  </a:cubicBezTo>
                  <a:cubicBezTo>
                    <a:pt x="18" y="53"/>
                    <a:pt x="18" y="52"/>
                    <a:pt x="18" y="51"/>
                  </a:cubicBezTo>
                  <a:cubicBezTo>
                    <a:pt x="17" y="51"/>
                    <a:pt x="17" y="51"/>
                    <a:pt x="17" y="51"/>
                  </a:cubicBezTo>
                  <a:cubicBezTo>
                    <a:pt x="16" y="51"/>
                    <a:pt x="16" y="51"/>
                    <a:pt x="15" y="51"/>
                  </a:cubicBezTo>
                  <a:close/>
                  <a:moveTo>
                    <a:pt x="11" y="23"/>
                  </a:moveTo>
                  <a:cubicBezTo>
                    <a:pt x="11" y="24"/>
                    <a:pt x="11" y="26"/>
                    <a:pt x="11" y="27"/>
                  </a:cubicBezTo>
                  <a:cubicBezTo>
                    <a:pt x="11" y="27"/>
                    <a:pt x="12" y="27"/>
                    <a:pt x="12" y="27"/>
                  </a:cubicBezTo>
                  <a:cubicBezTo>
                    <a:pt x="12" y="27"/>
                    <a:pt x="13" y="27"/>
                    <a:pt x="13" y="27"/>
                  </a:cubicBezTo>
                  <a:cubicBezTo>
                    <a:pt x="13" y="25"/>
                    <a:pt x="13" y="24"/>
                    <a:pt x="13" y="23"/>
                  </a:cubicBezTo>
                  <a:cubicBezTo>
                    <a:pt x="13" y="23"/>
                    <a:pt x="12" y="23"/>
                    <a:pt x="12" y="23"/>
                  </a:cubicBezTo>
                  <a:cubicBezTo>
                    <a:pt x="12" y="23"/>
                    <a:pt x="11" y="23"/>
                    <a:pt x="11" y="23"/>
                  </a:cubicBezTo>
                  <a:close/>
                  <a:moveTo>
                    <a:pt x="11" y="37"/>
                  </a:moveTo>
                  <a:cubicBezTo>
                    <a:pt x="11" y="38"/>
                    <a:pt x="11" y="40"/>
                    <a:pt x="11" y="41"/>
                  </a:cubicBezTo>
                  <a:cubicBezTo>
                    <a:pt x="11" y="41"/>
                    <a:pt x="12" y="41"/>
                    <a:pt x="12" y="41"/>
                  </a:cubicBezTo>
                  <a:cubicBezTo>
                    <a:pt x="12" y="41"/>
                    <a:pt x="13" y="41"/>
                    <a:pt x="13" y="41"/>
                  </a:cubicBezTo>
                  <a:cubicBezTo>
                    <a:pt x="13" y="39"/>
                    <a:pt x="13" y="38"/>
                    <a:pt x="13" y="37"/>
                  </a:cubicBezTo>
                  <a:cubicBezTo>
                    <a:pt x="13" y="37"/>
                    <a:pt x="12" y="37"/>
                    <a:pt x="12" y="37"/>
                  </a:cubicBezTo>
                  <a:cubicBezTo>
                    <a:pt x="12" y="37"/>
                    <a:pt x="11" y="37"/>
                    <a:pt x="11" y="37"/>
                  </a:cubicBezTo>
                  <a:close/>
                  <a:moveTo>
                    <a:pt x="11" y="44"/>
                  </a:moveTo>
                  <a:cubicBezTo>
                    <a:pt x="11" y="45"/>
                    <a:pt x="11" y="46"/>
                    <a:pt x="11" y="48"/>
                  </a:cubicBezTo>
                  <a:cubicBezTo>
                    <a:pt x="11" y="48"/>
                    <a:pt x="12" y="48"/>
                    <a:pt x="12" y="48"/>
                  </a:cubicBezTo>
                  <a:cubicBezTo>
                    <a:pt x="12" y="48"/>
                    <a:pt x="13" y="48"/>
                    <a:pt x="13" y="48"/>
                  </a:cubicBezTo>
                  <a:cubicBezTo>
                    <a:pt x="13" y="46"/>
                    <a:pt x="13" y="45"/>
                    <a:pt x="13" y="44"/>
                  </a:cubicBezTo>
                  <a:cubicBezTo>
                    <a:pt x="13" y="44"/>
                    <a:pt x="12" y="44"/>
                    <a:pt x="12" y="44"/>
                  </a:cubicBezTo>
                  <a:cubicBezTo>
                    <a:pt x="12" y="44"/>
                    <a:pt x="11" y="44"/>
                    <a:pt x="11" y="44"/>
                  </a:cubicBezTo>
                  <a:close/>
                  <a:moveTo>
                    <a:pt x="11" y="51"/>
                  </a:moveTo>
                  <a:cubicBezTo>
                    <a:pt x="11" y="52"/>
                    <a:pt x="11" y="53"/>
                    <a:pt x="11" y="55"/>
                  </a:cubicBezTo>
                  <a:cubicBezTo>
                    <a:pt x="11" y="55"/>
                    <a:pt x="12" y="55"/>
                    <a:pt x="12" y="55"/>
                  </a:cubicBezTo>
                  <a:cubicBezTo>
                    <a:pt x="12" y="55"/>
                    <a:pt x="13" y="55"/>
                    <a:pt x="13" y="55"/>
                  </a:cubicBezTo>
                  <a:cubicBezTo>
                    <a:pt x="13" y="53"/>
                    <a:pt x="13" y="52"/>
                    <a:pt x="13" y="51"/>
                  </a:cubicBezTo>
                  <a:cubicBezTo>
                    <a:pt x="13" y="51"/>
                    <a:pt x="12" y="51"/>
                    <a:pt x="12" y="51"/>
                  </a:cubicBezTo>
                  <a:cubicBezTo>
                    <a:pt x="12" y="51"/>
                    <a:pt x="11" y="51"/>
                    <a:pt x="11" y="5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TextBox 14"/>
            <p:cNvSpPr txBox="1"/>
            <p:nvPr/>
          </p:nvSpPr>
          <p:spPr>
            <a:xfrm>
              <a:off x="818652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200"/>
                </a:spcAft>
                <a:defRPr/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硬件销售、B 端集采、增值服务（后续）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</p:txBody>
        </p:sp>
        <p:sp>
          <p:nvSpPr>
            <p:cNvPr id="117" name="TextBox 15"/>
            <p:cNvSpPr txBox="1"/>
            <p:nvPr/>
          </p:nvSpPr>
          <p:spPr>
            <a:xfrm>
              <a:off x="818652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defRPr/>
              </a:pPr>
              <a:r>
                <a:rPr lang="id-ID" sz="1200" b="1" dirty="0">
                  <a:solidFill>
                    <a:srgbClr val="6A9AC4"/>
                  </a:solidFill>
                  <a:cs typeface="+mn-ea"/>
                  <a:sym typeface="+mn-lt"/>
                </a:rPr>
                <a:t>商业模式</a:t>
              </a:r>
            </a:p>
          </p:txBody>
        </p:sp>
      </p:grpSp>
      <p:cxnSp>
        <p:nvCxnSpPr>
          <p:cNvPr id="118" name="直接连接符 117"/>
          <p:cNvCxnSpPr/>
          <p:nvPr/>
        </p:nvCxnSpPr>
        <p:spPr>
          <a:xfrm>
            <a:off x="793669" y="1626848"/>
            <a:ext cx="7601069" cy="0"/>
          </a:xfrm>
          <a:prstGeom prst="line">
            <a:avLst/>
          </a:prstGeom>
          <a:noFill/>
          <a:ln w="95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grpSp>
        <p:nvGrpSpPr>
          <p:cNvPr id="119" name="组合 118"/>
          <p:cNvGrpSpPr/>
          <p:nvPr/>
        </p:nvGrpSpPr>
        <p:grpSpPr>
          <a:xfrm>
            <a:off x="2738720" y="2437330"/>
            <a:ext cx="1751468" cy="1735373"/>
            <a:chOff x="3581323" y="3721210"/>
            <a:chExt cx="2335290" cy="2313831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581323" y="3721210"/>
              <a:ext cx="2335290" cy="2313831"/>
              <a:chOff x="772501" y="3721210"/>
              <a:chExt cx="2335290" cy="2313831"/>
            </a:xfrm>
          </p:grpSpPr>
          <p:sp>
            <p:nvSpPr>
              <p:cNvPr id="122" name="矩形 121"/>
              <p:cNvSpPr/>
              <p:nvPr/>
            </p:nvSpPr>
            <p:spPr>
              <a:xfrm>
                <a:off x="772501" y="3721210"/>
                <a:ext cx="2335290" cy="1363554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772501" y="5077199"/>
                <a:ext cx="2335290" cy="957842"/>
              </a:xfrm>
              <a:prstGeom prst="rect">
                <a:avLst/>
              </a:prstGeom>
              <a:solidFill>
                <a:srgbClr val="E4E4E4">
                  <a:alpha val="45000"/>
                </a:srgb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24" name="TextBox 14"/>
              <p:cNvSpPr txBox="1"/>
              <p:nvPr/>
            </p:nvSpPr>
            <p:spPr>
              <a:xfrm>
                <a:off x="818652" y="5486400"/>
                <a:ext cx="2289139" cy="4514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200"/>
                  </a:spcAft>
                  <a:defRPr/>
                </a:pPr>
                <a:r>
                  <a:rPr lang="id-ID" sz="900" dirty="0">
                    <a:solidFill>
                      <a:srgbClr val="44546A"/>
                    </a:solidFill>
                    <a:cs typeface="+mn-ea"/>
                    <a:sym typeface="+mn-lt"/>
                  </a:rPr>
                  <a:t>端侧不上云，云存储订阅费为零</a:t>
                </a:r>
                <a:endParaRPr lang="en-US" sz="800" b="1" dirty="0">
                  <a:solidFill>
                    <a:prstClr val="black">
                      <a:lumMod val="50000"/>
                      <a:lumOff val="50000"/>
                    </a:prstClr>
                  </a:solidFill>
                  <a:cs typeface="+mn-ea"/>
                  <a:sym typeface="+mn-lt"/>
                </a:endParaRPr>
              </a:p>
              <a:p>
                <a:pPr algn="l">
                  <a:spcAft>
                    <a:spcPts val="200"/>
                  </a:spcAft>
                </a:pPr>
                <a:r>
                  <a:rPr lang="id-ID" sz="900" dirty="0">
                    <a:solidFill>
                      <a:srgbClr val="44546A"/>
                    </a:solidFill>
                    <a:cs typeface="+mn-ea"/>
                    <a:sym typeface="+mn-lt"/>
                  </a:rPr>
                  <a:t>锚定 2500-3500 元价格带，不参与价格战</a:t>
                </a:r>
              </a:p>
            </p:txBody>
          </p:sp>
          <p:sp>
            <p:nvSpPr>
              <p:cNvPr id="125" name="TextBox 15"/>
              <p:cNvSpPr txBox="1"/>
              <p:nvPr/>
            </p:nvSpPr>
            <p:spPr>
              <a:xfrm>
                <a:off x="818652" y="5226130"/>
                <a:ext cx="2032894" cy="507889"/>
              </a:xfrm>
              <a:prstGeom prst="rect">
                <a:avLst/>
              </a:prstGeom>
              <a:noFill/>
            </p:spPr>
            <p:txBody>
              <a:bodyPr wrap="none"/>
              <a:lstStyle/>
              <a:p>
                <a:pPr algn="l">
                  <a:defRPr/>
                </a:pPr>
                <a:r>
                  <a:rPr lang="id-ID" sz="1200" b="1" dirty="0">
                    <a:solidFill>
                      <a:srgbClr val="6A9AC4"/>
                    </a:solidFill>
                    <a:cs typeface="+mn-ea"/>
                    <a:sym typeface="+mn-lt"/>
                  </a:rPr>
                  <a:t>溢价逻辑</a:t>
                </a:r>
              </a:p>
            </p:txBody>
          </p:sp>
        </p:grpSp>
        <p:sp>
          <p:nvSpPr>
            <p:cNvPr id="121" name="Freeform 176"/>
            <p:cNvSpPr>
              <a:spLocks noEditPoints="1"/>
            </p:cNvSpPr>
            <p:nvPr/>
          </p:nvSpPr>
          <p:spPr bwMode="auto">
            <a:xfrm>
              <a:off x="4562860" y="4282887"/>
              <a:ext cx="381517" cy="312964"/>
            </a:xfrm>
            <a:custGeom>
              <a:avLst/>
              <a:gdLst>
                <a:gd name="T0" fmla="*/ 112 w 128"/>
                <a:gd name="T1" fmla="*/ 2 h 105"/>
                <a:gd name="T2" fmla="*/ 107 w 128"/>
                <a:gd name="T3" fmla="*/ 23 h 105"/>
                <a:gd name="T4" fmla="*/ 99 w 128"/>
                <a:gd name="T5" fmla="*/ 2 h 105"/>
                <a:gd name="T6" fmla="*/ 112 w 128"/>
                <a:gd name="T7" fmla="*/ 46 h 105"/>
                <a:gd name="T8" fmla="*/ 99 w 128"/>
                <a:gd name="T9" fmla="*/ 105 h 105"/>
                <a:gd name="T10" fmla="*/ 107 w 128"/>
                <a:gd name="T11" fmla="*/ 42 h 105"/>
                <a:gd name="T12" fmla="*/ 112 w 128"/>
                <a:gd name="T13" fmla="*/ 46 h 105"/>
                <a:gd name="T14" fmla="*/ 128 w 128"/>
                <a:gd name="T15" fmla="*/ 0 h 105"/>
                <a:gd name="T16" fmla="*/ 114 w 128"/>
                <a:gd name="T17" fmla="*/ 105 h 105"/>
                <a:gd name="T18" fmla="*/ 118 w 128"/>
                <a:gd name="T19" fmla="*/ 33 h 105"/>
                <a:gd name="T20" fmla="*/ 114 w 128"/>
                <a:gd name="T21" fmla="*/ 21 h 105"/>
                <a:gd name="T22" fmla="*/ 114 w 128"/>
                <a:gd name="T23" fmla="*/ 0 h 105"/>
                <a:gd name="T24" fmla="*/ 95 w 128"/>
                <a:gd name="T25" fmla="*/ 15 h 105"/>
                <a:gd name="T26" fmla="*/ 93 w 128"/>
                <a:gd name="T27" fmla="*/ 27 h 105"/>
                <a:gd name="T28" fmla="*/ 95 w 128"/>
                <a:gd name="T29" fmla="*/ 38 h 105"/>
                <a:gd name="T30" fmla="*/ 82 w 128"/>
                <a:gd name="T31" fmla="*/ 15 h 105"/>
                <a:gd name="T32" fmla="*/ 95 w 128"/>
                <a:gd name="T33" fmla="*/ 57 h 105"/>
                <a:gd name="T34" fmla="*/ 82 w 128"/>
                <a:gd name="T35" fmla="*/ 105 h 105"/>
                <a:gd name="T36" fmla="*/ 95 w 128"/>
                <a:gd name="T37" fmla="*/ 57 h 105"/>
                <a:gd name="T38" fmla="*/ 65 w 128"/>
                <a:gd name="T39" fmla="*/ 23 h 105"/>
                <a:gd name="T40" fmla="*/ 80 w 128"/>
                <a:gd name="T41" fmla="*/ 54 h 105"/>
                <a:gd name="T42" fmla="*/ 72 w 128"/>
                <a:gd name="T43" fmla="*/ 57 h 105"/>
                <a:gd name="T44" fmla="*/ 65 w 128"/>
                <a:gd name="T45" fmla="*/ 52 h 105"/>
                <a:gd name="T46" fmla="*/ 65 w 128"/>
                <a:gd name="T47" fmla="*/ 23 h 105"/>
                <a:gd name="T48" fmla="*/ 80 w 128"/>
                <a:gd name="T49" fmla="*/ 105 h 105"/>
                <a:gd name="T50" fmla="*/ 65 w 128"/>
                <a:gd name="T51" fmla="*/ 71 h 105"/>
                <a:gd name="T52" fmla="*/ 72 w 128"/>
                <a:gd name="T53" fmla="*/ 80 h 105"/>
                <a:gd name="T54" fmla="*/ 80 w 128"/>
                <a:gd name="T55" fmla="*/ 73 h 105"/>
                <a:gd name="T56" fmla="*/ 49 w 128"/>
                <a:gd name="T57" fmla="*/ 33 h 105"/>
                <a:gd name="T58" fmla="*/ 63 w 128"/>
                <a:gd name="T59" fmla="*/ 54 h 105"/>
                <a:gd name="T60" fmla="*/ 49 w 128"/>
                <a:gd name="T61" fmla="*/ 63 h 105"/>
                <a:gd name="T62" fmla="*/ 49 w 128"/>
                <a:gd name="T63" fmla="*/ 33 h 105"/>
                <a:gd name="T64" fmla="*/ 63 w 128"/>
                <a:gd name="T65" fmla="*/ 105 h 105"/>
                <a:gd name="T66" fmla="*/ 49 w 128"/>
                <a:gd name="T67" fmla="*/ 78 h 105"/>
                <a:gd name="T68" fmla="*/ 63 w 128"/>
                <a:gd name="T69" fmla="*/ 69 h 105"/>
                <a:gd name="T70" fmla="*/ 47 w 128"/>
                <a:gd name="T71" fmla="*/ 42 h 105"/>
                <a:gd name="T72" fmla="*/ 38 w 128"/>
                <a:gd name="T73" fmla="*/ 71 h 105"/>
                <a:gd name="T74" fmla="*/ 34 w 128"/>
                <a:gd name="T75" fmla="*/ 42 h 105"/>
                <a:gd name="T76" fmla="*/ 47 w 128"/>
                <a:gd name="T77" fmla="*/ 80 h 105"/>
                <a:gd name="T78" fmla="*/ 34 w 128"/>
                <a:gd name="T79" fmla="*/ 105 h 105"/>
                <a:gd name="T80" fmla="*/ 36 w 128"/>
                <a:gd name="T81" fmla="*/ 86 h 105"/>
                <a:gd name="T82" fmla="*/ 47 w 128"/>
                <a:gd name="T83" fmla="*/ 80 h 105"/>
                <a:gd name="T84" fmla="*/ 17 w 128"/>
                <a:gd name="T85" fmla="*/ 36 h 105"/>
                <a:gd name="T86" fmla="*/ 32 w 128"/>
                <a:gd name="T87" fmla="*/ 63 h 105"/>
                <a:gd name="T88" fmla="*/ 28 w 128"/>
                <a:gd name="T89" fmla="*/ 61 h 105"/>
                <a:gd name="T90" fmla="*/ 17 w 128"/>
                <a:gd name="T91" fmla="*/ 65 h 105"/>
                <a:gd name="T92" fmla="*/ 17 w 128"/>
                <a:gd name="T93" fmla="*/ 36 h 105"/>
                <a:gd name="T94" fmla="*/ 32 w 128"/>
                <a:gd name="T95" fmla="*/ 105 h 105"/>
                <a:gd name="T96" fmla="*/ 17 w 128"/>
                <a:gd name="T97" fmla="*/ 80 h 105"/>
                <a:gd name="T98" fmla="*/ 32 w 128"/>
                <a:gd name="T99" fmla="*/ 82 h 105"/>
                <a:gd name="T100" fmla="*/ 0 w 128"/>
                <a:gd name="T101" fmla="*/ 48 h 105"/>
                <a:gd name="T102" fmla="*/ 15 w 128"/>
                <a:gd name="T103" fmla="*/ 67 h 105"/>
                <a:gd name="T104" fmla="*/ 13 w 128"/>
                <a:gd name="T105" fmla="*/ 84 h 105"/>
                <a:gd name="T106" fmla="*/ 15 w 128"/>
                <a:gd name="T107" fmla="*/ 105 h 105"/>
                <a:gd name="T108" fmla="*/ 0 w 128"/>
                <a:gd name="T109" fmla="*/ 48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28" h="105">
                  <a:moveTo>
                    <a:pt x="99" y="2"/>
                  </a:moveTo>
                  <a:lnTo>
                    <a:pt x="112" y="2"/>
                  </a:lnTo>
                  <a:lnTo>
                    <a:pt x="112" y="21"/>
                  </a:lnTo>
                  <a:lnTo>
                    <a:pt x="107" y="23"/>
                  </a:lnTo>
                  <a:lnTo>
                    <a:pt x="99" y="25"/>
                  </a:lnTo>
                  <a:lnTo>
                    <a:pt x="99" y="2"/>
                  </a:lnTo>
                  <a:lnTo>
                    <a:pt x="99" y="2"/>
                  </a:lnTo>
                  <a:close/>
                  <a:moveTo>
                    <a:pt x="112" y="46"/>
                  </a:moveTo>
                  <a:lnTo>
                    <a:pt x="112" y="105"/>
                  </a:lnTo>
                  <a:lnTo>
                    <a:pt x="99" y="105"/>
                  </a:lnTo>
                  <a:lnTo>
                    <a:pt x="99" y="52"/>
                  </a:lnTo>
                  <a:lnTo>
                    <a:pt x="107" y="42"/>
                  </a:lnTo>
                  <a:lnTo>
                    <a:pt x="112" y="46"/>
                  </a:lnTo>
                  <a:lnTo>
                    <a:pt x="112" y="46"/>
                  </a:lnTo>
                  <a:close/>
                  <a:moveTo>
                    <a:pt x="114" y="0"/>
                  </a:moveTo>
                  <a:lnTo>
                    <a:pt x="128" y="0"/>
                  </a:lnTo>
                  <a:lnTo>
                    <a:pt x="128" y="105"/>
                  </a:lnTo>
                  <a:lnTo>
                    <a:pt x="114" y="105"/>
                  </a:lnTo>
                  <a:lnTo>
                    <a:pt x="114" y="44"/>
                  </a:lnTo>
                  <a:lnTo>
                    <a:pt x="118" y="33"/>
                  </a:lnTo>
                  <a:lnTo>
                    <a:pt x="120" y="19"/>
                  </a:lnTo>
                  <a:lnTo>
                    <a:pt x="114" y="21"/>
                  </a:lnTo>
                  <a:lnTo>
                    <a:pt x="114" y="0"/>
                  </a:lnTo>
                  <a:lnTo>
                    <a:pt x="114" y="0"/>
                  </a:lnTo>
                  <a:close/>
                  <a:moveTo>
                    <a:pt x="82" y="15"/>
                  </a:moveTo>
                  <a:lnTo>
                    <a:pt x="95" y="15"/>
                  </a:lnTo>
                  <a:lnTo>
                    <a:pt x="95" y="27"/>
                  </a:lnTo>
                  <a:lnTo>
                    <a:pt x="93" y="27"/>
                  </a:lnTo>
                  <a:lnTo>
                    <a:pt x="95" y="31"/>
                  </a:lnTo>
                  <a:lnTo>
                    <a:pt x="95" y="38"/>
                  </a:lnTo>
                  <a:lnTo>
                    <a:pt x="82" y="50"/>
                  </a:lnTo>
                  <a:lnTo>
                    <a:pt x="82" y="15"/>
                  </a:lnTo>
                  <a:lnTo>
                    <a:pt x="82" y="15"/>
                  </a:lnTo>
                  <a:close/>
                  <a:moveTo>
                    <a:pt x="95" y="57"/>
                  </a:moveTo>
                  <a:lnTo>
                    <a:pt x="95" y="105"/>
                  </a:lnTo>
                  <a:lnTo>
                    <a:pt x="82" y="105"/>
                  </a:lnTo>
                  <a:lnTo>
                    <a:pt x="82" y="69"/>
                  </a:lnTo>
                  <a:lnTo>
                    <a:pt x="95" y="57"/>
                  </a:lnTo>
                  <a:lnTo>
                    <a:pt x="95" y="57"/>
                  </a:lnTo>
                  <a:close/>
                  <a:moveTo>
                    <a:pt x="65" y="23"/>
                  </a:moveTo>
                  <a:lnTo>
                    <a:pt x="80" y="23"/>
                  </a:lnTo>
                  <a:lnTo>
                    <a:pt x="80" y="54"/>
                  </a:lnTo>
                  <a:lnTo>
                    <a:pt x="74" y="61"/>
                  </a:lnTo>
                  <a:lnTo>
                    <a:pt x="72" y="57"/>
                  </a:lnTo>
                  <a:lnTo>
                    <a:pt x="68" y="52"/>
                  </a:lnTo>
                  <a:lnTo>
                    <a:pt x="65" y="52"/>
                  </a:lnTo>
                  <a:lnTo>
                    <a:pt x="65" y="23"/>
                  </a:lnTo>
                  <a:lnTo>
                    <a:pt x="65" y="23"/>
                  </a:lnTo>
                  <a:close/>
                  <a:moveTo>
                    <a:pt x="80" y="73"/>
                  </a:moveTo>
                  <a:lnTo>
                    <a:pt x="80" y="105"/>
                  </a:lnTo>
                  <a:lnTo>
                    <a:pt x="65" y="105"/>
                  </a:lnTo>
                  <a:lnTo>
                    <a:pt x="65" y="71"/>
                  </a:lnTo>
                  <a:lnTo>
                    <a:pt x="68" y="73"/>
                  </a:lnTo>
                  <a:lnTo>
                    <a:pt x="72" y="80"/>
                  </a:lnTo>
                  <a:lnTo>
                    <a:pt x="78" y="73"/>
                  </a:lnTo>
                  <a:lnTo>
                    <a:pt x="80" y="73"/>
                  </a:lnTo>
                  <a:lnTo>
                    <a:pt x="80" y="73"/>
                  </a:lnTo>
                  <a:close/>
                  <a:moveTo>
                    <a:pt x="49" y="33"/>
                  </a:moveTo>
                  <a:lnTo>
                    <a:pt x="63" y="33"/>
                  </a:lnTo>
                  <a:lnTo>
                    <a:pt x="63" y="54"/>
                  </a:lnTo>
                  <a:lnTo>
                    <a:pt x="61" y="54"/>
                  </a:lnTo>
                  <a:lnTo>
                    <a:pt x="49" y="63"/>
                  </a:lnTo>
                  <a:lnTo>
                    <a:pt x="49" y="33"/>
                  </a:lnTo>
                  <a:lnTo>
                    <a:pt x="49" y="33"/>
                  </a:lnTo>
                  <a:close/>
                  <a:moveTo>
                    <a:pt x="63" y="69"/>
                  </a:moveTo>
                  <a:lnTo>
                    <a:pt x="63" y="105"/>
                  </a:lnTo>
                  <a:lnTo>
                    <a:pt x="49" y="105"/>
                  </a:lnTo>
                  <a:lnTo>
                    <a:pt x="49" y="78"/>
                  </a:lnTo>
                  <a:lnTo>
                    <a:pt x="63" y="69"/>
                  </a:lnTo>
                  <a:lnTo>
                    <a:pt x="63" y="69"/>
                  </a:lnTo>
                  <a:close/>
                  <a:moveTo>
                    <a:pt x="34" y="42"/>
                  </a:moveTo>
                  <a:lnTo>
                    <a:pt x="47" y="42"/>
                  </a:lnTo>
                  <a:lnTo>
                    <a:pt x="47" y="65"/>
                  </a:lnTo>
                  <a:lnTo>
                    <a:pt x="38" y="71"/>
                  </a:lnTo>
                  <a:lnTo>
                    <a:pt x="34" y="67"/>
                  </a:lnTo>
                  <a:lnTo>
                    <a:pt x="34" y="42"/>
                  </a:lnTo>
                  <a:lnTo>
                    <a:pt x="34" y="42"/>
                  </a:lnTo>
                  <a:close/>
                  <a:moveTo>
                    <a:pt x="47" y="80"/>
                  </a:moveTo>
                  <a:lnTo>
                    <a:pt x="47" y="105"/>
                  </a:lnTo>
                  <a:lnTo>
                    <a:pt x="34" y="105"/>
                  </a:lnTo>
                  <a:lnTo>
                    <a:pt x="34" y="84"/>
                  </a:lnTo>
                  <a:lnTo>
                    <a:pt x="36" y="86"/>
                  </a:lnTo>
                  <a:lnTo>
                    <a:pt x="40" y="84"/>
                  </a:lnTo>
                  <a:lnTo>
                    <a:pt x="47" y="80"/>
                  </a:lnTo>
                  <a:lnTo>
                    <a:pt x="47" y="80"/>
                  </a:lnTo>
                  <a:close/>
                  <a:moveTo>
                    <a:pt x="17" y="36"/>
                  </a:moveTo>
                  <a:lnTo>
                    <a:pt x="32" y="36"/>
                  </a:lnTo>
                  <a:lnTo>
                    <a:pt x="32" y="63"/>
                  </a:lnTo>
                  <a:lnTo>
                    <a:pt x="30" y="63"/>
                  </a:lnTo>
                  <a:lnTo>
                    <a:pt x="28" y="61"/>
                  </a:lnTo>
                  <a:lnTo>
                    <a:pt x="23" y="63"/>
                  </a:lnTo>
                  <a:lnTo>
                    <a:pt x="17" y="65"/>
                  </a:lnTo>
                  <a:lnTo>
                    <a:pt x="17" y="36"/>
                  </a:lnTo>
                  <a:lnTo>
                    <a:pt x="17" y="36"/>
                  </a:lnTo>
                  <a:close/>
                  <a:moveTo>
                    <a:pt x="32" y="82"/>
                  </a:moveTo>
                  <a:lnTo>
                    <a:pt x="32" y="105"/>
                  </a:lnTo>
                  <a:lnTo>
                    <a:pt x="17" y="105"/>
                  </a:lnTo>
                  <a:lnTo>
                    <a:pt x="17" y="80"/>
                  </a:lnTo>
                  <a:lnTo>
                    <a:pt x="26" y="75"/>
                  </a:lnTo>
                  <a:lnTo>
                    <a:pt x="32" y="82"/>
                  </a:lnTo>
                  <a:lnTo>
                    <a:pt x="32" y="82"/>
                  </a:lnTo>
                  <a:close/>
                  <a:moveTo>
                    <a:pt x="0" y="48"/>
                  </a:moveTo>
                  <a:lnTo>
                    <a:pt x="15" y="48"/>
                  </a:lnTo>
                  <a:lnTo>
                    <a:pt x="15" y="67"/>
                  </a:lnTo>
                  <a:lnTo>
                    <a:pt x="7" y="71"/>
                  </a:lnTo>
                  <a:lnTo>
                    <a:pt x="13" y="84"/>
                  </a:lnTo>
                  <a:lnTo>
                    <a:pt x="15" y="82"/>
                  </a:lnTo>
                  <a:lnTo>
                    <a:pt x="15" y="105"/>
                  </a:lnTo>
                  <a:lnTo>
                    <a:pt x="0" y="105"/>
                  </a:lnTo>
                  <a:lnTo>
                    <a:pt x="0" y="4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6" name="组合 125"/>
          <p:cNvGrpSpPr/>
          <p:nvPr/>
        </p:nvGrpSpPr>
        <p:grpSpPr>
          <a:xfrm>
            <a:off x="4690995" y="2437330"/>
            <a:ext cx="1751468" cy="1735373"/>
            <a:chOff x="6192089" y="3721210"/>
            <a:chExt cx="2335290" cy="2313831"/>
          </a:xfrm>
        </p:grpSpPr>
        <p:sp>
          <p:nvSpPr>
            <p:cNvPr id="127" name="矩形 126"/>
            <p:cNvSpPr/>
            <p:nvPr/>
          </p:nvSpPr>
          <p:spPr>
            <a:xfrm>
              <a:off x="6192089" y="3721210"/>
              <a:ext cx="2335290" cy="1363554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8" name="矩形 127"/>
            <p:cNvSpPr/>
            <p:nvPr/>
          </p:nvSpPr>
          <p:spPr>
            <a:xfrm>
              <a:off x="6192089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9" name="TextBox 14"/>
            <p:cNvSpPr txBox="1"/>
            <p:nvPr/>
          </p:nvSpPr>
          <p:spPr>
            <a:xfrm>
              <a:off x="6238240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200"/>
                </a:spcAft>
                <a:defRPr/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首年新房渠道出货控制在 40% 以内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  <a:p>
              <a:pPr algn="l">
                <a:spcAft>
                  <a:spcPts val="200"/>
                </a:spcAft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KOL 内容种草 + 高端社区物业团购 + 集成商推荐</a:t>
              </a:r>
            </a:p>
          </p:txBody>
        </p:sp>
        <p:sp>
          <p:nvSpPr>
            <p:cNvPr id="130" name="TextBox 15"/>
            <p:cNvSpPr txBox="1"/>
            <p:nvPr/>
          </p:nvSpPr>
          <p:spPr>
            <a:xfrm>
              <a:off x="6238240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defRPr/>
              </a:pPr>
              <a:r>
                <a:rPr lang="id-ID" sz="1200" b="1" dirty="0">
                  <a:solidFill>
                    <a:srgbClr val="6A9AC4"/>
                  </a:solidFill>
                  <a:cs typeface="+mn-ea"/>
                  <a:sym typeface="+mn-lt"/>
                </a:rPr>
                <a:t>渠道策略</a:t>
              </a:r>
            </a:p>
          </p:txBody>
        </p:sp>
        <p:sp>
          <p:nvSpPr>
            <p:cNvPr id="131" name="Freeform 105"/>
            <p:cNvSpPr>
              <a:spLocks noEditPoints="1"/>
            </p:cNvSpPr>
            <p:nvPr/>
          </p:nvSpPr>
          <p:spPr bwMode="auto">
            <a:xfrm>
              <a:off x="7119816" y="4304750"/>
              <a:ext cx="479836" cy="282761"/>
            </a:xfrm>
            <a:custGeom>
              <a:avLst/>
              <a:gdLst>
                <a:gd name="T0" fmla="*/ 58 w 80"/>
                <a:gd name="T1" fmla="*/ 7 h 47"/>
                <a:gd name="T2" fmla="*/ 61 w 80"/>
                <a:gd name="T3" fmla="*/ 6 h 47"/>
                <a:gd name="T4" fmla="*/ 66 w 80"/>
                <a:gd name="T5" fmla="*/ 14 h 47"/>
                <a:gd name="T6" fmla="*/ 74 w 80"/>
                <a:gd name="T7" fmla="*/ 19 h 47"/>
                <a:gd name="T8" fmla="*/ 73 w 80"/>
                <a:gd name="T9" fmla="*/ 22 h 47"/>
                <a:gd name="T10" fmla="*/ 80 w 80"/>
                <a:gd name="T11" fmla="*/ 39 h 47"/>
                <a:gd name="T12" fmla="*/ 77 w 80"/>
                <a:gd name="T13" fmla="*/ 41 h 47"/>
                <a:gd name="T14" fmla="*/ 71 w 80"/>
                <a:gd name="T15" fmla="*/ 41 h 47"/>
                <a:gd name="T16" fmla="*/ 73 w 80"/>
                <a:gd name="T17" fmla="*/ 39 h 47"/>
                <a:gd name="T18" fmla="*/ 67 w 80"/>
                <a:gd name="T19" fmla="*/ 25 h 47"/>
                <a:gd name="T20" fmla="*/ 59 w 80"/>
                <a:gd name="T21" fmla="*/ 39 h 47"/>
                <a:gd name="T22" fmla="*/ 67 w 80"/>
                <a:gd name="T23" fmla="*/ 25 h 47"/>
                <a:gd name="T24" fmla="*/ 68 w 80"/>
                <a:gd name="T25" fmla="*/ 23 h 47"/>
                <a:gd name="T26" fmla="*/ 57 w 80"/>
                <a:gd name="T27" fmla="*/ 12 h 47"/>
                <a:gd name="T28" fmla="*/ 62 w 80"/>
                <a:gd name="T29" fmla="*/ 18 h 47"/>
                <a:gd name="T30" fmla="*/ 56 w 80"/>
                <a:gd name="T31" fmla="*/ 29 h 47"/>
                <a:gd name="T32" fmla="*/ 50 w 80"/>
                <a:gd name="T33" fmla="*/ 24 h 47"/>
                <a:gd name="T34" fmla="*/ 55 w 80"/>
                <a:gd name="T35" fmla="*/ 13 h 47"/>
                <a:gd name="T36" fmla="*/ 41 w 80"/>
                <a:gd name="T37" fmla="*/ 7 h 47"/>
                <a:gd name="T38" fmla="*/ 39 w 80"/>
                <a:gd name="T39" fmla="*/ 9 h 47"/>
                <a:gd name="T40" fmla="*/ 24 w 80"/>
                <a:gd name="T41" fmla="*/ 11 h 47"/>
                <a:gd name="T42" fmla="*/ 39 w 80"/>
                <a:gd name="T43" fmla="*/ 9 h 47"/>
                <a:gd name="T44" fmla="*/ 31 w 80"/>
                <a:gd name="T45" fmla="*/ 23 h 47"/>
                <a:gd name="T46" fmla="*/ 24 w 80"/>
                <a:gd name="T47" fmla="*/ 14 h 47"/>
                <a:gd name="T48" fmla="*/ 17 w 80"/>
                <a:gd name="T49" fmla="*/ 17 h 47"/>
                <a:gd name="T50" fmla="*/ 14 w 80"/>
                <a:gd name="T51" fmla="*/ 24 h 47"/>
                <a:gd name="T52" fmla="*/ 24 w 80"/>
                <a:gd name="T53" fmla="*/ 14 h 47"/>
                <a:gd name="T54" fmla="*/ 28 w 80"/>
                <a:gd name="T55" fmla="*/ 25 h 47"/>
                <a:gd name="T56" fmla="*/ 20 w 80"/>
                <a:gd name="T57" fmla="*/ 22 h 47"/>
                <a:gd name="T58" fmla="*/ 23 w 80"/>
                <a:gd name="T59" fmla="*/ 29 h 47"/>
                <a:gd name="T60" fmla="*/ 13 w 80"/>
                <a:gd name="T61" fmla="*/ 25 h 47"/>
                <a:gd name="T62" fmla="*/ 7 w 80"/>
                <a:gd name="T63" fmla="*/ 39 h 47"/>
                <a:gd name="T64" fmla="*/ 9 w 80"/>
                <a:gd name="T65" fmla="*/ 41 h 47"/>
                <a:gd name="T66" fmla="*/ 3 w 80"/>
                <a:gd name="T67" fmla="*/ 41 h 47"/>
                <a:gd name="T68" fmla="*/ 0 w 80"/>
                <a:gd name="T69" fmla="*/ 39 h 47"/>
                <a:gd name="T70" fmla="*/ 7 w 80"/>
                <a:gd name="T71" fmla="*/ 22 h 47"/>
                <a:gd name="T72" fmla="*/ 6 w 80"/>
                <a:gd name="T73" fmla="*/ 19 h 47"/>
                <a:gd name="T74" fmla="*/ 14 w 80"/>
                <a:gd name="T75" fmla="*/ 14 h 47"/>
                <a:gd name="T76" fmla="*/ 19 w 80"/>
                <a:gd name="T77" fmla="*/ 6 h 47"/>
                <a:gd name="T78" fmla="*/ 22 w 80"/>
                <a:gd name="T79" fmla="*/ 7 h 47"/>
                <a:gd name="T80" fmla="*/ 39 w 80"/>
                <a:gd name="T81" fmla="*/ 0 h 47"/>
                <a:gd name="T82" fmla="*/ 41 w 80"/>
                <a:gd name="T83" fmla="*/ 3 h 47"/>
                <a:gd name="T84" fmla="*/ 33 w 80"/>
                <a:gd name="T85" fmla="*/ 40 h 47"/>
                <a:gd name="T86" fmla="*/ 40 w 80"/>
                <a:gd name="T87" fmla="*/ 47 h 47"/>
                <a:gd name="T88" fmla="*/ 45 w 80"/>
                <a:gd name="T89" fmla="*/ 45 h 47"/>
                <a:gd name="T90" fmla="*/ 47 w 80"/>
                <a:gd name="T91" fmla="*/ 39 h 47"/>
                <a:gd name="T92" fmla="*/ 45 w 80"/>
                <a:gd name="T93" fmla="*/ 34 h 47"/>
                <a:gd name="T94" fmla="*/ 39 w 80"/>
                <a:gd name="T95" fmla="*/ 33 h 47"/>
                <a:gd name="T96" fmla="*/ 24 w 80"/>
                <a:gd name="T97" fmla="*/ 23 h 47"/>
                <a:gd name="T98" fmla="*/ 22 w 80"/>
                <a:gd name="T99" fmla="*/ 26 h 47"/>
                <a:gd name="T100" fmla="*/ 40 w 80"/>
                <a:gd name="T101" fmla="*/ 37 h 47"/>
                <a:gd name="T102" fmla="*/ 37 w 80"/>
                <a:gd name="T103" fmla="*/ 40 h 47"/>
                <a:gd name="T104" fmla="*/ 40 w 80"/>
                <a:gd name="T105" fmla="*/ 43 h 47"/>
                <a:gd name="T106" fmla="*/ 42 w 80"/>
                <a:gd name="T107" fmla="*/ 42 h 47"/>
                <a:gd name="T108" fmla="*/ 43 w 80"/>
                <a:gd name="T109" fmla="*/ 40 h 47"/>
                <a:gd name="T110" fmla="*/ 40 w 80"/>
                <a:gd name="T111" fmla="*/ 37 h 47"/>
                <a:gd name="T112" fmla="*/ 41 w 80"/>
                <a:gd name="T113" fmla="*/ 9 h 47"/>
                <a:gd name="T114" fmla="*/ 49 w 80"/>
                <a:gd name="T115" fmla="*/ 23 h 47"/>
                <a:gd name="T116" fmla="*/ 41 w 80"/>
                <a:gd name="T117" fmla="*/ 9 h 47"/>
                <a:gd name="T118" fmla="*/ 13 w 80"/>
                <a:gd name="T119" fmla="*/ 25 h 47"/>
                <a:gd name="T120" fmla="*/ 21 w 80"/>
                <a:gd name="T121" fmla="*/ 39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80" h="47">
                  <a:moveTo>
                    <a:pt x="41" y="3"/>
                  </a:moveTo>
                  <a:cubicBezTo>
                    <a:pt x="47" y="3"/>
                    <a:pt x="53" y="5"/>
                    <a:pt x="58" y="7"/>
                  </a:cubicBezTo>
                  <a:cubicBezTo>
                    <a:pt x="59" y="5"/>
                    <a:pt x="59" y="5"/>
                    <a:pt x="59" y="5"/>
                  </a:cubicBezTo>
                  <a:cubicBezTo>
                    <a:pt x="61" y="6"/>
                    <a:pt x="61" y="6"/>
                    <a:pt x="61" y="6"/>
                  </a:cubicBezTo>
                  <a:cubicBezTo>
                    <a:pt x="59" y="8"/>
                    <a:pt x="59" y="8"/>
                    <a:pt x="59" y="8"/>
                  </a:cubicBezTo>
                  <a:cubicBezTo>
                    <a:pt x="62" y="10"/>
                    <a:pt x="64" y="12"/>
                    <a:pt x="66" y="14"/>
                  </a:cubicBezTo>
                  <a:cubicBezTo>
                    <a:pt x="68" y="16"/>
                    <a:pt x="70" y="18"/>
                    <a:pt x="72" y="20"/>
                  </a:cubicBezTo>
                  <a:cubicBezTo>
                    <a:pt x="74" y="19"/>
                    <a:pt x="74" y="19"/>
                    <a:pt x="74" y="19"/>
                  </a:cubicBezTo>
                  <a:cubicBezTo>
                    <a:pt x="75" y="21"/>
                    <a:pt x="75" y="21"/>
                    <a:pt x="75" y="21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75" y="27"/>
                    <a:pt x="77" y="33"/>
                    <a:pt x="77" y="39"/>
                  </a:cubicBezTo>
                  <a:cubicBezTo>
                    <a:pt x="80" y="39"/>
                    <a:pt x="80" y="39"/>
                    <a:pt x="80" y="39"/>
                  </a:cubicBezTo>
                  <a:cubicBezTo>
                    <a:pt x="80" y="41"/>
                    <a:pt x="80" y="41"/>
                    <a:pt x="80" y="41"/>
                  </a:cubicBezTo>
                  <a:cubicBezTo>
                    <a:pt x="77" y="41"/>
                    <a:pt x="77" y="41"/>
                    <a:pt x="77" y="41"/>
                  </a:cubicBezTo>
                  <a:cubicBezTo>
                    <a:pt x="73" y="41"/>
                    <a:pt x="73" y="41"/>
                    <a:pt x="73" y="41"/>
                  </a:cubicBezTo>
                  <a:cubicBezTo>
                    <a:pt x="71" y="41"/>
                    <a:pt x="71" y="41"/>
                    <a:pt x="71" y="41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3" y="39"/>
                    <a:pt x="73" y="39"/>
                    <a:pt x="73" y="39"/>
                  </a:cubicBezTo>
                  <a:cubicBezTo>
                    <a:pt x="73" y="34"/>
                    <a:pt x="71" y="29"/>
                    <a:pt x="69" y="24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9" y="29"/>
                    <a:pt x="71" y="34"/>
                    <a:pt x="71" y="39"/>
                  </a:cubicBezTo>
                  <a:cubicBezTo>
                    <a:pt x="59" y="39"/>
                    <a:pt x="59" y="39"/>
                    <a:pt x="59" y="39"/>
                  </a:cubicBezTo>
                  <a:cubicBezTo>
                    <a:pt x="59" y="36"/>
                    <a:pt x="58" y="33"/>
                    <a:pt x="57" y="31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6" y="24"/>
                    <a:pt x="66" y="24"/>
                    <a:pt x="66" y="24"/>
                  </a:cubicBezTo>
                  <a:cubicBezTo>
                    <a:pt x="68" y="23"/>
                    <a:pt x="68" y="23"/>
                    <a:pt x="68" y="23"/>
                  </a:cubicBezTo>
                  <a:cubicBezTo>
                    <a:pt x="67" y="20"/>
                    <a:pt x="65" y="18"/>
                    <a:pt x="63" y="17"/>
                  </a:cubicBezTo>
                  <a:cubicBezTo>
                    <a:pt x="61" y="15"/>
                    <a:pt x="59" y="13"/>
                    <a:pt x="57" y="12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8" y="15"/>
                    <a:pt x="60" y="16"/>
                    <a:pt x="62" y="18"/>
                  </a:cubicBezTo>
                  <a:cubicBezTo>
                    <a:pt x="63" y="20"/>
                    <a:pt x="65" y="22"/>
                    <a:pt x="66" y="24"/>
                  </a:cubicBezTo>
                  <a:cubicBezTo>
                    <a:pt x="56" y="29"/>
                    <a:pt x="56" y="29"/>
                    <a:pt x="56" y="29"/>
                  </a:cubicBezTo>
                  <a:cubicBezTo>
                    <a:pt x="55" y="28"/>
                    <a:pt x="55" y="27"/>
                    <a:pt x="54" y="26"/>
                  </a:cubicBezTo>
                  <a:cubicBezTo>
                    <a:pt x="53" y="25"/>
                    <a:pt x="52" y="24"/>
                    <a:pt x="50" y="24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51" y="8"/>
                    <a:pt x="46" y="7"/>
                    <a:pt x="41" y="7"/>
                  </a:cubicBezTo>
                  <a:cubicBezTo>
                    <a:pt x="41" y="9"/>
                    <a:pt x="41" y="9"/>
                    <a:pt x="41" y="9"/>
                  </a:cubicBezTo>
                  <a:cubicBezTo>
                    <a:pt x="39" y="9"/>
                    <a:pt x="39" y="9"/>
                    <a:pt x="39" y="9"/>
                  </a:cubicBezTo>
                  <a:cubicBezTo>
                    <a:pt x="39" y="7"/>
                    <a:pt x="39" y="7"/>
                    <a:pt x="39" y="7"/>
                  </a:cubicBezTo>
                  <a:cubicBezTo>
                    <a:pt x="34" y="7"/>
                    <a:pt x="29" y="8"/>
                    <a:pt x="24" y="11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9" y="11"/>
                    <a:pt x="34" y="9"/>
                    <a:pt x="39" y="9"/>
                  </a:cubicBezTo>
                  <a:cubicBezTo>
                    <a:pt x="39" y="21"/>
                    <a:pt x="39" y="21"/>
                    <a:pt x="39" y="21"/>
                  </a:cubicBezTo>
                  <a:cubicBezTo>
                    <a:pt x="36" y="21"/>
                    <a:pt x="34" y="21"/>
                    <a:pt x="31" y="23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4" y="14"/>
                    <a:pt x="24" y="14"/>
                    <a:pt x="24" y="14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1" y="13"/>
                    <a:pt x="19" y="15"/>
                    <a:pt x="17" y="17"/>
                  </a:cubicBezTo>
                  <a:cubicBezTo>
                    <a:pt x="15" y="18"/>
                    <a:pt x="13" y="20"/>
                    <a:pt x="12" y="23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2"/>
                    <a:pt x="17" y="20"/>
                    <a:pt x="18" y="18"/>
                  </a:cubicBezTo>
                  <a:cubicBezTo>
                    <a:pt x="20" y="16"/>
                    <a:pt x="22" y="15"/>
                    <a:pt x="24" y="14"/>
                  </a:cubicBezTo>
                  <a:cubicBezTo>
                    <a:pt x="30" y="24"/>
                    <a:pt x="30" y="24"/>
                    <a:pt x="30" y="24"/>
                  </a:cubicBezTo>
                  <a:cubicBezTo>
                    <a:pt x="29" y="24"/>
                    <a:pt x="29" y="24"/>
                    <a:pt x="28" y="25"/>
                  </a:cubicBezTo>
                  <a:cubicBezTo>
                    <a:pt x="24" y="22"/>
                    <a:pt x="24" y="22"/>
                    <a:pt x="24" y="22"/>
                  </a:cubicBezTo>
                  <a:cubicBezTo>
                    <a:pt x="20" y="22"/>
                    <a:pt x="20" y="22"/>
                    <a:pt x="20" y="22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3" y="29"/>
                    <a:pt x="23" y="29"/>
                    <a:pt x="23" y="29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3" y="25"/>
                    <a:pt x="13" y="25"/>
                    <a:pt x="13" y="25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9" y="29"/>
                    <a:pt x="7" y="34"/>
                    <a:pt x="7" y="39"/>
                  </a:cubicBezTo>
                  <a:cubicBezTo>
                    <a:pt x="9" y="39"/>
                    <a:pt x="9" y="39"/>
                    <a:pt x="9" y="39"/>
                  </a:cubicBezTo>
                  <a:cubicBezTo>
                    <a:pt x="9" y="41"/>
                    <a:pt x="9" y="41"/>
                    <a:pt x="9" y="41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3" y="41"/>
                    <a:pt x="3" y="41"/>
                    <a:pt x="3" y="41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3" y="39"/>
                    <a:pt x="3" y="39"/>
                    <a:pt x="3" y="39"/>
                  </a:cubicBezTo>
                  <a:cubicBezTo>
                    <a:pt x="3" y="33"/>
                    <a:pt x="5" y="27"/>
                    <a:pt x="7" y="22"/>
                  </a:cubicBezTo>
                  <a:cubicBezTo>
                    <a:pt x="5" y="21"/>
                    <a:pt x="5" y="21"/>
                    <a:pt x="5" y="21"/>
                  </a:cubicBezTo>
                  <a:cubicBezTo>
                    <a:pt x="6" y="19"/>
                    <a:pt x="6" y="19"/>
                    <a:pt x="6" y="19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10" y="18"/>
                    <a:pt x="12" y="16"/>
                    <a:pt x="14" y="14"/>
                  </a:cubicBezTo>
                  <a:cubicBezTo>
                    <a:pt x="16" y="12"/>
                    <a:pt x="18" y="10"/>
                    <a:pt x="21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7" y="5"/>
                    <a:pt x="33" y="3"/>
                    <a:pt x="39" y="3"/>
                  </a:cubicBezTo>
                  <a:cubicBezTo>
                    <a:pt x="39" y="0"/>
                    <a:pt x="39" y="0"/>
                    <a:pt x="39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lose/>
                  <a:moveTo>
                    <a:pt x="33" y="39"/>
                  </a:moveTo>
                  <a:cubicBezTo>
                    <a:pt x="33" y="40"/>
                    <a:pt x="33" y="40"/>
                    <a:pt x="33" y="40"/>
                  </a:cubicBezTo>
                  <a:cubicBezTo>
                    <a:pt x="33" y="42"/>
                    <a:pt x="34" y="44"/>
                    <a:pt x="35" y="45"/>
                  </a:cubicBezTo>
                  <a:cubicBezTo>
                    <a:pt x="37" y="47"/>
                    <a:pt x="39" y="47"/>
                    <a:pt x="40" y="47"/>
                  </a:cubicBezTo>
                  <a:cubicBezTo>
                    <a:pt x="40" y="47"/>
                    <a:pt x="40" y="47"/>
                    <a:pt x="40" y="47"/>
                  </a:cubicBezTo>
                  <a:cubicBezTo>
                    <a:pt x="42" y="47"/>
                    <a:pt x="44" y="46"/>
                    <a:pt x="45" y="45"/>
                  </a:cubicBezTo>
                  <a:cubicBezTo>
                    <a:pt x="47" y="43"/>
                    <a:pt x="47" y="41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9"/>
                    <a:pt x="47" y="39"/>
                    <a:pt x="47" y="39"/>
                  </a:cubicBezTo>
                  <a:cubicBezTo>
                    <a:pt x="47" y="37"/>
                    <a:pt x="46" y="36"/>
                    <a:pt x="45" y="34"/>
                  </a:cubicBezTo>
                  <a:cubicBezTo>
                    <a:pt x="43" y="33"/>
                    <a:pt x="41" y="32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39" y="33"/>
                    <a:pt x="39" y="33"/>
                    <a:pt x="39" y="33"/>
                  </a:cubicBezTo>
                  <a:cubicBezTo>
                    <a:pt x="24" y="23"/>
                    <a:pt x="24" y="23"/>
                    <a:pt x="24" y="23"/>
                  </a:cubicBezTo>
                  <a:cubicBezTo>
                    <a:pt x="21" y="23"/>
                    <a:pt x="21" y="23"/>
                    <a:pt x="21" y="23"/>
                  </a:cubicBezTo>
                  <a:cubicBezTo>
                    <a:pt x="22" y="26"/>
                    <a:pt x="22" y="26"/>
                    <a:pt x="22" y="26"/>
                  </a:cubicBezTo>
                  <a:cubicBezTo>
                    <a:pt x="33" y="39"/>
                    <a:pt x="33" y="39"/>
                    <a:pt x="33" y="39"/>
                  </a:cubicBezTo>
                  <a:close/>
                  <a:moveTo>
                    <a:pt x="40" y="37"/>
                  </a:moveTo>
                  <a:cubicBezTo>
                    <a:pt x="39" y="37"/>
                    <a:pt x="38" y="37"/>
                    <a:pt x="38" y="38"/>
                  </a:cubicBezTo>
                  <a:cubicBezTo>
                    <a:pt x="37" y="38"/>
                    <a:pt x="37" y="39"/>
                    <a:pt x="37" y="40"/>
                  </a:cubicBezTo>
                  <a:cubicBezTo>
                    <a:pt x="37" y="41"/>
                    <a:pt x="37" y="42"/>
                    <a:pt x="38" y="42"/>
                  </a:cubicBezTo>
                  <a:cubicBezTo>
                    <a:pt x="39" y="43"/>
                    <a:pt x="39" y="43"/>
                    <a:pt x="40" y="43"/>
                  </a:cubicBezTo>
                  <a:cubicBezTo>
                    <a:pt x="40" y="43"/>
                    <a:pt x="40" y="43"/>
                    <a:pt x="40" y="43"/>
                  </a:cubicBezTo>
                  <a:cubicBezTo>
                    <a:pt x="41" y="43"/>
                    <a:pt x="42" y="42"/>
                    <a:pt x="42" y="42"/>
                  </a:cubicBezTo>
                  <a:cubicBezTo>
                    <a:pt x="43" y="41"/>
                    <a:pt x="43" y="40"/>
                    <a:pt x="43" y="40"/>
                  </a:cubicBezTo>
                  <a:cubicBezTo>
                    <a:pt x="43" y="40"/>
                    <a:pt x="43" y="40"/>
                    <a:pt x="43" y="40"/>
                  </a:cubicBezTo>
                  <a:cubicBezTo>
                    <a:pt x="43" y="39"/>
                    <a:pt x="43" y="38"/>
                    <a:pt x="42" y="37"/>
                  </a:cubicBezTo>
                  <a:cubicBezTo>
                    <a:pt x="41" y="37"/>
                    <a:pt x="41" y="37"/>
                    <a:pt x="40" y="37"/>
                  </a:cubicBezTo>
                  <a:cubicBezTo>
                    <a:pt x="40" y="37"/>
                    <a:pt x="40" y="37"/>
                    <a:pt x="40" y="37"/>
                  </a:cubicBezTo>
                  <a:close/>
                  <a:moveTo>
                    <a:pt x="41" y="9"/>
                  </a:moveTo>
                  <a:cubicBezTo>
                    <a:pt x="41" y="21"/>
                    <a:pt x="41" y="21"/>
                    <a:pt x="41" y="21"/>
                  </a:cubicBezTo>
                  <a:cubicBezTo>
                    <a:pt x="44" y="21"/>
                    <a:pt x="46" y="21"/>
                    <a:pt x="49" y="23"/>
                  </a:cubicBezTo>
                  <a:cubicBezTo>
                    <a:pt x="55" y="13"/>
                    <a:pt x="55" y="13"/>
                    <a:pt x="55" y="13"/>
                  </a:cubicBezTo>
                  <a:cubicBezTo>
                    <a:pt x="50" y="11"/>
                    <a:pt x="46" y="9"/>
                    <a:pt x="41" y="9"/>
                  </a:cubicBezTo>
                  <a:close/>
                  <a:moveTo>
                    <a:pt x="23" y="31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1" y="29"/>
                    <a:pt x="9" y="34"/>
                    <a:pt x="9" y="39"/>
                  </a:cubicBezTo>
                  <a:cubicBezTo>
                    <a:pt x="21" y="39"/>
                    <a:pt x="21" y="39"/>
                    <a:pt x="21" y="39"/>
                  </a:cubicBezTo>
                  <a:cubicBezTo>
                    <a:pt x="21" y="36"/>
                    <a:pt x="22" y="33"/>
                    <a:pt x="23" y="3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32" name="组合 131"/>
          <p:cNvGrpSpPr/>
          <p:nvPr/>
        </p:nvGrpSpPr>
        <p:grpSpPr>
          <a:xfrm>
            <a:off x="6643270" y="2437330"/>
            <a:ext cx="1751468" cy="1735373"/>
            <a:chOff x="8828090" y="3721210"/>
            <a:chExt cx="2335290" cy="2313831"/>
          </a:xfrm>
        </p:grpSpPr>
        <p:sp>
          <p:nvSpPr>
            <p:cNvPr id="133" name="矩形 132"/>
            <p:cNvSpPr/>
            <p:nvPr/>
          </p:nvSpPr>
          <p:spPr>
            <a:xfrm>
              <a:off x="8828090" y="3721210"/>
              <a:ext cx="2335290" cy="136355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34" name="矩形 133"/>
            <p:cNvSpPr/>
            <p:nvPr/>
          </p:nvSpPr>
          <p:spPr>
            <a:xfrm>
              <a:off x="8828090" y="5077199"/>
              <a:ext cx="2335290" cy="957842"/>
            </a:xfrm>
            <a:prstGeom prst="rect">
              <a:avLst/>
            </a:prstGeom>
            <a:solidFill>
              <a:srgbClr val="E4E4E4">
                <a:alpha val="45000"/>
              </a:srgb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5" name="TextBox 14"/>
            <p:cNvSpPr txBox="1"/>
            <p:nvPr/>
          </p:nvSpPr>
          <p:spPr>
            <a:xfrm>
              <a:off x="8874241" y="5486400"/>
              <a:ext cx="2289139" cy="45140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Aft>
                  <a:spcPts val="200"/>
                </a:spcAft>
                <a:defRPr/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不投放电商竞价流量，预留 15% 应急预算</a:t>
              </a:r>
              <a:endParaRPr lang="en-US" sz="800" b="1" dirty="0">
                <a:solidFill>
                  <a:prstClr val="black">
                    <a:lumMod val="50000"/>
                    <a:lumOff val="50000"/>
                  </a:prstClr>
                </a:solidFill>
                <a:cs typeface="+mn-ea"/>
                <a:sym typeface="+mn-lt"/>
              </a:endParaRPr>
            </a:p>
            <a:p>
              <a:pPr algn="l">
                <a:spcAft>
                  <a:spcPts val="200"/>
                </a:spcAft>
              </a:pPr>
              <a:r>
                <a:rPr lang="id-ID" sz="900" dirty="0">
                  <a:solidFill>
                    <a:srgbClr val="44546A"/>
                  </a:solidFill>
                  <a:cs typeface="+mn-ea"/>
                  <a:sym typeface="+mn-lt"/>
                </a:rPr>
                <a:t>需求方案 → 模组验证 → 工程样机 → 系统验证 → 认证整改 → 小批试制</a:t>
              </a:r>
            </a:p>
          </p:txBody>
        </p:sp>
        <p:sp>
          <p:nvSpPr>
            <p:cNvPr id="136" name="TextBox 15"/>
            <p:cNvSpPr txBox="1"/>
            <p:nvPr/>
          </p:nvSpPr>
          <p:spPr>
            <a:xfrm>
              <a:off x="8874241" y="5226130"/>
              <a:ext cx="2032894" cy="507889"/>
            </a:xfrm>
            <a:prstGeom prst="rect">
              <a:avLst/>
            </a:prstGeom>
            <a:noFill/>
          </p:spPr>
          <p:txBody>
            <a:bodyPr wrap="none"/>
            <a:lstStyle/>
            <a:p>
              <a:pPr algn="l">
                <a:defRPr/>
              </a:pPr>
              <a:r>
                <a:rPr lang="id-ID" sz="1200" b="1" dirty="0">
                  <a:solidFill>
                    <a:srgbClr val="6A9AC4"/>
                  </a:solidFill>
                  <a:cs typeface="+mn-ea"/>
                  <a:sym typeface="+mn-lt"/>
                </a:rPr>
                <a:t>预算与落地</a:t>
              </a:r>
            </a:p>
          </p:txBody>
        </p:sp>
        <p:sp>
          <p:nvSpPr>
            <p:cNvPr id="137" name="Freeform 139"/>
            <p:cNvSpPr>
              <a:spLocks noEditPoints="1"/>
            </p:cNvSpPr>
            <p:nvPr/>
          </p:nvSpPr>
          <p:spPr bwMode="auto">
            <a:xfrm>
              <a:off x="9810274" y="4219279"/>
              <a:ext cx="370923" cy="403829"/>
            </a:xfrm>
            <a:custGeom>
              <a:avLst/>
              <a:gdLst>
                <a:gd name="T0" fmla="*/ 29 w 59"/>
                <a:gd name="T1" fmla="*/ 0 h 64"/>
                <a:gd name="T2" fmla="*/ 59 w 59"/>
                <a:gd name="T3" fmla="*/ 29 h 64"/>
                <a:gd name="T4" fmla="*/ 49 w 59"/>
                <a:gd name="T5" fmla="*/ 51 h 64"/>
                <a:gd name="T6" fmla="*/ 56 w 59"/>
                <a:gd name="T7" fmla="*/ 34 h 64"/>
                <a:gd name="T8" fmla="*/ 29 w 59"/>
                <a:gd name="T9" fmla="*/ 7 h 64"/>
                <a:gd name="T10" fmla="*/ 3 w 59"/>
                <a:gd name="T11" fmla="*/ 34 h 64"/>
                <a:gd name="T12" fmla="*/ 9 w 59"/>
                <a:gd name="T13" fmla="*/ 51 h 64"/>
                <a:gd name="T14" fmla="*/ 0 w 59"/>
                <a:gd name="T15" fmla="*/ 29 h 64"/>
                <a:gd name="T16" fmla="*/ 29 w 59"/>
                <a:gd name="T17" fmla="*/ 0 h 64"/>
                <a:gd name="T18" fmla="*/ 35 w 59"/>
                <a:gd name="T19" fmla="*/ 47 h 64"/>
                <a:gd name="T20" fmla="*/ 41 w 59"/>
                <a:gd name="T21" fmla="*/ 37 h 64"/>
                <a:gd name="T22" fmla="*/ 29 w 59"/>
                <a:gd name="T23" fmla="*/ 25 h 64"/>
                <a:gd name="T24" fmla="*/ 17 w 59"/>
                <a:gd name="T25" fmla="*/ 37 h 64"/>
                <a:gd name="T26" fmla="*/ 23 w 59"/>
                <a:gd name="T27" fmla="*/ 47 h 64"/>
                <a:gd name="T28" fmla="*/ 23 w 59"/>
                <a:gd name="T29" fmla="*/ 64 h 64"/>
                <a:gd name="T30" fmla="*/ 35 w 59"/>
                <a:gd name="T31" fmla="*/ 64 h 64"/>
                <a:gd name="T32" fmla="*/ 35 w 59"/>
                <a:gd name="T33" fmla="*/ 47 h 64"/>
                <a:gd name="T34" fmla="*/ 29 w 59"/>
                <a:gd name="T35" fmla="*/ 14 h 64"/>
                <a:gd name="T36" fmla="*/ 9 w 59"/>
                <a:gd name="T37" fmla="*/ 34 h 64"/>
                <a:gd name="T38" fmla="*/ 18 w 59"/>
                <a:gd name="T39" fmla="*/ 51 h 64"/>
                <a:gd name="T40" fmla="*/ 11 w 59"/>
                <a:gd name="T41" fmla="*/ 37 h 64"/>
                <a:gd name="T42" fmla="*/ 29 w 59"/>
                <a:gd name="T43" fmla="*/ 20 h 64"/>
                <a:gd name="T44" fmla="*/ 47 w 59"/>
                <a:gd name="T45" fmla="*/ 37 h 64"/>
                <a:gd name="T46" fmla="*/ 41 w 59"/>
                <a:gd name="T47" fmla="*/ 51 h 64"/>
                <a:gd name="T48" fmla="*/ 50 w 59"/>
                <a:gd name="T49" fmla="*/ 34 h 64"/>
                <a:gd name="T50" fmla="*/ 29 w 59"/>
                <a:gd name="T51" fmla="*/ 1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64">
                  <a:moveTo>
                    <a:pt x="29" y="0"/>
                  </a:moveTo>
                  <a:cubicBezTo>
                    <a:pt x="46" y="0"/>
                    <a:pt x="59" y="13"/>
                    <a:pt x="59" y="29"/>
                  </a:cubicBezTo>
                  <a:cubicBezTo>
                    <a:pt x="59" y="38"/>
                    <a:pt x="55" y="46"/>
                    <a:pt x="49" y="51"/>
                  </a:cubicBezTo>
                  <a:cubicBezTo>
                    <a:pt x="53" y="46"/>
                    <a:pt x="56" y="40"/>
                    <a:pt x="56" y="34"/>
                  </a:cubicBezTo>
                  <a:cubicBezTo>
                    <a:pt x="56" y="19"/>
                    <a:pt x="44" y="7"/>
                    <a:pt x="29" y="7"/>
                  </a:cubicBezTo>
                  <a:cubicBezTo>
                    <a:pt x="15" y="7"/>
                    <a:pt x="3" y="19"/>
                    <a:pt x="3" y="34"/>
                  </a:cubicBezTo>
                  <a:cubicBezTo>
                    <a:pt x="3" y="40"/>
                    <a:pt x="5" y="46"/>
                    <a:pt x="9" y="51"/>
                  </a:cubicBezTo>
                  <a:cubicBezTo>
                    <a:pt x="3" y="46"/>
                    <a:pt x="0" y="38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lose/>
                  <a:moveTo>
                    <a:pt x="35" y="47"/>
                  </a:moveTo>
                  <a:cubicBezTo>
                    <a:pt x="39" y="45"/>
                    <a:pt x="41" y="41"/>
                    <a:pt x="41" y="37"/>
                  </a:cubicBezTo>
                  <a:cubicBezTo>
                    <a:pt x="41" y="31"/>
                    <a:pt x="36" y="25"/>
                    <a:pt x="29" y="25"/>
                  </a:cubicBezTo>
                  <a:cubicBezTo>
                    <a:pt x="23" y="25"/>
                    <a:pt x="17" y="31"/>
                    <a:pt x="17" y="37"/>
                  </a:cubicBezTo>
                  <a:cubicBezTo>
                    <a:pt x="17" y="41"/>
                    <a:pt x="20" y="45"/>
                    <a:pt x="23" y="47"/>
                  </a:cubicBezTo>
                  <a:cubicBezTo>
                    <a:pt x="23" y="64"/>
                    <a:pt x="23" y="64"/>
                    <a:pt x="23" y="64"/>
                  </a:cubicBezTo>
                  <a:cubicBezTo>
                    <a:pt x="35" y="64"/>
                    <a:pt x="35" y="64"/>
                    <a:pt x="35" y="64"/>
                  </a:cubicBezTo>
                  <a:cubicBezTo>
                    <a:pt x="35" y="47"/>
                    <a:pt x="35" y="47"/>
                    <a:pt x="35" y="47"/>
                  </a:cubicBezTo>
                  <a:close/>
                  <a:moveTo>
                    <a:pt x="29" y="14"/>
                  </a:moveTo>
                  <a:cubicBezTo>
                    <a:pt x="18" y="14"/>
                    <a:pt x="9" y="23"/>
                    <a:pt x="9" y="34"/>
                  </a:cubicBezTo>
                  <a:cubicBezTo>
                    <a:pt x="9" y="41"/>
                    <a:pt x="12" y="47"/>
                    <a:pt x="18" y="51"/>
                  </a:cubicBezTo>
                  <a:cubicBezTo>
                    <a:pt x="14" y="48"/>
                    <a:pt x="11" y="43"/>
                    <a:pt x="11" y="37"/>
                  </a:cubicBezTo>
                  <a:cubicBezTo>
                    <a:pt x="11" y="27"/>
                    <a:pt x="19" y="20"/>
                    <a:pt x="29" y="20"/>
                  </a:cubicBezTo>
                  <a:cubicBezTo>
                    <a:pt x="39" y="20"/>
                    <a:pt x="47" y="27"/>
                    <a:pt x="47" y="37"/>
                  </a:cubicBezTo>
                  <a:cubicBezTo>
                    <a:pt x="47" y="43"/>
                    <a:pt x="45" y="48"/>
                    <a:pt x="41" y="51"/>
                  </a:cubicBezTo>
                  <a:cubicBezTo>
                    <a:pt x="46" y="47"/>
                    <a:pt x="50" y="41"/>
                    <a:pt x="50" y="34"/>
                  </a:cubicBezTo>
                  <a:cubicBezTo>
                    <a:pt x="50" y="23"/>
                    <a:pt x="40" y="14"/>
                    <a:pt x="29" y="1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" name="组合 2"/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5" name="矩形 14"/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6" name="矩形 15"/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8" name="直接连接符 17"/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Box 13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39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商业规划与产品路标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版本路标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88720" y="3005267"/>
            <a:ext cx="4800600" cy="2743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586484" y="2936687"/>
            <a:ext cx="164592" cy="164592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2529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V1.0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2529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Demo 与量产基础能力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54660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18541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V2.0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8541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多模态自适应、遮挡优化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50672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14553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V2.0+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4553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智能猫眼 / 门铃、Matter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46684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10565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V3.0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10565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声纹独立开锁、AI 主动安防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2696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06577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V3.0+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6577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指静脉 / UWB、统一身份平台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商业规划与产品路标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IPD 流程节点与交付物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88720" y="3005267"/>
            <a:ext cx="4800600" cy="2743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586484" y="2936687"/>
            <a:ext cx="164592" cy="164592"/>
          </a:xfrm>
          <a:prstGeom prst="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22529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CDCP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22529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Charter 审批 + PDT 组建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54660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18541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TR1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8541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需求说明与产品概念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50672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14553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TR2 / TR3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14553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架构选型与详细设计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446684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410565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TR4 / TR5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10565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模块测试与整机联调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426964" y="2936687"/>
            <a:ext cx="164592" cy="164592"/>
          </a:xfrm>
          <a:prstGeom prst="rect">
            <a:avLst/>
          </a:prstGeom>
          <a:solidFill>
            <a:srgbClr val="ADC7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065776" y="2452055"/>
            <a:ext cx="8869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1100" b="1">
                <a:solidFill>
                  <a:srgbClr val="44546A"/>
                </a:solidFill>
                <a:latin typeface="DengXian"/>
              </a:rPr>
              <a:t>TR6 / ADCP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65776" y="3220151"/>
            <a:ext cx="8869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"/>
              </a:spcAft>
            </a:pPr>
            <a:r>
              <a:rPr sz="850" b="0">
                <a:solidFill>
                  <a:srgbClr val="44546A"/>
                </a:solidFill>
                <a:latin typeface="DengXian"/>
              </a:rPr>
              <a:t>归档与结项演示（2026-12）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0910c8dbefd44dba6ce05a395d4f64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9054" y="-11906"/>
            <a:ext cx="9242584" cy="5166836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721618" y="881119"/>
            <a:ext cx="1175657" cy="3381695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21500" dirty="0">
                <a:solidFill>
                  <a:schemeClr val="bg2"/>
                </a:solidFill>
                <a:cs typeface="+mn-ea"/>
                <a:sym typeface="+mn-lt"/>
              </a:rPr>
              <a:t>7</a:t>
            </a:r>
            <a:endParaRPr lang="zh-CN" altLang="en-US" sz="21500" dirty="0">
              <a:solidFill>
                <a:schemeClr val="bg2"/>
              </a:solidFill>
              <a:cs typeface="+mn-ea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765783" y="1276675"/>
            <a:ext cx="1175657" cy="2827697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79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7</a:t>
            </a:r>
          </a:p>
        </p:txBody>
      </p:sp>
      <p:sp>
        <p:nvSpPr>
          <p:cNvPr id="22" name="圆角矩形 21"/>
          <p:cNvSpPr/>
          <p:nvPr/>
        </p:nvSpPr>
        <p:spPr>
          <a:xfrm>
            <a:off x="1183005" y="1957864"/>
            <a:ext cx="66675" cy="1228249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590267" y="1912397"/>
            <a:ext cx="1723583" cy="483870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zh-CN" altLang="en-US" sz="2700" dirty="0">
                <a:cs typeface="+mn-ea"/>
                <a:sym typeface="+mn-lt"/>
              </a:rPr>
              <a:t>07  风险边界与下一步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1590032" y="2541531"/>
            <a:ext cx="2566146" cy="438581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/>
          <a:p>
            <a:pPr algn="l"/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已知边界 · 风险清单 · 短中长期计划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665346" y="863918"/>
            <a:ext cx="3549491" cy="3532346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5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7.40741E-7 L 0.01367 -0.00046 " pathEditMode="relative" rAng="0" ptsTypes="AA">
                                      <p:cBhvr>
                                        <p:cTn id="17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7700" y="-230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4.44444E-6 L -0.01432 0.00138 " pathEditMode="relative" rAng="0" ptsTypes="AA">
                                      <p:cBhvr>
                                        <p:cTn id="19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1600" y="690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6" presetClass="entr" presetSubtype="4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0" presetClass="entr" presetSubtype="0" decel="10000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3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0" presetClass="entr" presetSubtype="0" decel="100000" fill="hold" grpId="0" nodeType="withEffect">
                                  <p:stCondLst>
                                    <p:cond delay="75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  <p:bldP spid="22" grpId="0" bldLvl="0" animBg="1"/>
      <p:bldP spid="25" grpId="0"/>
      <p:bldP spid="27" grpId="0"/>
    </p:bldLst>
  </p:timing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风险边界与下一步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当前边界与风险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开发板 SSH 在密钥交换阶段关闭连接，最新改动尚未同步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88720" y="170992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执行器为串口风扇模拟开锁，真实继电器需有人看护测试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8424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DeepSeek API 依赖网络，断网时对话开门不可用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225856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回声消除、长时间打断稳定性与端到端延迟缺正式数据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53288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latest_event.json 只保留最新一条，生产应升级为队列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188720" y="28072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Bot 渠道与 WorkBuddy 正式定时任务尚未接入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88720" y="308152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Nano 4GB 资源余量未知，需要更小 ASR 或模型量化方案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"/>
          <p:cNvSpPr txBox="1"/>
          <p:nvPr/>
        </p:nvSpPr>
        <p:spPr>
          <a:xfrm>
            <a:off x="4951476" y="1245020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短期：完成板端验收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恢复 SSH 并同步最新代码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验证陌生人 3 秒自动事件与融合失败事件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验证 Pipecat 通过 aplay 的真实扬声器输出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复测 start / restart / stop / crash 与端口清理</a:t>
            </a:r>
          </a:p>
        </p:txBody>
      </p:sp>
      <p:sp>
        <p:nvSpPr>
          <p:cNvPr id="30" name="Content Placeholder 2"/>
          <p:cNvSpPr txBox="1"/>
          <p:nvPr/>
        </p:nvSpPr>
        <p:spPr>
          <a:xfrm>
            <a:off x="4951476" y="2462989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中期：形成可演示闭环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接入 WorkBuddy 定时任务与一个 Bot 通知渠道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演示：记录 → 同步 → 通知 → processed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记录 ASR、模型调用、TTS 与总响应延迟</a:t>
            </a:r>
          </a:p>
        </p:txBody>
      </p:sp>
      <p:sp>
        <p:nvSpPr>
          <p:cNvPr id="31" name="Content Placeholder 2"/>
          <p:cNvSpPr txBox="1"/>
          <p:nvPr/>
        </p:nvSpPr>
        <p:spPr>
          <a:xfrm>
            <a:off x="4951475" y="3618216"/>
            <a:ext cx="2309771" cy="888470"/>
          </a:xfrm>
          <a:prstGeom prst="rect">
            <a:avLst/>
          </a:prstGeom>
        </p:spPr>
        <p:txBody>
          <a:bodyPr vert="horz" lIns="68580" tIns="34290" rIns="68580" bIns="34290" rtlCol="0" anchor="t">
            <a:noAutofit/>
          </a:bodyPr>
          <a:lstStyle>
            <a:lvl1pPr marL="0" indent="0" algn="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1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20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 panose="020B0604020202020204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长期：产品化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事件存储升级为 SQLite 队列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加入回声消除与更小的流式 ASR</a:t>
            </a:r>
          </a:p>
          <a:p>
            <a:pPr algn="just"/>
            <a:r>
              <a:rPr lang="id-ID" sz="800" dirty="0">
                <a:solidFill>
                  <a:schemeClr val="bg1">
                    <a:lumMod val="65000"/>
                  </a:schemeClr>
                </a:solidFill>
                <a:cs typeface="+mn-ea"/>
                <a:sym typeface="+mn-lt"/>
              </a:rPr>
              <a:t>在真实继电器与 Nano 4GB 上完成资源、安全、断网、断电测试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DB9D3BB-147B-4B73-97DC-8B0D7F2050E8}"/>
              </a:ext>
            </a:extLst>
          </p:cNvPr>
          <p:cNvGrpSpPr/>
          <p:nvPr/>
        </p:nvGrpSpPr>
        <p:grpSpPr>
          <a:xfrm>
            <a:off x="1795687" y="1078466"/>
            <a:ext cx="2922296" cy="4131202"/>
            <a:chOff x="2394249" y="1437955"/>
            <a:chExt cx="3896395" cy="5508269"/>
          </a:xfrm>
        </p:grpSpPr>
        <p:cxnSp>
          <p:nvCxnSpPr>
            <p:cNvPr id="5" name="Straight Connector 4"/>
            <p:cNvCxnSpPr/>
            <p:nvPr/>
          </p:nvCxnSpPr>
          <p:spPr>
            <a:xfrm>
              <a:off x="4670444" y="5506224"/>
              <a:ext cx="0" cy="144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>
              <a:off x="4670445" y="2351329"/>
              <a:ext cx="0" cy="136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>
              <a:off x="4670444" y="3935623"/>
              <a:ext cx="0" cy="1404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4670444" y="1498570"/>
              <a:ext cx="0" cy="648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>
              <a:off x="4542204" y="2115031"/>
              <a:ext cx="252000" cy="252000"/>
              <a:chOff x="5934044" y="2659656"/>
              <a:chExt cx="252000" cy="252000"/>
            </a:xfrm>
          </p:grpSpPr>
          <p:sp>
            <p:nvSpPr>
              <p:cNvPr id="10" name="Oval 9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1" name="Isosceles Triangle 10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2" name="Group 11"/>
            <p:cNvGrpSpPr/>
            <p:nvPr/>
          </p:nvGrpSpPr>
          <p:grpSpPr>
            <a:xfrm rot="10800000">
              <a:off x="4538993" y="3717193"/>
              <a:ext cx="252000" cy="252000"/>
              <a:chOff x="5934044" y="2659656"/>
              <a:chExt cx="252000" cy="252000"/>
            </a:xfrm>
          </p:grpSpPr>
          <p:sp>
            <p:nvSpPr>
              <p:cNvPr id="13" name="Oval 12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4" name="Isosceles Triangle 13"/>
              <p:cNvSpPr/>
              <p:nvPr/>
            </p:nvSpPr>
            <p:spPr>
              <a:xfrm rot="16200000">
                <a:off x="5960354" y="2706576"/>
                <a:ext cx="144000" cy="144000"/>
              </a:xfrm>
              <a:prstGeom prst="triangl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4547381" y="5303068"/>
              <a:ext cx="252000" cy="252000"/>
              <a:chOff x="5934044" y="2659656"/>
              <a:chExt cx="252000" cy="252000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5934044" y="2659656"/>
                <a:ext cx="252000" cy="252000"/>
              </a:xfrm>
              <a:prstGeom prst="ellipse">
                <a:avLst/>
              </a:prstGeom>
              <a:solidFill>
                <a:schemeClr val="bg1">
                  <a:alpha val="80000"/>
                </a:schemeClr>
              </a:solidFill>
              <a:ln w="444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  <p:sp>
            <p:nvSpPr>
              <p:cNvPr id="17" name="Isosceles Triangle 16"/>
              <p:cNvSpPr/>
              <p:nvPr/>
            </p:nvSpPr>
            <p:spPr>
              <a:xfrm rot="5400000">
                <a:off x="6017072" y="2721536"/>
                <a:ext cx="144000" cy="144000"/>
              </a:xfrm>
              <a:prstGeom prst="triangle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>
                  <a:cs typeface="+mn-ea"/>
                  <a:sym typeface="+mn-lt"/>
                </a:endParaRPr>
              </a:p>
            </p:txBody>
          </p:sp>
        </p:grpSp>
        <p:sp>
          <p:nvSpPr>
            <p:cNvPr id="20" name="Content Placeholder 2"/>
            <p:cNvSpPr txBox="1"/>
            <p:nvPr/>
          </p:nvSpPr>
          <p:spPr>
            <a:xfrm>
              <a:off x="3525564" y="2107037"/>
              <a:ext cx="940592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CEO</a:t>
              </a:r>
            </a:p>
          </p:txBody>
        </p:sp>
        <p:sp>
          <p:nvSpPr>
            <p:cNvPr id="21" name="Content Placeholder 2"/>
            <p:cNvSpPr txBox="1"/>
            <p:nvPr/>
          </p:nvSpPr>
          <p:spPr>
            <a:xfrm>
              <a:off x="3390891" y="3682379"/>
              <a:ext cx="1071586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MANAGER</a:t>
              </a:r>
            </a:p>
          </p:txBody>
        </p:sp>
        <p:sp>
          <p:nvSpPr>
            <p:cNvPr id="22" name="Content Placeholder 2"/>
            <p:cNvSpPr txBox="1"/>
            <p:nvPr/>
          </p:nvSpPr>
          <p:spPr>
            <a:xfrm>
              <a:off x="3018971" y="5273938"/>
              <a:ext cx="1454489" cy="364894"/>
            </a:xfrm>
            <a:prstGeom prst="rect">
              <a:avLst/>
            </a:prstGeom>
          </p:spPr>
          <p:txBody>
            <a:bodyPr vert="horz" lIns="91440" tIns="45720" rIns="91440" bIns="45720" rtlCol="0" anchor="t">
              <a:noAutofit/>
            </a:bodyPr>
            <a:lstStyle>
              <a:lvl1pPr marL="0" indent="0" algn="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100" kern="1200" cap="none">
                  <a:solidFill>
                    <a:schemeClr val="tx1"/>
                  </a:solidFill>
                  <a:effectLst/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20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8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6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spcAft>
                  <a:spcPts val="600"/>
                </a:spcAft>
                <a:buClr>
                  <a:schemeClr val="accent1">
                    <a:lumMod val="75000"/>
                  </a:schemeClr>
                </a:buClr>
                <a:buSzPct val="145000"/>
                <a:buFont typeface="Arial" panose="020B0604020202020204"/>
                <a:buNone/>
                <a:defRPr sz="1400" kern="1200" cap="none">
                  <a:solidFill>
                    <a:schemeClr val="tx1">
                      <a:tint val="75000"/>
                    </a:schemeClr>
                  </a:solidFill>
                  <a:effectLst/>
                  <a:latin typeface="+mn-lt"/>
                  <a:ea typeface="+mn-ea"/>
                  <a:cs typeface="+mn-cs"/>
                </a:defRPr>
              </a:lvl9pPr>
            </a:lstStyle>
            <a:p>
              <a:pPr>
                <a:defRPr/>
              </a:pPr>
              <a:r>
                <a:rPr lang="id-ID" sz="1100" dirty="0">
                  <a:solidFill>
                    <a:schemeClr val="tx2"/>
                  </a:solidFill>
                  <a:cs typeface="+mn-ea"/>
                  <a:sym typeface="+mn-lt"/>
                </a:rPr>
                <a:t>ASS. MANAGER</a:t>
              </a:r>
            </a:p>
          </p:txBody>
        </p:sp>
        <p:cxnSp>
          <p:nvCxnSpPr>
            <p:cNvPr id="32" name="Straight Connector 31"/>
            <p:cNvCxnSpPr/>
            <p:nvPr/>
          </p:nvCxnSpPr>
          <p:spPr>
            <a:xfrm rot="5400000">
              <a:off x="3604512" y="424063"/>
              <a:ext cx="0" cy="2160000"/>
            </a:xfrm>
            <a:prstGeom prst="line">
              <a:avLst/>
            </a:prstGeom>
            <a:ln w="38100" cmpd="dbl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/>
            <p:cNvSpPr/>
            <p:nvPr/>
          </p:nvSpPr>
          <p:spPr>
            <a:xfrm>
              <a:off x="2394249" y="1437955"/>
              <a:ext cx="144000" cy="144000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cs typeface="+mn-ea"/>
                <a:sym typeface="+mn-lt"/>
              </a:endParaRPr>
            </a:p>
          </p:txBody>
        </p:sp>
        <p:sp>
          <p:nvSpPr>
            <p:cNvPr id="44" name="Oval 43"/>
            <p:cNvSpPr/>
            <p:nvPr/>
          </p:nvSpPr>
          <p:spPr>
            <a:xfrm>
              <a:off x="5047917" y="1639092"/>
              <a:ext cx="1242727" cy="1242727"/>
            </a:xfrm>
            <a:prstGeom prst="ellipse">
              <a:avLst/>
            </a:prstGeom>
            <a:solidFill>
              <a:schemeClr val="accent1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Oval 44"/>
            <p:cNvSpPr/>
            <p:nvPr/>
          </p:nvSpPr>
          <p:spPr>
            <a:xfrm>
              <a:off x="5047916" y="3221829"/>
              <a:ext cx="1242727" cy="1242727"/>
            </a:xfrm>
            <a:prstGeom prst="ellipse">
              <a:avLst/>
            </a:prstGeom>
            <a:solidFill>
              <a:schemeClr val="accent3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Oval 45"/>
            <p:cNvSpPr/>
            <p:nvPr/>
          </p:nvSpPr>
          <p:spPr>
            <a:xfrm>
              <a:off x="5047916" y="4807704"/>
              <a:ext cx="1242727" cy="1242727"/>
            </a:xfrm>
            <a:prstGeom prst="ellipse">
              <a:avLst/>
            </a:prstGeom>
            <a:solidFill>
              <a:schemeClr val="tx2"/>
            </a:solidFill>
            <a:ln w="88900" cmpd="sng">
              <a:noFill/>
              <a:prstDash val="solid"/>
            </a:ln>
          </p:spPr>
          <p:style>
            <a:lnRef idx="0">
              <a:scrgbClr r="0" g="0" b="0"/>
            </a:lnRef>
            <a:fillRef idx="3">
              <a:scrgbClr r="0" g="0" b="0"/>
            </a:fillRef>
            <a:effectRef idx="2">
              <a:schemeClr val="accent1">
                <a:shade val="8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07A9DAD-ECE3-4F5B-BB2B-4DEB2E0F537D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A4CF3693-C072-41AD-A802-F07A963AB475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E548093C-F51F-4EA3-87B9-56AC599A418B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38" name="矩形 37">
                <a:extLst>
                  <a:ext uri="{FF2B5EF4-FFF2-40B4-BE49-F238E27FC236}">
                    <a16:creationId xmlns:a16="http://schemas.microsoft.com/office/drawing/2014/main" id="{BB1DEDAD-58E7-4AA0-AE3C-96369DDEDA9D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55C70D06-1887-424F-BE4D-784DEB83CF83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TextBox 46"/>
          <p:cNvSpPr txBox="1"/>
          <p:nvPr/>
        </p:nvSpPr>
        <p:spPr>
          <a:xfrm>
            <a:off x="640080" y="76809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6A9AC4"/>
                </a:solidFill>
                <a:latin typeface="DengXian"/>
              </a:rPr>
              <a:t>下一步计划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0" grpId="0"/>
      <p:bldP spid="31" grpId="0"/>
    </p:bld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/>
          <p:nvPr/>
        </p:nvSpPr>
        <p:spPr>
          <a:xfrm>
            <a:off x="951849" y="871935"/>
            <a:ext cx="5278279" cy="3779975"/>
          </a:xfrm>
          <a:prstGeom prst="rect">
            <a:avLst/>
          </a:prstGeom>
          <a:blipFill rotWithShape="1">
            <a:blip r:embed="rId3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colorTemperature colorTemp="5900"/>
                      </a14:imgEffect>
                    </a14:imgLayer>
                  </a14:imgProps>
                </a:ext>
              </a:extLst>
            </a:blip>
            <a:stretch>
              <a:fillRect l="-25000" r="-25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3" name="Rectangle 6"/>
          <p:cNvSpPr/>
          <p:nvPr/>
        </p:nvSpPr>
        <p:spPr>
          <a:xfrm>
            <a:off x="5631439" y="3426767"/>
            <a:ext cx="580289" cy="719402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4" name="Rectangle 7"/>
          <p:cNvSpPr/>
          <p:nvPr/>
        </p:nvSpPr>
        <p:spPr>
          <a:xfrm>
            <a:off x="5631439" y="975217"/>
            <a:ext cx="598688" cy="1875888"/>
          </a:xfrm>
          <a:prstGeom prst="rect">
            <a:avLst/>
          </a:prstGeom>
          <a:noFill/>
          <a:ln w="508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id-ID">
              <a:cs typeface="+mn-ea"/>
              <a:sym typeface="+mn-lt"/>
            </a:endParaRPr>
          </a:p>
        </p:txBody>
      </p:sp>
      <p:sp>
        <p:nvSpPr>
          <p:cNvPr id="129" name="TextBox 8"/>
          <p:cNvSpPr txBox="1"/>
          <p:nvPr/>
        </p:nvSpPr>
        <p:spPr>
          <a:xfrm>
            <a:off x="6512447" y="1373923"/>
            <a:ext cx="1393205" cy="2772246"/>
          </a:xfrm>
          <a:prstGeom prst="rect">
            <a:avLst/>
          </a:prstGeom>
          <a:noFill/>
        </p:spPr>
        <p:txBody>
          <a:bodyPr wrap="square" lIns="68580" tIns="34290" rIns="108000" bIns="27000" numCol="1" spcCol="270000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id-ID" sz="900" b="1" dirty="0">
                <a:solidFill>
                  <a:srgbClr val="44546A"/>
                </a:solidFill>
                <a:cs typeface="+mn-ea"/>
                <a:sym typeface="+mn-lt"/>
              </a:rPr>
              <a:t>风险边界与下一步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FD4CC97B-D485-4586-80E4-1EF43BE8C313}"/>
              </a:ext>
            </a:extLst>
          </p:cNvPr>
          <p:cNvGrpSpPr/>
          <p:nvPr/>
        </p:nvGrpSpPr>
        <p:grpSpPr>
          <a:xfrm>
            <a:off x="4059077" y="180499"/>
            <a:ext cx="1108234" cy="526732"/>
            <a:chOff x="8897" y="-1980"/>
            <a:chExt cx="2327" cy="1106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A69F1D8C-E87B-438B-89F2-ABEF83864133}"/>
                </a:ext>
              </a:extLst>
            </p:cNvPr>
            <p:cNvGrpSpPr/>
            <p:nvPr/>
          </p:nvGrpSpPr>
          <p:grpSpPr>
            <a:xfrm>
              <a:off x="8897" y="-1980"/>
              <a:ext cx="2327" cy="1106"/>
              <a:chOff x="5357482" y="254000"/>
              <a:chExt cx="1477039" cy="701710"/>
            </a:xfrm>
          </p:grpSpPr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FCEC44A-4B5E-498A-8454-935F78653A71}"/>
                  </a:ext>
                </a:extLst>
              </p:cNvPr>
              <p:cNvSpPr/>
              <p:nvPr/>
            </p:nvSpPr>
            <p:spPr>
              <a:xfrm>
                <a:off x="5357482" y="254000"/>
                <a:ext cx="1477039" cy="5660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>
                  <a:lnSpc>
                    <a:spcPct val="120000"/>
                  </a:lnSpc>
                </a:pPr>
              </a:p>
            </p:txBody>
          </p:sp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A6942E88-DE52-419D-A2B0-4FD27D49163B}"/>
                  </a:ext>
                </a:extLst>
              </p:cNvPr>
              <p:cNvSpPr/>
              <p:nvPr/>
            </p:nvSpPr>
            <p:spPr>
              <a:xfrm>
                <a:off x="5395027" y="668589"/>
                <a:ext cx="1401946" cy="2871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</a:p>
            </p:txBody>
          </p:sp>
        </p:grp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5C6FA748-82B3-4576-8E26-AFAB5F50AEF5}"/>
                </a:ext>
              </a:extLst>
            </p:cNvPr>
            <p:cNvCxnSpPr/>
            <p:nvPr/>
          </p:nvCxnSpPr>
          <p:spPr>
            <a:xfrm>
              <a:off x="9859" y="-1980"/>
              <a:ext cx="393" cy="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Rounded Rectangle 129"/>
          <p:cNvSpPr/>
          <p:nvPr/>
        </p:nvSpPr>
        <p:spPr>
          <a:xfrm>
            <a:off x="1033272" y="950976"/>
            <a:ext cx="5111496" cy="36118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ADC7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188720" y="1051560"/>
            <a:ext cx="4800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A9AC4"/>
                </a:solidFill>
                <a:latin typeface="DengXian"/>
              </a:rPr>
              <a:t>项目总结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188720" y="143560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立项侧：市场规模、客群痛点、竞品格局与技术预研已形成完整证据链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188720" y="170992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技术侧：多模态融合认证、两阶段开门与语音 Agent 已在板端跑通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188720" y="198424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安全侧：一次性凭证 + 本地网关，使模型误判也无法驱动真实开锁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1188720" y="2258568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工程侧：四个服务统一监督、端口与凭证自动清理，可重复部署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188720" y="2532887"/>
            <a:ext cx="4800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0">
                <a:solidFill>
                  <a:srgbClr val="44546A"/>
                </a:solidFill>
                <a:latin typeface="DengXian"/>
              </a:rPr>
              <a:t>· 边界：真实继电器、断网可用性、端到端延迟与 Nano 4GB 仍待验证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1188720" y="3849624"/>
            <a:ext cx="4800600" cy="566928"/>
          </a:xfrm>
          <a:prstGeom prst="roundRect">
            <a:avLst/>
          </a:prstGeom>
          <a:solidFill>
            <a:srgbClr val="6A9A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298448" y="3922776"/>
            <a:ext cx="458114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DengXian"/>
              </a:rPr>
              <a:t>硬件认证负责安全，Agent 负责交互，网关负责执行 —— 三者各司其职的组合已经验证可行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0910c8dbefd44dba6ce05a395d4f64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0957" y="6192"/>
            <a:ext cx="9242584" cy="5166836"/>
          </a:xfrm>
          <a:prstGeom prst="rect">
            <a:avLst/>
          </a:prstGeom>
        </p:spPr>
      </p:pic>
      <p:sp>
        <p:nvSpPr>
          <p:cNvPr id="40" name="椭圆 39"/>
          <p:cNvSpPr/>
          <p:nvPr/>
        </p:nvSpPr>
        <p:spPr>
          <a:xfrm>
            <a:off x="1571632" y="-444038"/>
            <a:ext cx="6031575" cy="6031575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364933" y="-604361"/>
            <a:ext cx="6382226" cy="6351270"/>
            <a:chOff x="2899" y="-1269"/>
            <a:chExt cx="13401" cy="13336"/>
          </a:xfrm>
        </p:grpSpPr>
        <p:sp>
          <p:nvSpPr>
            <p:cNvPr id="39" name="椭圆 38"/>
            <p:cNvSpPr/>
            <p:nvPr/>
          </p:nvSpPr>
          <p:spPr>
            <a:xfrm>
              <a:off x="2964" y="-1269"/>
              <a:ext cx="13337" cy="13337"/>
            </a:xfrm>
            <a:prstGeom prst="ellipse">
              <a:avLst/>
            </a:prstGeom>
            <a:noFill/>
            <a:ln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36000">
                    <a:schemeClr val="tx1"/>
                  </a:gs>
                  <a:gs pos="60000">
                    <a:schemeClr val="bg1"/>
                  </a:gs>
                  <a:gs pos="100000">
                    <a:schemeClr val="tx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44" name="组合 43"/>
            <p:cNvGrpSpPr/>
            <p:nvPr/>
          </p:nvGrpSpPr>
          <p:grpSpPr>
            <a:xfrm>
              <a:off x="2899" y="3268"/>
              <a:ext cx="503" cy="1249"/>
              <a:chOff x="1820381" y="2075156"/>
              <a:chExt cx="319500" cy="792801"/>
            </a:xfrm>
          </p:grpSpPr>
          <p:sp>
            <p:nvSpPr>
              <p:cNvPr id="52" name="椭圆 51"/>
              <p:cNvSpPr/>
              <p:nvPr/>
            </p:nvSpPr>
            <p:spPr>
              <a:xfrm>
                <a:off x="1975944" y="2075156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1820381" y="2331550"/>
                <a:ext cx="295688" cy="295688"/>
              </a:xfrm>
              <a:prstGeom prst="ellipse">
                <a:avLst/>
              </a:prstGeom>
              <a:solidFill>
                <a:srgbClr val="E1F1F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1820381" y="2704020"/>
                <a:ext cx="163937" cy="163937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  <p:grpSp>
          <p:nvGrpSpPr>
            <p:cNvPr id="10" name="组合 9"/>
            <p:cNvGrpSpPr/>
            <p:nvPr/>
          </p:nvGrpSpPr>
          <p:grpSpPr>
            <a:xfrm>
              <a:off x="15056" y="7951"/>
              <a:ext cx="825" cy="1279"/>
              <a:chOff x="15056" y="7951"/>
              <a:chExt cx="825" cy="1279"/>
            </a:xfrm>
          </p:grpSpPr>
          <p:sp>
            <p:nvSpPr>
              <p:cNvPr id="45" name="椭圆 44"/>
              <p:cNvSpPr/>
              <p:nvPr/>
            </p:nvSpPr>
            <p:spPr>
              <a:xfrm>
                <a:off x="15623" y="7951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6" name="椭圆 45"/>
              <p:cNvSpPr/>
              <p:nvPr/>
            </p:nvSpPr>
            <p:spPr>
              <a:xfrm>
                <a:off x="15288" y="8385"/>
                <a:ext cx="466" cy="466"/>
              </a:xfrm>
              <a:prstGeom prst="ellipse">
                <a:avLst/>
              </a:prstGeom>
              <a:solidFill>
                <a:srgbClr val="AEC7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15056" y="8972"/>
                <a:ext cx="258" cy="25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>
                    <a:solidFill>
                      <a:schemeClr val="lt1"/>
                    </a:solidFill>
                  </a:defRPr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0" name="矩形 49"/>
          <p:cNvSpPr/>
          <p:nvPr/>
        </p:nvSpPr>
        <p:spPr>
          <a:xfrm>
            <a:off x="2579371" y="1320642"/>
            <a:ext cx="3854291" cy="838691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5000" dirty="0">
                <a:cs typeface="+mn-ea"/>
                <a:sym typeface="+mn-lt"/>
              </a:rPr>
              <a:t>感谢聆听 · 敬请指正</a:t>
            </a:r>
          </a:p>
        </p:txBody>
      </p:sp>
      <p:sp>
        <p:nvSpPr>
          <p:cNvPr id="51" name="矩形 50"/>
          <p:cNvSpPr/>
          <p:nvPr/>
        </p:nvSpPr>
        <p:spPr>
          <a:xfrm>
            <a:off x="2602344" y="3386583"/>
            <a:ext cx="4069379" cy="238527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1100" dirty="0">
                <a:solidFill>
                  <a:srgbClr val="121212">
                    <a:alpha val="80000"/>
                  </a:srgbClr>
                </a:solidFill>
                <a:cs typeface="+mn-ea"/>
                <a:sym typeface="+mn-lt"/>
              </a:rPr>
              <a:t>技术方案：docs/LLM_AGENT_PLAN.md（v2.1）　部署记录：docs/DEPLOYMENT.md / 汇报稿：docs/PPT_REPORT.md　素材：docs/architecture.png、docs/unlock_sequence.png</a:t>
            </a:r>
            <a:endParaRPr lang="zh-CN" altLang="en-US" sz="1100" spc="225" dirty="0">
              <a:cs typeface="+mn-ea"/>
              <a:sym typeface="+mn-lt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414111" y="2854166"/>
            <a:ext cx="4257675" cy="284693"/>
          </a:xfrm>
          <a:prstGeom prst="rect">
            <a:avLst/>
          </a:prstGeom>
        </p:spPr>
        <p:txBody>
          <a:bodyPr wrap="square" lIns="68580" tIns="34290" rIns="68580" bIns="34290">
            <a:spAutoFit/>
          </a:bodyPr>
          <a:lstStyle/>
          <a:p>
            <a:pPr algn="dist"/>
            <a:r>
              <a:rPr lang="zh-CN" altLang="en-US" dirty="0">
                <a:cs typeface="+mn-ea"/>
                <a:sym typeface="+mn-lt"/>
              </a:rPr>
              <a:t>项目：面向家庭全人群的智能门锁 AI 原型（CH-2026-SL01-V1.0）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414111" y="2423636"/>
            <a:ext cx="4185285" cy="87630"/>
            <a:chOff x="5156" y="5307"/>
            <a:chExt cx="8788" cy="184"/>
          </a:xfrm>
        </p:grpSpPr>
        <p:cxnSp>
          <p:nvCxnSpPr>
            <p:cNvPr id="8" name="PA_直接连接符 4"/>
            <p:cNvCxnSpPr/>
            <p:nvPr>
              <p:custDataLst>
                <p:tags r:id="rId2"/>
              </p:custDataLst>
            </p:nvPr>
          </p:nvCxnSpPr>
          <p:spPr>
            <a:xfrm>
              <a:off x="5156" y="5315"/>
              <a:ext cx="8788" cy="0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PA_矩形 27"/>
            <p:cNvSpPr/>
            <p:nvPr>
              <p:custDataLst>
                <p:tags r:id="rId5"/>
              </p:custDataLst>
            </p:nvPr>
          </p:nvSpPr>
          <p:spPr>
            <a:xfrm>
              <a:off x="7995" y="5307"/>
              <a:ext cx="3110" cy="184"/>
            </a:xfrm>
            <a:prstGeom prst="rect">
              <a:avLst/>
            </a:prstGeom>
            <a:solidFill>
              <a:srgbClr val="12121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3073241" y="4215283"/>
            <a:ext cx="2996565" cy="491489"/>
            <a:chOff x="6316" y="9230"/>
            <a:chExt cx="6292" cy="1032"/>
          </a:xfrm>
        </p:grpSpPr>
        <p:cxnSp>
          <p:nvCxnSpPr>
            <p:cNvPr id="12" name="直接连接符 11"/>
            <p:cNvCxnSpPr/>
            <p:nvPr/>
          </p:nvCxnSpPr>
          <p:spPr>
            <a:xfrm flipV="1">
              <a:off x="9142" y="9433"/>
              <a:ext cx="640" cy="618"/>
            </a:xfrm>
            <a:prstGeom prst="line">
              <a:avLst/>
            </a:prstGeom>
            <a:ln w="28575">
              <a:solidFill>
                <a:srgbClr val="BEBEB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6316" y="9230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100" spc="450" dirty="0">
                  <a:solidFill>
                    <a:srgbClr val="121212"/>
                  </a:solidFill>
                  <a:cs typeface="+mn-ea"/>
                  <a:sym typeface="+mn-lt"/>
                </a:rPr>
                <a:t>汇报人</a:t>
              </a: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9782" y="9713"/>
              <a:ext cx="2826" cy="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1100" spc="450" dirty="0" smtClean="0">
                  <a:solidFill>
                    <a:srgbClr val="121212"/>
                  </a:solidFill>
                  <a:cs typeface="+mn-ea"/>
                  <a:sym typeface="+mn-lt"/>
                </a:rPr>
                <a:t>现场演示保持 SMART_LOCK_NO_UNLOCK=1，不驱动真实继电器</a:t>
              </a:r>
              <a:endParaRPr lang="en-US" altLang="zh-CN" sz="1100" spc="450" dirty="0">
                <a:solidFill>
                  <a:srgbClr val="121212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6" name="TextBox 65"/>
          <p:cNvSpPr txBox="1"/>
          <p:nvPr/>
        </p:nvSpPr>
        <p:spPr>
          <a:xfrm>
            <a:off x="8275320" y="4828032"/>
            <a:ext cx="548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A9AC4"/>
                </a:solidFill>
                <a:latin typeface="DengXian"/>
              </a:rPr>
              <a:t>46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4" presetID="4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 tmFilter="0,0; .5, 1; 1, 1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/>
      <p:bldP spid="50" grpId="1"/>
      <p:bldP spid="51" grpId="0"/>
      <p:bldP spid="6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极简蓝色商务通用工作汇报ppt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TEMPLATE_CATEGORY" val="custom"/>
  <p:tag name="KSO_WM_TEMPLATE_INDEX" val="2018455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4553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0.0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ADC7DD"/>
      </a:accent1>
      <a:accent2>
        <a:srgbClr val="E1F1FE"/>
      </a:accent2>
      <a:accent3>
        <a:srgbClr val="AFC8DE"/>
      </a:accent3>
      <a:accent4>
        <a:srgbClr val="6A9AC4"/>
      </a:accent4>
      <a:accent5>
        <a:srgbClr val="A3C9E9"/>
      </a:accent5>
      <a:accent6>
        <a:srgbClr val="6EAC46"/>
      </a:accent6>
      <a:hlink>
        <a:srgbClr val="0563C1"/>
      </a:hlink>
      <a:folHlink>
        <a:srgbClr val="954D72"/>
      </a:folHlink>
    </a:clrScheme>
    <a:fontScheme name="seq0ukur">
      <a:majorFont>
        <a:latin typeface="Agency FB"/>
        <a:ea typeface="DengXian"/>
        <a:cs typeface=""/>
      </a:majorFont>
      <a:minorFont>
        <a:latin typeface="Agency FB"/>
        <a:ea typeface="DengXia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1740</Words>
  <Application>Microsoft Office PowerPoint</Application>
  <PresentationFormat>全屏显示(16:9)</PresentationFormat>
  <Paragraphs>259</Paragraphs>
  <Slides>23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Gill Sans</vt:lpstr>
      <vt:lpstr>DengXian</vt:lpstr>
      <vt:lpstr>黑体</vt:lpstr>
      <vt:lpstr>宋体</vt:lpstr>
      <vt:lpstr>微软雅黑</vt:lpstr>
      <vt:lpstr>Agency FB</vt:lpstr>
      <vt:lpstr>Arial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极简蓝色商务通用工作汇报ppt模板</dc:title>
  <dc:creator/>
  <cp:lastModifiedBy/>
  <cp:revision>8</cp:revision>
  <dcterms:created xsi:type="dcterms:W3CDTF">2018-03-01T02:03:00Z</dcterms:created>
  <dcterms:modified xsi:type="dcterms:W3CDTF">2019-09-11T05:18:08Z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