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notesSlides/notesSlide1.xml" Type="http://schemas.openxmlformats.org/officeDocument/2006/relationships/notesSlide"/><Relationship Id="rId26" Target="notesSlides/notesSlide2.xml" Type="http://schemas.openxmlformats.org/officeDocument/2006/relationships/notesSlide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37" Target="notesSlides/notesSlide13.xml" Type="http://schemas.openxmlformats.org/officeDocument/2006/relationships/notesSlide"/><Relationship Id="rId38" Target="notesSlides/notesSlide14.xml" Type="http://schemas.openxmlformats.org/officeDocument/2006/relationships/notesSlide"/><Relationship Id="rId39" Target="notesSlides/notesSlide15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6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来到今天的分享。在我们开始一个项目，比如毕业设计或者课程设计时，你是否曾遇到过这样的困惑：项目做到一半才发现需求理解错了？或者开发过程中bug层出不穷，最后只能熬夜赶工？今天，我们将一起探讨一种强大的研发管理方法——IPD，它将帮助我们从根源上解决这些问题，让项目开发变得更高效、更有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分享将分为四个部分。首先，我们会从大家非常熟悉的学生项目痛点切入，看看我们为什么需要一个规范的流程。接着，我们将正式介绍IPD是什么，它的核心理念是什么。然后，也是最重要的部分，我们会详细拆解IPD的实施步骤，也就是它的五大阶段和六个关键的技术评审点。最后，我们会介绍一些简单易用的工具，帮助大家在自己的项目中轻松落地IPD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让我们先来看看这些场景是否似曾相识：做毕设时，一开始觉得想法很棒，但做到一半发现方向完全错了；或者团队项目，每个人都按自己的理解去做，最后整合的时候发现根本无法拼接。这些都是典型的“自由开发模式”带来的问题。它就像在没有图纸的情况下盖房子，风险极高。而IPD模式，则像建筑蓝图，它通过清晰的阶段和评审，确保我们每一步都走在正确的道路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IPD到底是什么？我们可以用一个比喻来理解。自由开发就像搭一个茅草屋，随心所欲，但不牢固。而IPD开发，则像建造一座摩天大楼。你需要先勘探、设计，然后分阶段施工，每一步都有严格的监理和验收。IPD的核心就是“集成”、“流程”和“团队”，它把产品开发的所有环节、所有人都整合到一个统一的、有节奏的流程中，确保我们最终能交付一个高质量、有市场竞争力的产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我们进入最核心的部分：IPD具体是如何实施的。这张图清晰地展示了IPD的全貌。它主要包含五个阶段：概念、计划、开发、验证和发布。但更关键的是穿插在这些阶段之间的评审点。技术评审（TR）就像是技术专家的把关，确保我们的技术方案没问题。而决策评审（DCP）则是管理层的决策，决定这个项目是否值得继续投入资源。这就像游戏里的“存档点”，只有通过了评审，才能进入下一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来看第一个阶段：概念阶段。这个阶段的核心任务是决定“我们应该做什么”。就像写论文前要先确定选题一样。我们需要深入研究市场，了解用户真正的痛点，然后提出一个初步的产品概念。TR1评审就是对这个概念进行把关，确保我们的想法不是空中楼阁，而是有市场、有技术支撑的。这个阶段的核心产出，就是我们之前讨论过的《Charter立项任务书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的，概念通过了，我们进入计划阶段。这个阶段的任务是回答“我们如何做”。就像写论文需要先列好大纲一样。我们需要制定详细的项目计划，设计系统的整体架构，并细化到每个模块的具体实现。TR2和TR3评审就是对我们的“设计图纸”进行审查。TR2看整体框架，TR3看具体细节。只有图纸通过了专家的评审，我们才能放心地开始施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设计图纸通过后，我们就进入了开发阶段，也就是动手写代码的阶段。这个阶段的核心是“实现”。TR4评审是对我们开发成果的第一次检验。它要求我们把每个模块独立拿出来测试，确保它们各自都能正常工作。这就像汽车生产线上，先确保每个零件（比如发动机、变速箱）都是合格的，然后再把它们组装起来。这一步能有效避免后期集成时出现大量难以定位的bug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所有零件都合格后，就进入了验证阶段。这个阶段的核心是“集成与测试”。我们把所有模块组装成一个完整的系统，然后进行全面的测试。TR5评审是对整个系统的一次大考。我们要确保所有功能都能协同工作，系统性能满足要求，特别是对于AI项目，要验证我们的模型在真实场景下的效果。只有通过了这一关，产品才能基本定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来到发布阶段。这个阶段的任务是准备最终交付。我们会邀请用户进行验收测试，确保产品符合他们的期望。同时，准备好所有的文档，并将软件打包成可以直接安装使用的程序。TR6评审是最终的交付前检查，确保所有东西都准备妥当，没有遗漏。通过了TR6，我们的产品就可以正式“毕业”，交付给用户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让我们再回顾一下这张全景图。IPD的精髓就在于它的系统性和纪律性。五个阶段是我们的行动路线图，TR技术评审是我们的质量保障体系，而DCP决策评审则是我们的投资控制机制。这套组合拳，能够有效地将“不确定性”转化为“确定性”，让我们的项目开发不再是一场赌博，而是一场有计划、有把握的科学行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理论说完了，大家可能会问，这么复杂的流程，我们学生怎么落地呢？其实很简单。我们不需要昂贵的企业级软件。比如，我们可以用飞书文档或语雀来写我们的项目文档和评审报告。用飞书项目或者免费的禅道开源版来管理我们的任务和进度。用Gitee或GitHub来管理我们的代码。这些工具组合起来，就能很好地支撑我们在毕设或课程项目中实践IPD的核心思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以飞书项目为例，看看如何具体操作。我们可以在飞书里创建一个项目，然后把IPD的五个阶段设置成看板的不同列。接着，把每个阶段要做的事情，比如写文档、做设计、进行评审，都创建成一个个任务卡片。团队成员可以认领任务，完成后就把卡片拖到下一个阶段。这样，整个项目的进展就非常清晰，谁该做什么，项目卡在哪一步，都一目了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再比如禅道，它是一款非常强大的开源工具。它不仅能管理任务，还专门为软件开发设计了缺陷管理和测试用例管理模块。在IPD的验证阶段，测试同学可以在禅道里提交bug，开发同学修复后关闭。所有的测试用例也可以在里面管理和执行。这就形成了一个从发现问题到解决问题的完整闭环，极大地保证了我们最终交付产品的质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来总结一下。IPD不仅仅是一个开发流程，它更是一种思维方式的转变。它教会我们如何像一个专业的工程师一样去思考和工作。通过IPD，我们可以将风险前置，实现高效的团队协同，并最终交付高质量的产品。希望今天的分享能帮助大家，在未来的项目中，无论是毕业设计还是工作项目，都能尝试运用IPD的思想，让你的开发之路更加顺畅、专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我的分享到此结束，感谢大家的聆听。现在是问答环节，大家对IPD流程或者相关工具有任何问题，都欢迎提出来，我们一起交流探讨。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.jpe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4.svg" Type="http://schemas.openxmlformats.org/officeDocument/2006/relationships/image"/><Relationship Id="rId11" Target="../media/image15.png" Type="http://schemas.openxmlformats.org/officeDocument/2006/relationships/image"/><Relationship Id="rId12" Target="../media/image16.svg" Type="http://schemas.openxmlformats.org/officeDocument/2006/relationships/image"/><Relationship Id="rId13" Target="../notesSlides/notesSlide3.xml" Type="http://schemas.openxmlformats.org/officeDocument/2006/relationships/notesSlide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4.xml" Type="http://schemas.openxmlformats.org/officeDocument/2006/relationships/notesSlide"/><Relationship Id="rId2" Target="../media/image8.jpeg" Type="http://schemas.openxmlformats.org/officeDocument/2006/relationships/image"/><Relationship Id="rId3" Target="../media/image17.jpe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.jpeg" Type="http://schemas.openxmlformats.org/officeDocument/2006/relationships/image"/><Relationship Id="rId3" Target="../media/image24.jpeg" Type="http://schemas.openxmlformats.org/officeDocument/2006/relationships/image"/><Relationship Id="rId4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12" Target="../media/image32.png" Type="http://schemas.openxmlformats.org/officeDocument/2006/relationships/image"/><Relationship Id="rId13" Target="../media/image33.svg" Type="http://schemas.openxmlformats.org/officeDocument/2006/relationships/image"/><Relationship Id="rId14" Target="../media/image34.png" Type="http://schemas.openxmlformats.org/officeDocument/2006/relationships/image"/><Relationship Id="rId15" Target="../media/image35.svg" Type="http://schemas.openxmlformats.org/officeDocument/2006/relationships/image"/><Relationship Id="rId16" Target="../media/image36.png" Type="http://schemas.openxmlformats.org/officeDocument/2006/relationships/image"/><Relationship Id="rId17" Target="../media/image37.svg" Type="http://schemas.openxmlformats.org/officeDocument/2006/relationships/image"/><Relationship Id="rId18" Target="../notesSlides/notesSlide6.xml" Type="http://schemas.openxmlformats.org/officeDocument/2006/relationships/notesSlide"/><Relationship Id="rId2" Target="../media/image8.jpeg" Type="http://schemas.openxmlformats.org/officeDocument/2006/relationships/image"/><Relationship Id="rId3" Target="../media/image25.jpe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5.svg" Type="http://schemas.openxmlformats.org/officeDocument/2006/relationships/image"/><Relationship Id="rId11" Target="../notesSlides/notesSlide7.xml" Type="http://schemas.openxmlformats.org/officeDocument/2006/relationships/notesSlide"/><Relationship Id="rId2" Target="../media/image8.jpeg" Type="http://schemas.openxmlformats.org/officeDocument/2006/relationships/image"/><Relationship Id="rId3" Target="../media/image38.png" Type="http://schemas.openxmlformats.org/officeDocument/2006/relationships/image"/><Relationship Id="rId4" Target="../media/image39.svg" Type="http://schemas.openxmlformats.org/officeDocument/2006/relationships/image"/><Relationship Id="rId5" Target="../media/image40.png" Type="http://schemas.openxmlformats.org/officeDocument/2006/relationships/image"/><Relationship Id="rId6" Target="../media/image41.svg" Type="http://schemas.openxmlformats.org/officeDocument/2006/relationships/image"/><Relationship Id="rId7" Target="../media/image42.png" Type="http://schemas.openxmlformats.org/officeDocument/2006/relationships/image"/><Relationship Id="rId8" Target="../media/image43.sv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3.svg" Type="http://schemas.openxmlformats.org/officeDocument/2006/relationships/image"/><Relationship Id="rId11" Target="../media/image54.png" Type="http://schemas.openxmlformats.org/officeDocument/2006/relationships/image"/><Relationship Id="rId12" Target="../media/image55.svg" Type="http://schemas.openxmlformats.org/officeDocument/2006/relationships/image"/><Relationship Id="rId13" Target="../media/image56.png" Type="http://schemas.openxmlformats.org/officeDocument/2006/relationships/image"/><Relationship Id="rId14" Target="../media/image57.svg" Type="http://schemas.openxmlformats.org/officeDocument/2006/relationships/image"/><Relationship Id="rId15" Target="../media/image44.png" Type="http://schemas.openxmlformats.org/officeDocument/2006/relationships/image"/><Relationship Id="rId16" Target="../media/image45.svg" Type="http://schemas.openxmlformats.org/officeDocument/2006/relationships/image"/><Relationship Id="rId17" Target="../notesSlides/notesSlide8.xml" Type="http://schemas.openxmlformats.org/officeDocument/2006/relationships/notesSlide"/><Relationship Id="rId2" Target="../media/image8.jpeg" Type="http://schemas.openxmlformats.org/officeDocument/2006/relationships/image"/><Relationship Id="rId3" Target="../media/image46.png" Type="http://schemas.openxmlformats.org/officeDocument/2006/relationships/image"/><Relationship Id="rId4" Target="../media/image47.svg" Type="http://schemas.openxmlformats.org/officeDocument/2006/relationships/image"/><Relationship Id="rId5" Target="../media/image48.png" Type="http://schemas.openxmlformats.org/officeDocument/2006/relationships/image"/><Relationship Id="rId6" Target="../media/image49.svg" Type="http://schemas.openxmlformats.org/officeDocument/2006/relationships/image"/><Relationship Id="rId7" Target="../media/image50.png" Type="http://schemas.openxmlformats.org/officeDocument/2006/relationships/image"/><Relationship Id="rId8" Target="../media/image51.sv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5.svg" Type="http://schemas.openxmlformats.org/officeDocument/2006/relationships/image"/><Relationship Id="rId11" Target="../media/image66.png" Type="http://schemas.openxmlformats.org/officeDocument/2006/relationships/image"/><Relationship Id="rId12" Target="../media/image67.svg" Type="http://schemas.openxmlformats.org/officeDocument/2006/relationships/image"/><Relationship Id="rId13" Target="../media/image50.png" Type="http://schemas.openxmlformats.org/officeDocument/2006/relationships/image"/><Relationship Id="rId14" Target="../media/image51.svg" Type="http://schemas.openxmlformats.org/officeDocument/2006/relationships/image"/><Relationship Id="rId15" Target="../media/image44.png" Type="http://schemas.openxmlformats.org/officeDocument/2006/relationships/image"/><Relationship Id="rId16" Target="../media/image45.svg" Type="http://schemas.openxmlformats.org/officeDocument/2006/relationships/image"/><Relationship Id="rId17" Target="../notesSlides/notesSlide9.xml" Type="http://schemas.openxmlformats.org/officeDocument/2006/relationships/notesSlide"/><Relationship Id="rId2" Target="../media/image8.jpeg" Type="http://schemas.openxmlformats.org/officeDocument/2006/relationships/image"/><Relationship Id="rId3" Target="../media/image58.png" Type="http://schemas.openxmlformats.org/officeDocument/2006/relationships/image"/><Relationship Id="rId4" Target="../media/image59.svg" Type="http://schemas.openxmlformats.org/officeDocument/2006/relationships/image"/><Relationship Id="rId5" Target="../media/image60.png" Type="http://schemas.openxmlformats.org/officeDocument/2006/relationships/image"/><Relationship Id="rId6" Target="../media/image61.svg" Type="http://schemas.openxmlformats.org/officeDocument/2006/relationships/image"/><Relationship Id="rId7" Target="../media/image62.png" Type="http://schemas.openxmlformats.org/officeDocument/2006/relationships/image"/><Relationship Id="rId8" Target="../media/image63.svg" Type="http://schemas.openxmlformats.org/officeDocument/2006/relationships/image"/><Relationship Id="rId9" Target="../media/image6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5.svg" Type="http://schemas.openxmlformats.org/officeDocument/2006/relationships/image"/><Relationship Id="rId11" Target="../media/image72.png" Type="http://schemas.openxmlformats.org/officeDocument/2006/relationships/image"/><Relationship Id="rId12" Target="../media/image73.svg" Type="http://schemas.openxmlformats.org/officeDocument/2006/relationships/image"/><Relationship Id="rId13" Target="../media/image54.png" Type="http://schemas.openxmlformats.org/officeDocument/2006/relationships/image"/><Relationship Id="rId14" Target="../media/image55.svg" Type="http://schemas.openxmlformats.org/officeDocument/2006/relationships/image"/><Relationship Id="rId15" Target="../media/image74.png" Type="http://schemas.openxmlformats.org/officeDocument/2006/relationships/image"/><Relationship Id="rId16" Target="../media/image75.svg" Type="http://schemas.openxmlformats.org/officeDocument/2006/relationships/image"/><Relationship Id="rId17" Target="../notesSlides/notesSlide10.xml" Type="http://schemas.openxmlformats.org/officeDocument/2006/relationships/notesSlide"/><Relationship Id="rId2" Target="../media/image8.jpeg" Type="http://schemas.openxmlformats.org/officeDocument/2006/relationships/image"/><Relationship Id="rId3" Target="../media/image68.png" Type="http://schemas.openxmlformats.org/officeDocument/2006/relationships/image"/><Relationship Id="rId4" Target="../media/image69.svg" Type="http://schemas.openxmlformats.org/officeDocument/2006/relationships/image"/><Relationship Id="rId5" Target="../media/image70.png" Type="http://schemas.openxmlformats.org/officeDocument/2006/relationships/image"/><Relationship Id="rId6" Target="../media/image71.svg" Type="http://schemas.openxmlformats.org/officeDocument/2006/relationships/image"/><Relationship Id="rId7" Target="../media/image52.png" Type="http://schemas.openxmlformats.org/officeDocument/2006/relationships/image"/><Relationship Id="rId8" Target="../media/image53.sv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1.xml" Type="http://schemas.openxmlformats.org/officeDocument/2006/relationships/notesSlide"/><Relationship Id="rId2" Target="../media/image8.jpeg" Type="http://schemas.openxmlformats.org/officeDocument/2006/relationships/image"/><Relationship Id="rId3" Target="../media/image24.jpeg" Type="http://schemas.openxmlformats.org/officeDocument/2006/relationships/image"/><Relationship Id="rId4" Target="../media/image58.png" Type="http://schemas.openxmlformats.org/officeDocument/2006/relationships/image"/><Relationship Id="rId5" Target="../media/image59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74.png" Type="http://schemas.openxmlformats.org/officeDocument/2006/relationships/image"/><Relationship Id="rId9" Target="../media/image7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.jpeg" Type="http://schemas.openxmlformats.org/officeDocument/2006/relationships/image"/><Relationship Id="rId3" Target="../media/image70.png" Type="http://schemas.openxmlformats.org/officeDocument/2006/relationships/image"/><Relationship Id="rId4" Target="../media/image71.svg" Type="http://schemas.openxmlformats.org/officeDocument/2006/relationships/image"/><Relationship Id="rId5" Target="../media/image76.png" Type="http://schemas.openxmlformats.org/officeDocument/2006/relationships/image"/><Relationship Id="rId6" Target="../media/image77.svg" Type="http://schemas.openxmlformats.org/officeDocument/2006/relationships/image"/><Relationship Id="rId7" Target="../media/image78.png" Type="http://schemas.openxmlformats.org/officeDocument/2006/relationships/image"/><Relationship Id="rId8" Target="../media/image79.svg" Type="http://schemas.openxmlformats.org/officeDocument/2006/relationships/image"/><Relationship Id="rId9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85.png" Type="http://schemas.openxmlformats.org/officeDocument/2006/relationships/image"/><Relationship Id="rId13" Target="../media/image86.svg" Type="http://schemas.openxmlformats.org/officeDocument/2006/relationships/image"/><Relationship Id="rId14" Target="../notesSlides/notesSlide13.xml" Type="http://schemas.openxmlformats.org/officeDocument/2006/relationships/notesSlide"/><Relationship Id="rId2" Target="../media/image8.jpeg" Type="http://schemas.openxmlformats.org/officeDocument/2006/relationships/image"/><Relationship Id="rId3" Target="../media/image80.jpeg" Type="http://schemas.openxmlformats.org/officeDocument/2006/relationships/image"/><Relationship Id="rId4" Target="../media/image81.png" Type="http://schemas.openxmlformats.org/officeDocument/2006/relationships/image"/><Relationship Id="rId5" Target="../media/image82.svg" Type="http://schemas.openxmlformats.org/officeDocument/2006/relationships/image"/><Relationship Id="rId6" Target="../media/image58.png" Type="http://schemas.openxmlformats.org/officeDocument/2006/relationships/image"/><Relationship Id="rId7" Target="../media/image59.svg" Type="http://schemas.openxmlformats.org/officeDocument/2006/relationships/image"/><Relationship Id="rId8" Target="../media/image83.png" Type="http://schemas.openxmlformats.org/officeDocument/2006/relationships/image"/><Relationship Id="rId9" Target="../media/image8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90.svg" Type="http://schemas.openxmlformats.org/officeDocument/2006/relationships/image"/><Relationship Id="rId11" Target="../media/image62.png" Type="http://schemas.openxmlformats.org/officeDocument/2006/relationships/image"/><Relationship Id="rId12" Target="../media/image63.svg" Type="http://schemas.openxmlformats.org/officeDocument/2006/relationships/image"/><Relationship Id="rId13" Target="../media/image91.jpeg" Type="http://schemas.openxmlformats.org/officeDocument/2006/relationships/image"/><Relationship Id="rId14" Target="../notesSlides/notesSlide14.xml" Type="http://schemas.openxmlformats.org/officeDocument/2006/relationships/notesSlide"/><Relationship Id="rId2" Target="../media/image8.jpeg" Type="http://schemas.openxmlformats.org/officeDocument/2006/relationships/image"/><Relationship Id="rId3" Target="../media/image87.png" Type="http://schemas.openxmlformats.org/officeDocument/2006/relationships/image"/><Relationship Id="rId4" Target="../media/image88.svg" Type="http://schemas.openxmlformats.org/officeDocument/2006/relationships/image"/><Relationship Id="rId5" Target="../media/image78.png" Type="http://schemas.openxmlformats.org/officeDocument/2006/relationships/image"/><Relationship Id="rId6" Target="../media/image79.svg" Type="http://schemas.openxmlformats.org/officeDocument/2006/relationships/image"/><Relationship Id="rId7" Target="../media/image72.png" Type="http://schemas.openxmlformats.org/officeDocument/2006/relationships/image"/><Relationship Id="rId8" Target="../media/image73.svg" Type="http://schemas.openxmlformats.org/officeDocument/2006/relationships/image"/><Relationship Id="rId9" Target="../media/image8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3.svg" Type="http://schemas.openxmlformats.org/officeDocument/2006/relationships/image"/><Relationship Id="rId11" Target="../media/image94.png" Type="http://schemas.openxmlformats.org/officeDocument/2006/relationships/image"/><Relationship Id="rId12" Target="../media/image95.svg" Type="http://schemas.openxmlformats.org/officeDocument/2006/relationships/image"/><Relationship Id="rId13" Target="../media/image96.png" Type="http://schemas.openxmlformats.org/officeDocument/2006/relationships/image"/><Relationship Id="rId14" Target="../media/image97.svg" Type="http://schemas.openxmlformats.org/officeDocument/2006/relationships/image"/><Relationship Id="rId15" Target="../media/image98.png" Type="http://schemas.openxmlformats.org/officeDocument/2006/relationships/image"/><Relationship Id="rId16" Target="../media/image99.svg" Type="http://schemas.openxmlformats.org/officeDocument/2006/relationships/image"/><Relationship Id="rId17" Target="../notesSlides/notesSlide15.xml" Type="http://schemas.openxmlformats.org/officeDocument/2006/relationships/notesSlide"/><Relationship Id="rId2" Target="../media/image8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92.png" Type="http://schemas.openxmlformats.org/officeDocument/2006/relationships/image"/><Relationship Id="rId6" Target="../media/image93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0.jpeg" Type="http://schemas.openxmlformats.org/officeDocument/2006/relationships/image"/><Relationship Id="rId3" Target="../notesSlides/notesSlide16.xml" Type="http://schemas.openxmlformats.org/officeDocument/2006/relationships/notesSlide"/><Relationship Id="rId4" Target="../media/image10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286000"/>
            <a:ext cx="10160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IPD集成产品开发流程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40640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24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从理论到实践 —— 面向学生的研发管理指南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5397500"/>
            <a:ext cx="3175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206500" y="56896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87500" y="5524500"/>
            <a:ext cx="254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全链路闭环体系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规范从需求到交付的研发全流程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508500" y="5397500"/>
            <a:ext cx="3175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56896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080000" y="5524500"/>
            <a:ext cx="254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跨职能高效协同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打破部门墙，实现信息同步共享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001000" y="5397500"/>
            <a:ext cx="3175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191500" y="56896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8572500" y="5524500"/>
            <a:ext cx="254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市场导向价值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以客户需求为核心的产品竞争力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目录 CONTENTS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76200" cy="2095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968500"/>
            <a:ext cx="88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032000" y="2057400"/>
            <a:ext cx="3683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项目开发的“痛”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291" flipH="false" flipV="false">
            <a:off x="1016009" y="28130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2946400"/>
            <a:ext cx="469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从学生项目常见的需求模糊、进度失控、资源浪费等困境切入，剖析传统开发模式下的效率瓶颈与痛点根源。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1778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23000" y="1778000"/>
            <a:ext cx="76200" cy="2095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77000" y="1968500"/>
            <a:ext cx="88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493000" y="2057400"/>
            <a:ext cx="3683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IPD是什么？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9291" flipH="false" flipV="false">
            <a:off x="6477009" y="28130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6477000" y="2946400"/>
            <a:ext cx="469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揭开集成产品开发（IPD）的神秘面纱，深入理解其“以市场为导向、跨部门协同、结构化流程”的核心理念与核心价值。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1275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4127500"/>
            <a:ext cx="76200" cy="2095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16000" y="4318000"/>
            <a:ext cx="88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2032000" y="4406900"/>
            <a:ext cx="3683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IPD如何实施？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9291" flipH="false" flipV="false">
            <a:off x="1016009" y="51625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1016000" y="5295900"/>
            <a:ext cx="469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深度拆解IPD的五大关键阶段与六大技术评审点，解析每个环节的核心任务与交付标准，掌握标准化的产品开发路径。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223000" y="41275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223000" y="4127500"/>
            <a:ext cx="76200" cy="2095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477000" y="4318000"/>
            <a:ext cx="88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493000" y="4406900"/>
            <a:ext cx="3683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如何落地IPD？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-9291" flipH="false" flipV="false">
            <a:off x="6477009" y="51625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7" id="27"/>
          <p:cNvSpPr/>
          <p:nvPr/>
        </p:nvSpPr>
        <p:spPr>
          <a:xfrm rot="0" flipH="false" flipV="false">
            <a:off x="6477000" y="5295900"/>
            <a:ext cx="469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聚焦适合学生团队的轻量化落地方案，分享可直接复用的流程模板、协作工具与实践技巧，让规范的开发流程不再是纸上谈兵。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项目开发的“痛”：我们为何需要IPD？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学生项目常见困境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95500"/>
            <a:ext cx="2032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14400" y="22479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295400" y="2247900"/>
            <a:ext cx="1587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需求模糊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14400" y="2692400"/>
            <a:ext cx="18288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做到一半才发现与预期不符，方向偏差导致大量返工，时间成本极高。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997200" y="2095500"/>
            <a:ext cx="2032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149600" y="22479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3530600" y="2247900"/>
            <a:ext cx="1587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目标漂移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149600" y="2692400"/>
            <a:ext cx="18288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功能不断追加，超出原定范围，工期失控，导致项目严重延期交付。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232400" y="2095500"/>
            <a:ext cx="2032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5384800" y="22479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5765800" y="2247900"/>
            <a:ext cx="1587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风险后置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384800" y="2692400"/>
            <a:ext cx="18288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技术难题被掩盖，临近交付才暴露，被迫推翻重来，造成巨大损失。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467600" y="2095500"/>
            <a:ext cx="2032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7620000" y="22479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8001000" y="2247900"/>
            <a:ext cx="1587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沟通混乱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0" y="2692400"/>
            <a:ext cx="18288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成员各自为战，代码规范不一，模块难以整合，版本管理极其混乱。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702800" y="2095500"/>
            <a:ext cx="2032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9855200" y="2247900"/>
            <a:ext cx="304800" cy="3048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10236200" y="2247900"/>
            <a:ext cx="1587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质量低下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855200" y="2692400"/>
            <a:ext cx="18288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缺乏测试环节，交付产品Bug频发，用户体验差，后期维护成本高。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62000" y="4191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开发模式对比：自由开发 vs IPD模式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62000" y="4699000"/>
            <a:ext cx="5270500" cy="1651000"/>
          </a:xfrm>
          <a:prstGeom prst="roundRect">
            <a:avLst>
              <a:gd name="adj" fmla="val 0"/>
            </a:avLst>
          </a:prstGeom>
          <a:solidFill>
            <a:srgbClr val="F3F4F6">
              <a:alpha val="7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952500" y="4851400"/>
            <a:ext cx="4953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❌ 自由开发模式（学生常见）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952500" y="5270500"/>
            <a:ext cx="4889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想到哪做到哪，边做边改，无明确阶段划分与评审机制。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结果：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风险不可控，交付质量参差不齐，进度极易延期，维护困难。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286500" y="4699000"/>
            <a:ext cx="5270500" cy="1651000"/>
          </a:xfrm>
          <a:prstGeom prst="roundRect">
            <a:avLst>
              <a:gd name="adj" fmla="val 0"/>
            </a:avLst>
          </a:prstGeom>
          <a:solidFill>
            <a:srgbClr val="DCFCE7">
              <a:alpha val="7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477000" y="4851400"/>
            <a:ext cx="4953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✅ IPD开发模式（企业标准）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477000" y="5270500"/>
            <a:ext cx="4889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分阶段运作，设立关键评审点，跨部门协同，流程标准化。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结果：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风险前置规避，确保高质量交付，进度可控，降低整体成本。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IPD是什么？—— 建造“软件大厦”的蓝图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62000" y="1778000"/>
            <a:ext cx="3810000" cy="2540000"/>
          </a:xfrm>
          <a:prstGeom prst="roundRect">
            <a:avLst>
              <a:gd name="adj" fmla="val 6000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8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4572000"/>
            <a:ext cx="3810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从随心所欲、脆弱易损的“茅草屋”，转向规划严谨、结构稳固、多方协同的“摩天大楼”式开发体系，是企业产品研发从“游击队”迈向“正规军”的必经之路。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953000" y="1778000"/>
            <a:ext cx="6477000" cy="1714500"/>
          </a:xfrm>
          <a:prstGeom prst="roundRect">
            <a:avLst>
              <a:gd name="adj" fmla="val 0"/>
            </a:avLst>
          </a:prstGeom>
          <a:solidFill>
            <a:srgbClr val="ECFCF1">
              <a:alpha val="80000"/>
            </a:srgbClr>
          </a:solidFill>
          <a:ln w="12700" cmpd="sng" cap="flat">
            <a:solidFill>
              <a:srgbClr val="86EFA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143500" y="1930400"/>
            <a:ext cx="29845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❌ 自由开发：“茅草屋”模式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无统一规划，开发如同“搭积木”，虽然灵活但缺乏架构设计，难以支撑业务规模扩张，后期维护成本呈指数级上升。</a:t>
            </a:r>
          </a:p>
        </p:txBody>
      </p:sp>
      <p:cxnSp>
        <p:nvCxnSpPr>
          <p:cNvPr name="Connector 8" id="8"/>
          <p:cNvCxnSpPr/>
          <p:nvPr/>
        </p:nvCxnSpPr>
        <p:spPr>
          <a:xfrm rot="5365623" flipH="false" flipV="false">
            <a:off x="7556500" y="2597182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86EFAC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8318500" y="1930400"/>
            <a:ext cx="29845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✅ IPD开发：“摩天大楼”模式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前期投入勘探与设计，中期标准化分段施工，全程监理验收。依靠多方专业团队紧密协作，确保产品坚固、高质量且具备可扩展性。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953000" y="3746500"/>
            <a:ext cx="647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IPD的三大核心支柱，构建高效研发引擎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953000" y="4254500"/>
            <a:ext cx="20701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16A34A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143500" y="44450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486400" y="4445000"/>
            <a:ext cx="1587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集成 Integration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143500" y="4927600"/>
            <a:ext cx="18161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打破部门壁垒，将市场、研发、供应链、销售等全流程环节深度融合，实现信息同步与价值流的无缝衔接。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150100" y="4254500"/>
            <a:ext cx="20701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16A34A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340600" y="44450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7683500" y="4445000"/>
            <a:ext cx="1587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流程 Process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340600" y="4927600"/>
            <a:ext cx="18161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建立标准化的阶段决策与开发流程，明确各节点的交付标准与评审机制，让研发工作有章可循，降低不确定性。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359900" y="4254500"/>
            <a:ext cx="20701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16A34A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550400" y="44450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9893300" y="4445000"/>
            <a:ext cx="1587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团队 Team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550400" y="4927600"/>
            <a:ext cx="18161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组建跨职能的PDT（产品开发团队），打破“各扫门前雪”的局面，所有成员共同对产品的市场成功与财务成功负责。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IPD如何实施？—— 五大阶段与六大评审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IPD通过标准化的阶段划分与严格的评审机制，构建起“阶段决策、步步为营”的研发管控体系，在确保技术可行性的同时，精准把控资源投入与项目方向。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1299" b="1299"/>
          <a:stretch>
            <a:fillRect/>
          </a:stretch>
        </p:blipFill>
        <p:spPr>
          <a:xfrm rot="0" flipH="false" flipV="false">
            <a:off x="762000" y="2349500"/>
            <a:ext cx="7366000" cy="18415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762000" y="4445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4635500"/>
            <a:ext cx="304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全链路五大核心阶段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50800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从“概念”锚定需求，经“计划”规划路径，再到“开发、验证”的落地打磨，最终通过“发布”实现价值交付。五个阶段环环相扣，确保研发节奏有序推进。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381500" y="4445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572000" y="4635500"/>
            <a:ext cx="304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技术评审 (TR) · 质量防线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72000" y="50800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由技术专家组主导的关键检查点，覆盖方案可行性、架构合理性及风险评估。通过TR1-TR6层层把关，从源头规避技术实现的偏差与隐患。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001000" y="4445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91500" y="4635500"/>
            <a:ext cx="304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 决策评审 (DCP) · 资源阀门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91500" y="50800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管理层基于市场价值、投入产出比的关键决策点。在此做出“继续/终止/调整”的裁决，及时止损无效项目，确保资源始终聚焦于高价值研发方向。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阶段一：概念阶段 &amp; TR1 需求与概念评审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62000" y="1651000"/>
            <a:ext cx="3556000" cy="3556000"/>
          </a:xfrm>
          <a:prstGeom prst="roundRect">
            <a:avLst>
              <a:gd name="adj" fmla="val 4285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76200" blurRad="203200" algn="tl" rotWithShape="false">
              <a:srgbClr val="000000">
                <a:alpha val="8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5397500"/>
            <a:ext cx="355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构思草图：将抽象的市场需求转化为具象的产品雏形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826000" y="1651000"/>
            <a:ext cx="6604000" cy="1714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0" y="1803400"/>
            <a:ext cx="609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核心任务：明确“做什么”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080000" y="2311400"/>
            <a:ext cx="254000" cy="254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5397500" y="2311400"/>
            <a:ext cx="1968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深度市场洞察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研判行业趋势，剖析客户痛点与竞争对手，寻找市场空白点。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175500" y="2311400"/>
            <a:ext cx="254000" cy="254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7493000" y="2311400"/>
            <a:ext cx="1968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真实需求采集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通过用户访谈、问卷调研收集VOC，挖掘用户真实的潜在诉求。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271000" y="2311400"/>
            <a:ext cx="254000" cy="254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9588500" y="2311400"/>
            <a:ext cx="1968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产品概念定义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确立产品的初步构想、核心价值主张及差异化竞争优势。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826000" y="3619500"/>
            <a:ext cx="6604000" cy="1714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080000" y="3771900"/>
            <a:ext cx="609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TR1 评审：把关“该不该做”</a:t>
            </a:r>
            <a:endParaRPr lang="en-US" sz="1100"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5080000" y="4279900"/>
            <a:ext cx="254000" cy="254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5397500" y="4279900"/>
            <a:ext cx="1968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产品包需求(PRS)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明确产品具体包含的功能、性能指标及交付范围。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7175500" y="4279900"/>
            <a:ext cx="254000" cy="2540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7493000" y="4279900"/>
            <a:ext cx="1968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多维可行性论证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评估技术实现难度、市场接受度及商业盈利的可能性。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9271000" y="4279900"/>
            <a:ext cx="254000" cy="2540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9588500" y="4279900"/>
            <a:ext cx="1968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早期风险识别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预判项目在研发、供应链及市场端的潜在风险并制定预案。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4826000" y="5461000"/>
            <a:ext cx="6604000" cy="9525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 flipH="false" flipV="false">
            <a:off x="5080000" y="5651500"/>
            <a:ext cx="279400" cy="2794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5461000" y="5613400"/>
            <a:ext cx="5905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关键交付成果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输出《市场机会分析报告》，完成《Charter立项任务书》初稿，作为项目正式立项的决策依据。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阶段二：计划阶段 &amp; TR2/TR3 架构与设计评审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核心任务：明确“怎么做”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159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23495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333500" y="23495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制定项目计划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2794000"/>
            <a:ext cx="304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明确项目的时间表、预算成本、所需资源及团队分工，建立清晰的执行基准，为后续开发提供可控的进度保障。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381500" y="2159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572000" y="23495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953000" y="23495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系统架构设计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572000" y="2794000"/>
            <a:ext cx="304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搭建产品的整体技术骨架，确定技术选型、分层逻辑与数据流向，保障系统的高可用、可扩展与易维护性。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001000" y="2159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191500" y="23495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572500" y="23495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详细设计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191500" y="2794000"/>
            <a:ext cx="304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拆解至模块级的功能逻辑、接口定义与数据结构，输出可直接指导编码的技术文档，消除实现歧义。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4064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关键评审：TR2 与 TR3 技术关口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4572000"/>
            <a:ext cx="5270500" cy="1143000"/>
          </a:xfrm>
          <a:prstGeom prst="roundRect">
            <a:avLst>
              <a:gd name="adj" fmla="val 0"/>
            </a:avLst>
          </a:prstGeom>
          <a:solidFill>
            <a:srgbClr val="F3F4F6">
              <a:alpha val="8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52500" y="4699000"/>
            <a:ext cx="4953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TR2 (概要设计评审)：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重点审查整体架构是否合理，确认非功能需求（如性能、安全性、稳定性）是否满足预期，确保技术方案的顶层设计无方向性偏差。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159500" y="4572000"/>
            <a:ext cx="5270500" cy="1143000"/>
          </a:xfrm>
          <a:prstGeom prst="roundRect">
            <a:avLst>
              <a:gd name="adj" fmla="val 0"/>
            </a:avLst>
          </a:prstGeom>
          <a:solidFill>
            <a:srgbClr val="F3F4F6">
              <a:alpha val="8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350000" y="4699000"/>
            <a:ext cx="4953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TR3 (详细设计评审)：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聚焦模块设计的清晰度、接口定义的准确性以及算法方案的可行性，确保设计细节足够充分，能够无缝衔接开发阶段。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969000"/>
            <a:ext cx="10668000" cy="5080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52500" y="6096000"/>
            <a:ext cx="254000" cy="2540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1333500" y="6096000"/>
            <a:ext cx="990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阶段关键产出：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《系统架构设计文档》、《项目WBS计划》、《详细设计文档》（含接口规范与模块设计说明）。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阶段三：开发阶段 &amp; TR4 单元与模块验证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841500"/>
            <a:ext cx="4826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核心任务：动手实现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24384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397000" y="2413000"/>
            <a:ext cx="4445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代码开发：</a:t>
            </a: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依据设计文档编写核心功能代码，完成模块的逻辑构建与功能实现，确保代码逻辑与设计一致。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952500" y="32004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97000" y="3175000"/>
            <a:ext cx="4445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单元测试：</a:t>
            </a: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针对独立的函数、类或模块进行针对性测试，覆盖正常流程与异常边界，验证模块功能的正确性。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52500" y="40894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397000" y="4064000"/>
            <a:ext cx="4445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模型训练：</a:t>
            </a: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针对AI项目完成数据预处理、模型训练与调优，并进行模型量化与验证，保障推理效率与精度。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23000" y="1651000"/>
            <a:ext cx="5207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13500" y="1841500"/>
            <a:ext cx="4826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TR4 关键评审维度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13500" y="24384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6858000" y="2413000"/>
            <a:ext cx="4445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功能符合性：</a:t>
            </a: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逐一核对模块功能是否严格满足设计规格书要求，确认无功能遗漏，接口调用与交互逻辑无误。</a:t>
            </a:r>
            <a:endParaRPr lang="en-US" sz="1100"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413500" y="32004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858000" y="3175000"/>
            <a:ext cx="4445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代码规范性：</a:t>
            </a: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检查编码风格是否符合规范，注释是否清晰完整，代码结构是否合理，确保代码具备高可读性与可维护性。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413500" y="40894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6858000" y="4064000"/>
            <a:ext cx="4445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测试覆盖率：</a:t>
            </a: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核心业务路径与异常场景的单元测试用例覆盖率需达到标准要求，有效消除潜在的逻辑漏洞与隐患。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5207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5207000"/>
            <a:ext cx="762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1079500" y="5575300"/>
            <a:ext cx="406400" cy="4064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1651000" y="5397500"/>
            <a:ext cx="952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阶段关键交付物：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产出可稳定运行的模块源代码包、完整的单元测试报告（含覆盖率统计）、测试缺陷清单及修复记录。针对AI项目，还需包含模型训练日志、模型文件及量化后的部署模型，作为进入集成阶段的准入依据。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阶段四：验证阶段 &amp; TR5 系统集成验证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14500"/>
            <a:ext cx="52070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905000"/>
            <a:ext cx="4699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核心任务：系统组装与功能闭环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291" flipH="false" flipV="false">
            <a:off x="1016009" y="240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603500"/>
            <a:ext cx="254000" cy="254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97000" y="2565400"/>
            <a:ext cx="444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系统集成与联调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将独立开发的功能模块、AI智能体与硬件设施进行物理与逻辑层面的整合，打通数据通路与控制接口，消除组件间的兼容壁垒。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429000"/>
            <a:ext cx="254000" cy="254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397000" y="3390900"/>
            <a:ext cx="444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系统集成测试 (SIT)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在模拟真实的生产环境中，对系统的全功能、高并发及异常场景进行黑盒与白盒测试，验证系统的稳定性与功能完备性。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381500"/>
            <a:ext cx="254000" cy="254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397000" y="4343400"/>
            <a:ext cx="444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AI模型效果复现与验证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基于真实业务数据集，对模型的准确率、召回率、F1值等核心指标进行复测，确保模型在实际应用场景下的表现符合预期。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1714500"/>
            <a:ext cx="52070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77000" y="1905000"/>
            <a:ext cx="4699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TR5 评审：系统交付的关键准入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9291" flipH="false" flipV="false">
            <a:off x="6477009" y="240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77000" y="2603500"/>
            <a:ext cx="254000" cy="254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858000" y="2565400"/>
            <a:ext cx="444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端到端业务流程闭环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从用户发起请求到系统输出结果的全链路跑通，验证业务逻辑的连贯性、数据流转的正确性以及异常情况下的容错与恢复机制。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477000" y="3429000"/>
            <a:ext cx="254000" cy="2540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6858000" y="3390900"/>
            <a:ext cx="444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非功能性指标验收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重点审查系统的响应时间、吞吐量、资源利用率及稳定性，确保在高并发、大数据量场景下仍能满足业务对性能的严苛要求。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477000" y="4381500"/>
            <a:ext cx="254000" cy="2540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6858000" y="4343400"/>
            <a:ext cx="444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模型价值与合规性审查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评估模型预测结果对业务决策的实际增益，同时核查数据隐私保护措施、算法公平性及可解释性，确保符合行业规范。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397500"/>
            <a:ext cx="10668000" cy="952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1016000" y="5588000"/>
            <a:ext cx="304800" cy="3048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1460500" y="5537200"/>
            <a:ext cx="965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关键交付成果：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输出《系统集成测试（SIT）总结报告》与《AI模型效果评估验收报告》。两份报告需详细记录测试过程、问题闭环情况及验收结论，作为TR5评审通过及系统进入下一阶段的硬性依据。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阶段五：发布阶段 &amp; TR6 交付定型终审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8415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核心任务：交付准备全流程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438400"/>
            <a:ext cx="279400" cy="279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397000" y="2413000"/>
            <a:ext cx="4381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用户验收测试 (UAT)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邀请真实用户进行全流程场景验证，确保功能、性能与体验完全符合业务需求与预期。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200400"/>
            <a:ext cx="279400" cy="279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97000" y="3175000"/>
            <a:ext cx="4381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交付文档体系化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编制用户手册、部署指南、API文档及技术白皮书，保障用户上手与系统运维的标准化。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025900"/>
            <a:ext cx="279400" cy="279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397000" y="4000500"/>
            <a:ext cx="4381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软件打包与环境配置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将软件封装为可执行安装包（如EXE/镜像），配置生产环境依赖，确保用户可一键部署。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23000" y="1651000"/>
            <a:ext cx="5207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77000" y="18415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TR6 交付定型关键评审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77000" y="2438400"/>
            <a:ext cx="279400" cy="279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6858000" y="2413000"/>
            <a:ext cx="4381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交付物完整性核验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对照交付清单，逐一检查代码、安装包、设计图纸及过程资产，确保无缺失、无遗漏。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477000" y="3200400"/>
            <a:ext cx="279400" cy="279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858000" y="3175000"/>
            <a:ext cx="4381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严重缺陷清零验收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确认所有P0/P1级严重缺陷已修复验证，系统稳定性与数据安全性达到上线标准。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477000" y="4025900"/>
            <a:ext cx="279400" cy="279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6858000" y="4000500"/>
            <a:ext cx="4381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文档与流程合规性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检查文档格式、内容规范及审批流程，确保满足公司质量体系与客户归档要求。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51435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mpd="sng" cap="flat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1016000" y="5511800"/>
            <a:ext cx="457200" cy="4572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1651000" y="5308600"/>
            <a:ext cx="9652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最终交付成果：产品“毕业”与价值交付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输出可直接上线的成品软件安装包、部署脚本及全套标准化项目文档（需求、设计、开发、测试、运维手册），完成从研发到商用的闭环，标志着产品正式具备交付价值，进入运营维护阶段。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IPD流程全景回顾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269" r="269" t="0" b="0"/>
          <a:stretch>
            <a:fillRect/>
          </a:stretch>
        </p:blipFill>
        <p:spPr>
          <a:xfrm rot="0" flipH="false" flipV="false">
            <a:off x="2159000" y="1587500"/>
            <a:ext cx="7874000" cy="203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4064000"/>
            <a:ext cx="3378200" cy="2286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4318000"/>
            <a:ext cx="355600" cy="355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473200" y="4318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五阶段：开发主线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4889500"/>
            <a:ext cx="28702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覆盖概念、计划、开发、验证、发布五大核心阶段，构成产品从0到1的完整行动蓝图，确保研发节奏有序推进。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06900" y="4064000"/>
            <a:ext cx="3378200" cy="2286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660900" y="4318000"/>
            <a:ext cx="355600" cy="355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118100" y="4318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双评审：质量与决策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60900" y="4889500"/>
            <a:ext cx="28702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6大技术评审(TR)筑牢质量防线，4大决策评审(DCP)把控投资方向，如同“红绿灯”般规避风险，确保资源有效投入。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051800" y="4064000"/>
            <a:ext cx="3378200" cy="2286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305800" y="4318000"/>
            <a:ext cx="355600" cy="355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763000" y="4318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三保障：结果可预期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305800" y="4889500"/>
            <a:ext cx="28702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精准锚定用户需求，实现风险前置管理与质量闭环，将研发的不确定性转化为可预期的商业价值与市场成功。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04 如何落地IPD？—— 适合学生的轻量化工具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4605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IPD理念虽好，但复杂的企业级工具可能不适合学生。我们可以选择一些轻量化、甚至免费的工具来实践IPD思想，以低成本、低门槛的方式落地规范化的研发流程。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413000"/>
            <a:ext cx="3429000" cy="3365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667000"/>
            <a:ext cx="355600" cy="355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460500" y="26670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文档与知识库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175000"/>
            <a:ext cx="292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飞书文档 / 语雀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14946" flipH="false" flipV="false">
            <a:off x="1016014" y="3613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1016000" y="3746500"/>
            <a:ext cx="2921000" cy="184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用途：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用于编写项目Charter、需求规格说明书、系统设计文档及TR评审报告，是团队知识沉淀的核心载体。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优势：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支持多人实时在线协作与版本管理，评论与批注功能让评审更便捷，完美适配学生团队的远程协作需求。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81500" y="2413000"/>
            <a:ext cx="3429000" cy="3365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35500" y="2667000"/>
            <a:ext cx="355600" cy="355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080000" y="26670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项目流程管理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635500" y="3175000"/>
            <a:ext cx="292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飞书项目 / 禅道开源版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14946" flipH="false" flipV="false">
            <a:off x="4635514" y="3613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4635500" y="3746500"/>
            <a:ext cx="2921000" cy="184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用途：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拆解IPD各阶段任务，可视化跟踪研发进度，管理Bug与缺陷，明确关键路径与交付物。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优势：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通过看板直观展示状态，支持自定义工作流以模拟IPD的评审节点，帮助团队养成“按流程办事”的习惯。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01000" y="2413000"/>
            <a:ext cx="3429000" cy="3365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255000" y="2667000"/>
            <a:ext cx="355600" cy="3556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8699500" y="26670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代码与版本控制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255000" y="3175000"/>
            <a:ext cx="292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Gitee / GitHub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14946" flipH="false" flipV="false">
            <a:off x="8255014" y="3613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8255000" y="3746500"/>
            <a:ext cx="2921000" cy="184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用途：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集中托管项目源代码，管理开发分支，记录每一次代码提交，实现版本的追溯与回滚。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优势：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不仅是代码仓库，更是标准的软件工程实践场。通过Pull Request机制，可在代码合入前进行严格的同行评审。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60706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💡 实践建议：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无需追求工具的“大而全”，组合使用上述1-2个核心工具，即可在毕设或课程项目中低成本实践IPD的核心逻辑。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工具实践：用飞书项目管理IPD流程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8" b="8"/>
          <a:stretch>
            <a:fillRect/>
          </a:stretch>
        </p:blipFill>
        <p:spPr>
          <a:xfrm rot="0" flipH="false" flipV="false">
            <a:off x="762000" y="1651000"/>
            <a:ext cx="4572000" cy="2667000"/>
          </a:xfrm>
          <a:prstGeom prst="roundRect">
            <a:avLst>
              <a:gd name="adj" fmla="val 5714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76200" blurRad="190500" algn="tl" rotWithShape="false">
              <a:srgbClr val="000000">
                <a:alpha val="8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4699000"/>
            <a:ext cx="457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借助飞书项目的可视化看板能力，将IPD的“概念、计划、开发、验证、发布”五大阶段无缝映射。通过任务卡片的流转，让项目进度、责任归属与协作状态实时透明，让复杂的研发流程变得井然有序。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715000" y="1651000"/>
            <a:ext cx="2984500" cy="1244600"/>
          </a:xfrm>
          <a:prstGeom prst="roundRect">
            <a:avLst>
              <a:gd name="adj" fmla="val 0"/>
            </a:avLst>
          </a:prstGeom>
          <a:solidFill>
            <a:srgbClr val="F0FDF4">
              <a:alpha val="70000"/>
            </a:srgbClr>
          </a:solidFill>
          <a:ln w="12700" cmpd="sng" cap="flat">
            <a:solidFill>
              <a:srgbClr val="22C55E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905500" y="18415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6286500" y="18415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创建项目空间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905500" y="2286000"/>
            <a:ext cx="26035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新建项目并命名，作为IPD全流程的协作容器，为后续的阶段管理奠定基础。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826500" y="1651000"/>
            <a:ext cx="2984500" cy="1244600"/>
          </a:xfrm>
          <a:prstGeom prst="roundRect">
            <a:avLst>
              <a:gd name="adj" fmla="val 0"/>
            </a:avLst>
          </a:prstGeom>
          <a:solidFill>
            <a:srgbClr val="F0FDF4">
              <a:alpha val="70000"/>
            </a:srgbClr>
          </a:solidFill>
          <a:ln w="12700" cmpd="sng" cap="flat">
            <a:solidFill>
              <a:srgbClr val="22C55E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017000" y="18415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9398000" y="18415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配置阶段看板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017000" y="2286000"/>
            <a:ext cx="26035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建立“概念、计划、开发、验证、发布”五大列，明确研发的关键里程碑节点。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715000" y="3073400"/>
            <a:ext cx="2984500" cy="1244600"/>
          </a:xfrm>
          <a:prstGeom prst="roundRect">
            <a:avLst>
              <a:gd name="adj" fmla="val 0"/>
            </a:avLst>
          </a:prstGeom>
          <a:solidFill>
            <a:srgbClr val="F0FDF4">
              <a:alpha val="70000"/>
            </a:srgbClr>
          </a:solidFill>
          <a:ln w="12700" cmpd="sng" cap="flat">
            <a:solidFill>
              <a:srgbClr val="22C55E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5905500" y="32639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6286500" y="32639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 拆解关键任务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905500" y="3708400"/>
            <a:ext cx="26035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在各阶段下创建具体任务，如“撰写Charter”、“TR1评审”、“系统架构设计”等。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826500" y="3073400"/>
            <a:ext cx="2984500" cy="1244600"/>
          </a:xfrm>
          <a:prstGeom prst="roundRect">
            <a:avLst>
              <a:gd name="adj" fmla="val 0"/>
            </a:avLst>
          </a:prstGeom>
          <a:solidFill>
            <a:srgbClr val="F0FDF4">
              <a:alpha val="70000"/>
            </a:srgbClr>
          </a:solidFill>
          <a:ln w="12700" cmpd="sng" cap="flat">
            <a:solidFill>
              <a:srgbClr val="22C55E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9017000" y="3263900"/>
            <a:ext cx="304800" cy="3048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9398000" y="32639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04 任务分配与流转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017000" y="3708400"/>
            <a:ext cx="26035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成员认领任务，通过拖拽卡片更新状态，实时同步进度，问题风险即时暴露。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5715000" y="4699000"/>
            <a:ext cx="60960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5905500" y="4889500"/>
            <a:ext cx="304800" cy="3048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6350000" y="4889500"/>
            <a:ext cx="533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核心价值：从无形到有形，让协作一目了然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5905500" y="5334000"/>
            <a:ext cx="5651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将抽象的研发流程转化为可执行、可追踪的线上任务，消除信息不对称，让团队对目标和进度达成共识，大幅提升研发协作的效率与透明度。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工具实践：用禅道管理缺陷与测试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762000" y="15875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206500" y="1549400"/>
            <a:ext cx="5016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需求管理：源头可溯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精准映射IPD流程中的PRS环节，完整记录产品需求，实现从提出、评审到验收的全生命周期可追溯管理。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762000" y="24765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206500" y="2438400"/>
            <a:ext cx="5016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任务拆解：责任到人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将需求颗粒化分解为可执行任务，按需分配至团队成员，明确时间节点与交付标准，实现进度可控。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762000" y="33655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206500" y="3327400"/>
            <a:ext cx="5016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缺陷闭环：全程跟踪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规范测试提报、开发修复与回归验证流程，实时监控缺陷状态流转，确保问题从发现到解决零遗漏。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762000" y="42545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206500" y="4216400"/>
            <a:ext cx="5016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用例管控：覆盖全面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标准化编写与执行测试用例，覆盖核心与边缘业务场景，量化测试覆盖率，夯实产品质量验证基础。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762000" y="51435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206500" y="5105400"/>
            <a:ext cx="5016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全景视图：决策辅助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通过看板、甘特图、燃尽图等多维视图，实时掌握项目进度、资源负荷与潜在风险，赋能团队高效决策。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rcRect l="0" r="0" t="2039" b="2039"/>
          <a:stretch>
            <a:fillRect/>
          </a:stretch>
        </p:blipFill>
        <p:spPr>
          <a:xfrm rot="0" flipH="false" flipV="false">
            <a:off x="6731000" y="1524000"/>
            <a:ext cx="4699000" cy="2921000"/>
          </a:xfrm>
          <a:prstGeom prst="roundRect">
            <a:avLst>
              <a:gd name="adj" fmla="val 5217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8000"/>
              </a:srgbClr>
            </a:outerShdw>
          </a:effectLst>
        </p:spPr>
      </p:pic>
      <p:sp>
        <p:nvSpPr>
          <p:cNvPr name="AutoShape 15" id="15"/>
          <p:cNvSpPr/>
          <p:nvPr/>
        </p:nvSpPr>
        <p:spPr>
          <a:xfrm rot="0" flipH="false" flipV="false">
            <a:off x="6731000" y="4699000"/>
            <a:ext cx="4699000" cy="1524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921500" y="4851400"/>
            <a:ext cx="431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7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核心价值：打造高质量研发闭环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禅道将需求、开发、测试与缺陷修复紧密串联，消除了各环节的信息壁垒。通过标准化的流程管控与可视化的数据支撑，实现了从问题发现到解决的高效闭环，不仅保障了交付质量，更显著提升了研发协作的效率与透明度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总结：拥抱IPD，让项目开发更专业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841500"/>
            <a:ext cx="4826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IPD的核心价值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2413000"/>
            <a:ext cx="2349500" cy="1524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79500" y="25400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460500" y="2540000"/>
            <a:ext cx="1841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思维模式升级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79500" y="2984500"/>
            <a:ext cx="2095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告别作坊式开发，转向规划先行、步步为营的工程化模式，让研发全流程有章可循。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429000" y="2413000"/>
            <a:ext cx="2349500" cy="1524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556000" y="25400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3937000" y="2540000"/>
            <a:ext cx="1841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风险提前管控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556000" y="2984500"/>
            <a:ext cx="2095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在项目早期识别并解决隐患，避免后期大规模返工，显著降低时间成本与资源损耗。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52500" y="4191000"/>
            <a:ext cx="2349500" cy="1524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79500" y="43180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460500" y="4318000"/>
            <a:ext cx="1841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高效协同作战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79500" y="4762500"/>
            <a:ext cx="2095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打破部门壁垒，明确角色分工与责任边界，全员对最终交付结果共同负责，提升效率。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3429000" y="4191000"/>
            <a:ext cx="2349500" cy="1524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3556000" y="4318000"/>
            <a:ext cx="304800" cy="3048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3937000" y="4318000"/>
            <a:ext cx="1841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全流程质量把控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3556000" y="4762500"/>
            <a:ext cx="2095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通过严格的阶段化评审与测试验证，从源头保障产品质量，确保交付符合预期的成果。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223000" y="1651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13500" y="1841500"/>
            <a:ext cx="4826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给同学们的成长建议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413500" y="2413000"/>
            <a:ext cx="48260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540500" y="2603500"/>
            <a:ext cx="355600" cy="3556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6985000" y="26035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拒绝完美主义陷阱，灵活落地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985000" y="2984500"/>
            <a:ext cx="4191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毕业设计无需照搬全套流程，先从核心思想切入，简化步骤落地，在实践中逐步理解与优化，避免因追求完美而停滞不前。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413500" y="3683000"/>
            <a:ext cx="48260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540500" y="3873500"/>
            <a:ext cx="355600" cy="3556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6985000" y="38735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从小项目入手，体验流程价值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985000" y="4254500"/>
            <a:ext cx="4191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尝试用IPD思维管理课程作业或小型练手项目，将需求、计划、执行、评审拆解开来，亲身体验流程带来的条理与效率提升。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413500" y="4953000"/>
            <a:ext cx="48260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6540500" y="5143500"/>
            <a:ext cx="355600" cy="355600"/>
          </a:xfrm>
          <a:prstGeom prst="rect">
            <a:avLst/>
          </a:prstGeom>
        </p:spPr>
      </p:pic>
      <p:sp>
        <p:nvSpPr>
          <p:cNvPr name="AutoShape 34" id="34"/>
          <p:cNvSpPr/>
          <p:nvPr/>
        </p:nvSpPr>
        <p:spPr>
          <a:xfrm rot="0" flipH="false" flipV="false">
            <a:off x="6985000" y="51435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深耕内核，培养工程素养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6985000" y="5524500"/>
            <a:ext cx="4191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IPD的本质是严谨、系统的工程逻辑。掌握它不仅是学会一个流程，更是为未来的职业生涯筑牢底层能力，受益终身。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159000"/>
            <a:ext cx="1219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Q&amp;A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38735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588000" y="4953000"/>
            <a:ext cx="1016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53975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欢迎就 IPD 流程优化、研发管理工具及团队协作等话题提问，我们一起探讨与进步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{"Label":"1","ContentProducer":"001191110102MACQD9K64010000","ProduceID":"7662299471133084629","ReservedCode1":"","ContentPropagator":"","PropagateID":"","ReservedCode2":""}</vt:lpwstr>
  </property>
</Properties>
</file>