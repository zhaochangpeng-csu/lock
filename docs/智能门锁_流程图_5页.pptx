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5"/>
  </p:notesMasterIdLst>
  <p:sldIdLst>
    <p:sldId id="256" r:id="rId8"/>
    <p:sldId id="257" r:id="rId9"/>
    <p:sldId id="258" r:id="rId10"/>
    <p:sldId id="259" r:id="rId11"/>
    <p:sldId id="260" r:id="rId12"/>
  </p:sldIdLst>
  <p:sldSz cx="12191695" cy="6858000" type="screen16x9"/>
  <p:notesSz cx="6858000" cy="9144000"/>
  <p:custDataLst>
    <p:tags r:id="rId26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F3FE"/>
    <a:srgbClr val="AEC7DD"/>
    <a:srgbClr val="E1F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60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38" y="2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5" Type="http://schemas.openxmlformats.org/officeDocument/2006/relationships/notesMaster" Target="notesMasters/notesMaster1.xml"/><Relationship Id="rId26" Type="http://schemas.openxmlformats.org/officeDocument/2006/relationships/tags" Target="tags/tag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5A8C7-CC1A-4A08-9B4B-31F43B054C7F}" type="datetimeFigureOut">
              <a:rPr lang="zh-CN" altLang="en-US" smtClean="0"/>
              <a:t>2019/9/11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1B693-632D-4080-9CF6-EA28B66DC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71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390650"/>
            <a:ext cx="6858000" cy="1241822"/>
          </a:xfrm>
        </p:spPr>
        <p:txBody>
          <a:bodyPr anchor="b">
            <a:normAutofit/>
          </a:bodyPr>
          <a:lstStyle>
            <a:lvl1pPr algn="ctr">
              <a:defRPr sz="54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2019/9/11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2019/9/11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8"/>
          <p:cNvSpPr txBox="1"/>
          <p:nvPr userDrawn="1"/>
        </p:nvSpPr>
        <p:spPr>
          <a:xfrm>
            <a:off x="8395675" y="4869409"/>
            <a:ext cx="725405" cy="352697"/>
          </a:xfrm>
          <a:prstGeom prst="ellipse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6858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3068952F-5E95-44E1-9562-3F7BE09D45B9}" type="slidenum">
              <a:rPr lang="en-US" sz="900" kern="1200" smtClean="0">
                <a:solidFill>
                  <a:srgbClr val="F0F6F4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900" kern="1200" dirty="0">
              <a:solidFill>
                <a:srgbClr val="F0F6F4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up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-7620" y="-7620"/>
            <a:ext cx="9151620" cy="51511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endParaRPr lang="en-US" dirty="0"/>
          </a:p>
        </p:txBody>
      </p:sp>
      <p:sp>
        <p:nvSpPr>
          <p:cNvPr id="99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3855720" y="850501"/>
            <a:ext cx="1752600" cy="3020459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al Esta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0" y="1280408"/>
            <a:ext cx="9144000" cy="20273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up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531663" y="1385107"/>
            <a:ext cx="1424897" cy="24858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endParaRPr lang="en-US" dirty="0"/>
          </a:p>
        </p:txBody>
      </p:sp>
      <p:sp>
        <p:nvSpPr>
          <p:cNvPr id="7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880403" y="1324147"/>
            <a:ext cx="1493477" cy="26230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ith Footer &amp;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tags" Target="../tags/tag2.xml"/><Relationship Id="rId13" Type="http://schemas.openxmlformats.org/officeDocument/2006/relationships/tags" Target="../tags/tag3.xml"/><Relationship Id="rId14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5F3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2019/9/11</a:t>
            </a:fld>
            <a:endParaRPr lang="zh-CN" altLang="en-US" dirty="0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KSO_TEMPLATE" hidden="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_0b91503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444488" y="495299"/>
            <a:ext cx="330191" cy="330200"/>
          </a:xfrm>
          <a:prstGeom prst="ellipse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DengXian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977" y="546100"/>
            <a:ext cx="9524761" cy="380999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44546A"/>
                </a:solidFill>
                <a:latin typeface="DengXian"/>
              </a:rPr>
              <a:t>系统启动 · 一键拉起全线组件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977" y="952499"/>
            <a:ext cx="9524761" cy="2540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A9AC4"/>
                </a:solidFill>
                <a:latin typeface="DengXian"/>
              </a:rPr>
              <a:t>run_smart_lock.sh · 进程监督守护</a:t>
            </a:r>
          </a:p>
        </p:txBody>
      </p:sp>
      <p:sp>
        <p:nvSpPr>
          <p:cNvPr id="6" name="Rectangle 5"/>
          <p:cNvSpPr/>
          <p:nvPr/>
        </p:nvSpPr>
        <p:spPr>
          <a:xfrm>
            <a:off x="888977" y="1244599"/>
            <a:ext cx="2920926" cy="22224"/>
          </a:xfrm>
          <a:prstGeom prst="rect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21726" y="558800"/>
            <a:ext cx="1015974" cy="342900"/>
          </a:xfrm>
          <a:prstGeom prst="roundRect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DengXian"/>
              </a:rPr>
              <a:t>图 1 /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987" y="2413000"/>
            <a:ext cx="2031949" cy="203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27432" bIns="27432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44546A"/>
                </a:solidFill>
                <a:latin typeface="DengXian"/>
              </a:rPr>
              <a:t>run_smart_lock.sh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44546A"/>
                </a:solidFill>
                <a:latin typeface="DengXian"/>
              </a:rPr>
              <a:t>一键启动脚本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44546A"/>
                </a:solidFill>
                <a:latin typeface="DengXian"/>
              </a:rPr>
              <a:t>按顺序拉起右侧组件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44546A"/>
                </a:solidFill>
                <a:latin typeface="DengXian"/>
              </a:rPr>
              <a:t>支持 SSH 与开机自启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987" y="2463800"/>
            <a:ext cx="31749" cy="1930400"/>
          </a:xfrm>
          <a:prstGeom prst="rect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539936" y="3429000"/>
            <a:ext cx="431789" cy="0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84425" y="1968500"/>
            <a:ext cx="2920926" cy="127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62220" y="2108200"/>
            <a:ext cx="330191" cy="330200"/>
          </a:xfrm>
          <a:prstGeom prst="ellipse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DengXian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409" y="2133599"/>
            <a:ext cx="2222444" cy="3175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46A"/>
                </a:solidFill>
                <a:latin typeface="DengXian"/>
              </a:rPr>
              <a:t>本地工具网关 :8787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319" y="2578100"/>
            <a:ext cx="2603434" cy="6350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46A"/>
                </a:solidFill>
                <a:latin typeface="DengXian"/>
              </a:rPr>
              <a:t>Agent 工具调用入口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46A"/>
                </a:solidFill>
                <a:latin typeface="DengXian"/>
              </a:rPr>
              <a:t>current_auth_context · request_unlock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2349" y="1968500"/>
            <a:ext cx="2920926" cy="127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10144" y="2108200"/>
            <a:ext cx="330191" cy="330200"/>
          </a:xfrm>
          <a:prstGeom prst="ellipse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DengXian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333" y="2133599"/>
            <a:ext cx="2222444" cy="3175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46A"/>
                </a:solidFill>
                <a:latin typeface="DengXian"/>
              </a:rPr>
              <a:t>异常事件服务 :8790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243" y="2578100"/>
            <a:ext cx="2603434" cy="6350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46A"/>
                </a:solidFill>
                <a:latin typeface="DengXian"/>
              </a:rPr>
              <a:t>接收认证失败事件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46A"/>
                </a:solidFill>
                <a:latin typeface="DengXian"/>
              </a:rPr>
              <a:t>原子写入 latest_event.json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84425" y="3556000"/>
            <a:ext cx="2920926" cy="127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62220" y="3695699"/>
            <a:ext cx="330191" cy="330200"/>
          </a:xfrm>
          <a:prstGeom prst="ellipse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DengXian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9409" y="3721100"/>
            <a:ext cx="2222444" cy="3175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46A"/>
                </a:solidFill>
                <a:latin typeface="DengXian"/>
              </a:rPr>
              <a:t>语音 Agent 预热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319" y="4165600"/>
            <a:ext cx="2603434" cy="6350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46A"/>
                </a:solidFill>
                <a:latin typeface="DengXian"/>
              </a:rPr>
              <a:t>预加载 FunASR 模型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46A"/>
                </a:solidFill>
                <a:latin typeface="DengXian"/>
              </a:rPr>
              <a:t>--wait-auth 等待凭证后开麦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2349" y="3556000"/>
            <a:ext cx="2920926" cy="127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10144" y="3695699"/>
            <a:ext cx="330191" cy="330200"/>
          </a:xfrm>
          <a:prstGeom prst="ellipse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DengXian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333" y="3721100"/>
            <a:ext cx="2222444" cy="3175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4546A"/>
                </a:solidFill>
                <a:latin typeface="DengXian"/>
              </a:rPr>
              <a:t>GUI 启动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8243" y="4165600"/>
            <a:ext cx="2603434" cy="6350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46A"/>
                </a:solidFill>
                <a:latin typeface="DengXian"/>
              </a:rPr>
              <a:t>PySide6 界面·手动/自动认证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46A"/>
                </a:solidFill>
                <a:latin typeface="DengXian"/>
              </a:rPr>
              <a:t>预加载人脸/活体/声纹模型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953276" y="3333749"/>
            <a:ext cx="495287" cy="0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953276" y="3524250"/>
            <a:ext cx="495287" cy="0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61263" y="2413000"/>
            <a:ext cx="2222444" cy="2032000"/>
          </a:xfrm>
          <a:prstGeom prst="roundRect">
            <a:avLst/>
          </a:prstGeom>
          <a:solidFill>
            <a:srgbClr val="E1F1FE"/>
          </a:solidFill>
          <a:ln w="25400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27432" bIns="27432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44546A"/>
                </a:solidFill>
                <a:latin typeface="DengXian"/>
              </a:rPr>
              <a:t>进程监督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44546A"/>
                </a:solidFill>
                <a:latin typeface="DengXian"/>
              </a:rPr>
              <a:t>守护四大组件进程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44546A"/>
                </a:solidFill>
                <a:latin typeface="DengXian"/>
              </a:rPr>
              <a:t>异常退出自动拉起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44546A"/>
                </a:solidFill>
                <a:latin typeface="DengXian"/>
              </a:rPr>
              <a:t>PID 记录 logs/run/...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61263" y="2463800"/>
            <a:ext cx="31749" cy="1930400"/>
          </a:xfrm>
          <a:prstGeom prst="rect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987" y="5257800"/>
            <a:ext cx="1904952" cy="190499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44546A"/>
                </a:solidFill>
                <a:latin typeface="DengXian"/>
              </a:rPr>
              <a:t>数据落盘位置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7987" y="5651500"/>
            <a:ext cx="3555911" cy="76199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27432" bIns="27432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44546A"/>
                </a:solidFill>
                <a:latin typeface="DengXian"/>
              </a:rPr>
              <a:t>logs/auth_context.json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46A"/>
                </a:solidFill>
                <a:latin typeface="DengXian"/>
              </a:rPr>
              <a:t>认证凭证 · 每次覆盖为最新一条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7987" y="5702300"/>
            <a:ext cx="31749" cy="660400"/>
          </a:xfrm>
          <a:prstGeom prst="rect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54393" y="5651500"/>
            <a:ext cx="3555911" cy="76199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27432" bIns="27432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44546A"/>
                </a:solidFill>
                <a:latin typeface="DengXian"/>
              </a:rPr>
              <a:t>latest_event.json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46A"/>
                </a:solidFill>
                <a:latin typeface="DengXian"/>
              </a:rPr>
              <a:t>异常事件 · 仅保留最新一条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4393" y="5702300"/>
            <a:ext cx="31749" cy="660400"/>
          </a:xfrm>
          <a:prstGeom prst="rect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00799" y="5651500"/>
            <a:ext cx="3555911" cy="76199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27432" bIns="27432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44546A"/>
                </a:solidFill>
                <a:latin typeface="DengXian"/>
              </a:rPr>
              <a:t>logs/tool_gateway_calls.jsonl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46A"/>
                </a:solidFill>
                <a:latin typeface="DengXian"/>
              </a:rPr>
              <a:t>工具调用留痕 · 追加式 JSONL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0799" y="5702300"/>
            <a:ext cx="31749" cy="660400"/>
          </a:xfrm>
          <a:prstGeom prst="rect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987" y="6489699"/>
            <a:ext cx="8254793" cy="190499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A9AC4"/>
                </a:solidFill>
                <a:latin typeface="DengXian"/>
              </a:rPr>
              <a:t>启动顺序: 网关 → 事件服务 → Agent 预热 → GUI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_0b91503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444488" y="495299"/>
            <a:ext cx="330191" cy="330200"/>
          </a:xfrm>
          <a:prstGeom prst="ellipse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DengXian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977" y="546100"/>
            <a:ext cx="9524761" cy="380999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44546A"/>
                </a:solidFill>
                <a:latin typeface="DengXian"/>
              </a:rPr>
              <a:t>待机与触发 · 从人到认证的入口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977" y="952499"/>
            <a:ext cx="9524761" cy="2540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A9AC4"/>
                </a:solidFill>
                <a:latin typeface="DengXian"/>
              </a:rPr>
              <a:t>红外常驻轮询 · 摄像头随人开 · 自动认证条件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888977" y="1244599"/>
            <a:ext cx="2920926" cy="22224"/>
          </a:xfrm>
          <a:prstGeom prst="rect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21726" y="558800"/>
            <a:ext cx="1015974" cy="342900"/>
          </a:xfrm>
          <a:prstGeom prst="roundRect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DengXian"/>
              </a:rPr>
              <a:t>图 2 /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980" y="2159000"/>
            <a:ext cx="2285942" cy="127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27432" bIns="27432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44546A"/>
                </a:solidFill>
                <a:latin typeface="DengXian"/>
              </a:rPr>
              <a:t>① 红外传感器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44546A"/>
                </a:solidFill>
                <a:latin typeface="DengXian"/>
              </a:rPr>
              <a:t>串口常驻轮询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44546A"/>
                </a:solidFill>
                <a:latin typeface="DengXian"/>
              </a:rPr>
              <a:t>9600 波特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1980" y="2209800"/>
            <a:ext cx="31749" cy="1168400"/>
          </a:xfrm>
          <a:prstGeom prst="rect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047923" y="2794000"/>
            <a:ext cx="507988" cy="0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55911" y="2159000"/>
            <a:ext cx="2285942" cy="127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27432" bIns="27432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44546A"/>
                </a:solidFill>
                <a:latin typeface="DengXian"/>
              </a:rPr>
              <a:t>② 打开摄像头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44546A"/>
                </a:solidFill>
                <a:latin typeface="DengXian"/>
              </a:rPr>
              <a:t>持续人脸识别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44546A"/>
                </a:solidFill>
                <a:latin typeface="DengXian"/>
              </a:rPr>
              <a:t>空闲自动关电源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55911" y="2209800"/>
            <a:ext cx="31749" cy="1168400"/>
          </a:xfrm>
          <a:prstGeom prst="rect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841853" y="2794000"/>
            <a:ext cx="507988" cy="0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mond 13"/>
          <p:cNvSpPr/>
          <p:nvPr/>
        </p:nvSpPr>
        <p:spPr>
          <a:xfrm>
            <a:off x="6349841" y="1968500"/>
            <a:ext cx="2285942" cy="1650999"/>
          </a:xfrm>
          <a:prstGeom prst="diamond">
            <a:avLst/>
          </a:prstGeom>
          <a:solidFill>
            <a:srgbClr val="FFFFFF"/>
          </a:solidFill>
          <a:ln w="25400">
            <a:solidFill>
              <a:srgbClr val="6A9A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44546A"/>
                </a:solidFill>
                <a:latin typeface="DengXian"/>
              </a:rPr>
              <a:t>红外 / 人脸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44546A"/>
                </a:solidFill>
                <a:latin typeface="DengXian"/>
              </a:rPr>
              <a:t>冷却期过？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49841" y="3809999"/>
            <a:ext cx="0" cy="762001"/>
          </a:xfrm>
          <a:prstGeom prst="line">
            <a:avLst/>
          </a:prstGeom>
          <a:ln w="31750">
            <a:solidFill>
              <a:srgbClr val="E0625C"/>
            </a:solidFill>
            <a:prstDash val="dash"/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79873" y="4572000"/>
            <a:ext cx="2539936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6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44546A"/>
                </a:solidFill>
                <a:latin typeface="DengXian"/>
              </a:rPr>
              <a:t>③ 长时间无法识别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46A"/>
                </a:solidFill>
                <a:latin typeface="DengXian"/>
              </a:rPr>
              <a:t>停留超 3s → 写异常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46A"/>
                </a:solidFill>
                <a:latin typeface="DengXian"/>
              </a:rPr>
              <a:t>离开后重新布防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35784" y="2794000"/>
            <a:ext cx="1015974" cy="0"/>
          </a:xfrm>
          <a:prstGeom prst="line">
            <a:avLst/>
          </a:prstGeom>
          <a:ln w="31750">
            <a:solidFill>
              <a:srgbClr val="4FAE7A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51758" y="2159000"/>
            <a:ext cx="2031949" cy="1270000"/>
          </a:xfrm>
          <a:prstGeom prst="roundRect">
            <a:avLst/>
          </a:prstGeom>
          <a:solidFill>
            <a:srgbClr val="E1F1FE"/>
          </a:solidFill>
          <a:ln w="25400">
            <a:solidFill>
              <a:srgbClr val="4FA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27432" bIns="27432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44546A"/>
                </a:solidFill>
                <a:latin typeface="DengXian"/>
              </a:rPr>
              <a:t>④ 进入五步认证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44546A"/>
                </a:solidFill>
                <a:latin typeface="DengXian"/>
              </a:rPr>
              <a:t>见 图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51758" y="2209800"/>
            <a:ext cx="31749" cy="1168400"/>
          </a:xfrm>
          <a:prstGeom prst="rect">
            <a:avLst/>
          </a:prstGeom>
          <a:solidFill>
            <a:srgbClr val="4F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H="1">
            <a:off x="5079873" y="3619499"/>
            <a:ext cx="1269968" cy="0"/>
          </a:xfrm>
          <a:prstGeom prst="line">
            <a:avLst/>
          </a:prstGeom>
          <a:ln w="31750">
            <a:solidFill>
              <a:srgbClr val="A6A6A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60863" y="3479800"/>
            <a:ext cx="634984" cy="190499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A6A6A6"/>
                </a:solidFill>
                <a:latin typeface="DengXian"/>
              </a:rPr>
              <a:t>否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904952" y="1778000"/>
            <a:ext cx="3174921" cy="0"/>
          </a:xfrm>
          <a:prstGeom prst="line">
            <a:avLst/>
          </a:prstGeom>
          <a:ln w="31750">
            <a:solidFill>
              <a:srgbClr val="A6A6A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666933" y="1638299"/>
            <a:ext cx="1650958" cy="190499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A6A6A6"/>
                </a:solidFill>
                <a:latin typeface="DengXian"/>
              </a:rPr>
              <a:t>否 · 继续观察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07269" y="4572000"/>
            <a:ext cx="2476438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44546A"/>
                </a:solidFill>
                <a:latin typeface="DengXian"/>
              </a:rPr>
              <a:t>⑤ 其他入口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46A"/>
                </a:solidFill>
                <a:latin typeface="DengXian"/>
              </a:rPr>
              <a:t>GUI「手动认证」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46A"/>
                </a:solidFill>
                <a:latin typeface="DengXian"/>
              </a:rPr>
              <a:t>main.py --hardware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987" y="6489699"/>
            <a:ext cx="8254793" cy="190499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A9AC4"/>
                </a:solidFill>
                <a:latin typeface="DengXian"/>
              </a:rPr>
              <a:t>承接图1 · 启动完成即进入待机轮询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_0b91503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444488" y="495299"/>
            <a:ext cx="330191" cy="330200"/>
          </a:xfrm>
          <a:prstGeom prst="ellipse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DengXian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977" y="546100"/>
            <a:ext cx="9524761" cy="380999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44546A"/>
                </a:solidFill>
                <a:latin typeface="DengXian"/>
              </a:rPr>
              <a:t>五步认证 · 多模态融合判定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977" y="952499"/>
            <a:ext cx="9524761" cy="2540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A9AC4"/>
                </a:solidFill>
                <a:latin typeface="DengXian"/>
              </a:rPr>
              <a:t>人脸 45% + 活体 25% + 声纹 20% + 红外 10% · 阈值 0.78</a:t>
            </a:r>
          </a:p>
        </p:txBody>
      </p:sp>
      <p:sp>
        <p:nvSpPr>
          <p:cNvPr id="6" name="Rectangle 5"/>
          <p:cNvSpPr/>
          <p:nvPr/>
        </p:nvSpPr>
        <p:spPr>
          <a:xfrm>
            <a:off x="888977" y="1244599"/>
            <a:ext cx="2920926" cy="22224"/>
          </a:xfrm>
          <a:prstGeom prst="rect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21726" y="558800"/>
            <a:ext cx="1015974" cy="342900"/>
          </a:xfrm>
          <a:prstGeom prst="roundRect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DengXian"/>
              </a:rPr>
              <a:t>图 3 /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4984" y="2095499"/>
            <a:ext cx="2031949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2779" y="2235200"/>
            <a:ext cx="330191" cy="330200"/>
          </a:xfrm>
          <a:prstGeom prst="ellipse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DengXi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9968" y="2260599"/>
            <a:ext cx="1333466" cy="3175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4546A"/>
                </a:solidFill>
                <a:latin typeface="DengXian"/>
              </a:rPr>
              <a:t>红外检测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7428" y="2095499"/>
            <a:ext cx="2031949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35224" y="2235200"/>
            <a:ext cx="330191" cy="330200"/>
          </a:xfrm>
          <a:prstGeom prst="ellipse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DengXi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2412" y="2260599"/>
            <a:ext cx="1333466" cy="3175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4546A"/>
                </a:solidFill>
                <a:latin typeface="DengXian"/>
              </a:rPr>
              <a:t>人脸识别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9873" y="2095499"/>
            <a:ext cx="2031949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57668" y="2235200"/>
            <a:ext cx="330191" cy="330200"/>
          </a:xfrm>
          <a:prstGeom prst="ellipse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DengXi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4857" y="2260599"/>
            <a:ext cx="1333466" cy="3175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4546A"/>
                </a:solidFill>
                <a:latin typeface="DengXian"/>
              </a:rPr>
              <a:t>活体检测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2317" y="2095499"/>
            <a:ext cx="2031949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80112" y="2235200"/>
            <a:ext cx="330191" cy="330200"/>
          </a:xfrm>
          <a:prstGeom prst="ellipse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DengXi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7301" y="2260599"/>
            <a:ext cx="1333466" cy="3175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4546A"/>
                </a:solidFill>
                <a:latin typeface="DengXian"/>
              </a:rPr>
              <a:t>声纹识别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24761" y="2095499"/>
            <a:ext cx="2031949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02557" y="2235200"/>
            <a:ext cx="330191" cy="330200"/>
          </a:xfrm>
          <a:prstGeom prst="ellipse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DengXi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59746" y="2260599"/>
            <a:ext cx="1333466" cy="3175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4546A"/>
                </a:solidFill>
                <a:latin typeface="DengXian"/>
              </a:rPr>
              <a:t>融合判定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15974" y="3238500"/>
            <a:ext cx="190495" cy="0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238419" y="3238500"/>
            <a:ext cx="190495" cy="0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460863" y="3238500"/>
            <a:ext cx="190495" cy="0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83307" y="3238500"/>
            <a:ext cx="190496" cy="0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524761" y="3809999"/>
            <a:ext cx="0" cy="254001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682907" y="3809999"/>
            <a:ext cx="4825879" cy="698500"/>
          </a:xfrm>
          <a:prstGeom prst="roundRect">
            <a:avLst/>
          </a:prstGeom>
          <a:solidFill>
            <a:srgbClr val="E1F1FE"/>
          </a:solidFill>
          <a:ln w="25400">
            <a:solidFill>
              <a:srgbClr val="6A9A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44546A"/>
                </a:solidFill>
                <a:latin typeface="DengXian"/>
              </a:rPr>
              <a:t>融合得分 = 0.45×人脸 + 0.25×活体 + 0.20×声纹 + 0.10×红外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95847" y="4508500"/>
            <a:ext cx="0" cy="317500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Diamond 29"/>
          <p:cNvSpPr/>
          <p:nvPr/>
        </p:nvSpPr>
        <p:spPr>
          <a:xfrm>
            <a:off x="4762380" y="4762500"/>
            <a:ext cx="2666933" cy="127000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6A9A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44546A"/>
                </a:solidFill>
                <a:latin typeface="DengXian"/>
              </a:rPr>
              <a:t>融合通过？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44546A"/>
                </a:solidFill>
                <a:latin typeface="DengXian"/>
              </a:rPr>
              <a:t>score ≥ 0.78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29314" y="5397500"/>
            <a:ext cx="952476" cy="0"/>
          </a:xfrm>
          <a:prstGeom prst="line">
            <a:avLst/>
          </a:prstGeom>
          <a:ln w="31750">
            <a:solidFill>
              <a:srgbClr val="4FAE7A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873803" y="5321299"/>
            <a:ext cx="507987" cy="190499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4FAE7A"/>
                </a:solidFill>
                <a:latin typeface="DengXian"/>
              </a:rPr>
              <a:t>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81790" y="4762500"/>
            <a:ext cx="3428914" cy="1270000"/>
          </a:xfrm>
          <a:prstGeom prst="roundRect">
            <a:avLst/>
          </a:prstGeom>
          <a:solidFill>
            <a:srgbClr val="E1F1FE"/>
          </a:solidFill>
          <a:ln w="25400">
            <a:solidFill>
              <a:srgbClr val="4FA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27432" bIns="27432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44546A"/>
                </a:solidFill>
                <a:latin typeface="DengXian"/>
              </a:rPr>
              <a:t>签发一次性认证书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44546A"/>
                </a:solidFill>
                <a:latin typeface="DengXian"/>
              </a:rPr>
              <a:t>credential_id · 300 秒有效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81790" y="4813300"/>
            <a:ext cx="31749" cy="1168400"/>
          </a:xfrm>
          <a:prstGeom prst="rect">
            <a:avLst/>
          </a:prstGeom>
          <a:solidFill>
            <a:srgbClr val="4F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>
            <a:off x="3047923" y="5842000"/>
            <a:ext cx="2031950" cy="317500"/>
          </a:xfrm>
          <a:prstGeom prst="line">
            <a:avLst/>
          </a:prstGeom>
          <a:ln w="31750">
            <a:solidFill>
              <a:srgbClr val="E0625C"/>
            </a:solidFill>
            <a:prstDash val="dash"/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190895" y="5905500"/>
            <a:ext cx="507987" cy="190499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0625C"/>
                </a:solidFill>
                <a:latin typeface="DengXian"/>
              </a:rPr>
              <a:t>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4984" y="6095999"/>
            <a:ext cx="2412939" cy="508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6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44546A"/>
                </a:solidFill>
                <a:latin typeface="DengXian"/>
              </a:rPr>
              <a:t>认证失败 X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46A"/>
                </a:solidFill>
                <a:latin typeface="DengXian"/>
              </a:rPr>
              <a:t>写事件 · 上报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987" y="6489699"/>
            <a:ext cx="8254793" cy="190499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A9AC4"/>
                </a:solidFill>
                <a:latin typeface="DengXian"/>
              </a:rPr>
              <a:t>任一环节超时即中止本轮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_0b91503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444488" y="495299"/>
            <a:ext cx="330191" cy="330200"/>
          </a:xfrm>
          <a:prstGeom prst="ellipse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DengXian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977" y="546100"/>
            <a:ext cx="9524761" cy="380999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44546A"/>
                </a:solidFill>
                <a:latin typeface="DengXian"/>
              </a:rPr>
              <a:t>语音 Agent · 对话式开锁请求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977" y="952499"/>
            <a:ext cx="9524761" cy="2540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A9AC4"/>
                </a:solidFill>
                <a:latin typeface="DengXian"/>
              </a:rPr>
              <a:t>凭证就绪后开麦 · VAD → ASR → LLM → TTS 连续对话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888977" y="1244599"/>
            <a:ext cx="2920926" cy="22224"/>
          </a:xfrm>
          <a:prstGeom prst="rect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21726" y="558800"/>
            <a:ext cx="1015974" cy="342900"/>
          </a:xfrm>
          <a:prstGeom prst="roundRect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DengXian"/>
              </a:rPr>
              <a:t>图 4 /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7892" y="444500"/>
            <a:ext cx="3555911" cy="825499"/>
          </a:xfrm>
          <a:prstGeom prst="roundRect">
            <a:avLst/>
          </a:prstGeom>
          <a:solidFill>
            <a:srgbClr val="E1F1FE"/>
          </a:solidFill>
          <a:ln w="25400">
            <a:solidFill>
              <a:srgbClr val="4FA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27432" bIns="27432"/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44546A"/>
                </a:solidFill>
                <a:latin typeface="DengXian"/>
              </a:rPr>
              <a:t>一次性凭证就绪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44546A"/>
                </a:solidFill>
                <a:latin typeface="DengXian"/>
              </a:rPr>
              <a:t>credential_id · 300 秒有效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7892" y="495299"/>
            <a:ext cx="31749" cy="723900"/>
          </a:xfrm>
          <a:prstGeom prst="rect">
            <a:avLst/>
          </a:prstGeom>
          <a:solidFill>
            <a:srgbClr val="4F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095847" y="1270000"/>
            <a:ext cx="0" cy="508000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4984" y="1778000"/>
            <a:ext cx="2539936" cy="101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2779" y="1917700"/>
            <a:ext cx="330191" cy="330200"/>
          </a:xfrm>
          <a:prstGeom prst="ellipse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DengXian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9968" y="1943100"/>
            <a:ext cx="1841453" cy="3175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4546A"/>
                </a:solidFill>
                <a:latin typeface="DengXian"/>
              </a:rPr>
              <a:t>VAD 分段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8914" y="1778000"/>
            <a:ext cx="2539936" cy="101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6709" y="1917700"/>
            <a:ext cx="330191" cy="330200"/>
          </a:xfrm>
          <a:prstGeom prst="ellipse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DengXian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3898" y="1943100"/>
            <a:ext cx="1841453" cy="3175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4546A"/>
                </a:solidFill>
                <a:latin typeface="DengXian"/>
              </a:rPr>
              <a:t>ASR 转写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2844" y="1778000"/>
            <a:ext cx="2539936" cy="101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639" y="1917700"/>
            <a:ext cx="330191" cy="330200"/>
          </a:xfrm>
          <a:prstGeom prst="ellipse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DengXia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828" y="1943100"/>
            <a:ext cx="1841453" cy="3175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4546A"/>
                </a:solidFill>
                <a:latin typeface="DengXian"/>
              </a:rPr>
              <a:t>LLM 回复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16774" y="1778000"/>
            <a:ext cx="2539936" cy="101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94570" y="1917700"/>
            <a:ext cx="330191" cy="330200"/>
          </a:xfrm>
          <a:prstGeom prst="ellipse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DengXian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51758" y="1943100"/>
            <a:ext cx="1841453" cy="3175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4546A"/>
                </a:solidFill>
                <a:latin typeface="DengXian"/>
              </a:rPr>
              <a:t>TTS 合成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74920" y="2286000"/>
            <a:ext cx="253994" cy="0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968850" y="2286000"/>
            <a:ext cx="253994" cy="0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762780" y="2286000"/>
            <a:ext cx="253994" cy="0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048723" y="2794000"/>
            <a:ext cx="0" cy="253999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095847" y="3047999"/>
            <a:ext cx="4952876" cy="0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95847" y="3047999"/>
            <a:ext cx="0" cy="190501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iamond 28"/>
          <p:cNvSpPr/>
          <p:nvPr/>
        </p:nvSpPr>
        <p:spPr>
          <a:xfrm>
            <a:off x="4952876" y="3238500"/>
            <a:ext cx="2285942" cy="127000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6A9A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44546A"/>
                </a:solidFill>
                <a:latin typeface="DengXian"/>
              </a:rPr>
              <a:t>用户意图？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44546A"/>
                </a:solidFill>
                <a:latin typeface="DengXian"/>
              </a:rPr>
              <a:t>说「开门」？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952876" y="4508500"/>
            <a:ext cx="0" cy="254000"/>
          </a:xfrm>
          <a:prstGeom prst="line">
            <a:avLst/>
          </a:prstGeom>
          <a:ln w="31750">
            <a:solidFill>
              <a:srgbClr val="E0625C"/>
            </a:solidFill>
            <a:prstDash val="dash"/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714457" y="4762500"/>
            <a:ext cx="3238419" cy="0"/>
          </a:xfrm>
          <a:prstGeom prst="line">
            <a:avLst/>
          </a:prstGeom>
          <a:ln w="31750">
            <a:solidFill>
              <a:srgbClr val="E0625C"/>
            </a:solidFill>
            <a:prstDash val="dash"/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79873" y="4667249"/>
            <a:ext cx="761980" cy="190499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E0625C"/>
                </a:solidFill>
                <a:latin typeface="DengXian"/>
              </a:rPr>
              <a:t>凭证无效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95847" y="4508500"/>
            <a:ext cx="0" cy="254000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4698882" y="4762500"/>
            <a:ext cx="1396965" cy="0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270368" y="4667249"/>
            <a:ext cx="761980" cy="190499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A9AC4"/>
                </a:solidFill>
                <a:latin typeface="DengXian"/>
              </a:rPr>
              <a:t>说「开门」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7987" y="4762500"/>
            <a:ext cx="2412939" cy="889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6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44546A"/>
                </a:solidFill>
                <a:latin typeface="DengXian"/>
              </a:rPr>
              <a:t>凭证无效 · 拒绝开门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46A"/>
                </a:solidFill>
                <a:latin typeface="DengXian"/>
              </a:rPr>
              <a:t>引导重认证 · 通知业主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28914" y="4762500"/>
            <a:ext cx="2539936" cy="889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A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44546A"/>
                </a:solidFill>
                <a:latin typeface="DengXian"/>
              </a:rPr>
              <a:t>查询 current_auth_context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46A"/>
                </a:solidFill>
                <a:latin typeface="DengXian"/>
              </a:rPr>
              <a:t>available · fresh · authorized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76838" y="4762500"/>
            <a:ext cx="2412939" cy="889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A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44546A"/>
                </a:solidFill>
                <a:latin typeface="DengXian"/>
              </a:rPr>
              <a:t>request_unlock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546A"/>
                </a:solidFill>
                <a:latin typeface="DengXian"/>
              </a:rPr>
              <a:t>→ 见 图 5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68850" y="4762500"/>
            <a:ext cx="507988" cy="0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889777" y="5206999"/>
            <a:ext cx="0" cy="381001"/>
          </a:xfrm>
          <a:prstGeom prst="line">
            <a:avLst/>
          </a:prstGeom>
          <a:ln w="31750">
            <a:solidFill>
              <a:srgbClr val="A6A6A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634984" y="5588000"/>
            <a:ext cx="8254793" cy="0"/>
          </a:xfrm>
          <a:prstGeom prst="line">
            <a:avLst/>
          </a:prstGeom>
          <a:ln w="31750">
            <a:solidFill>
              <a:srgbClr val="A6A6A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34984" y="2286000"/>
            <a:ext cx="0" cy="3302000"/>
          </a:xfrm>
          <a:prstGeom prst="line">
            <a:avLst/>
          </a:prstGeom>
          <a:ln w="31750">
            <a:solidFill>
              <a:srgbClr val="A6A6A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555911" y="5746749"/>
            <a:ext cx="3174920" cy="190499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A6A6A6"/>
                </a:solidFill>
                <a:latin typeface="DengXian"/>
              </a:rPr>
              <a:t>回到对话（闲噪 / 询问也走这条）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987" y="6489699"/>
            <a:ext cx="8254793" cy="190499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A9AC4"/>
                </a:solidFill>
                <a:latin typeface="DengXian"/>
              </a:rPr>
              <a:t>对话循环直到用户离开或凭证过期失效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_0b91503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444488" y="495299"/>
            <a:ext cx="330191" cy="330200"/>
          </a:xfrm>
          <a:prstGeom prst="ellipse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DengXian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977" y="546100"/>
            <a:ext cx="9524761" cy="380999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44546A"/>
                </a:solidFill>
                <a:latin typeface="DengXian"/>
              </a:rPr>
              <a:t>安全闸门 · 开锁的最终裁决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977" y="952499"/>
            <a:ext cx="9524761" cy="2540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A9AC4"/>
                </a:solidFill>
                <a:latin typeface="DengXian"/>
              </a:rPr>
              <a:t>Agent 只有请求权 · 闸门拥有一票否决权</a:t>
            </a:r>
          </a:p>
        </p:txBody>
      </p:sp>
      <p:sp>
        <p:nvSpPr>
          <p:cNvPr id="6" name="Rectangle 5"/>
          <p:cNvSpPr/>
          <p:nvPr/>
        </p:nvSpPr>
        <p:spPr>
          <a:xfrm>
            <a:off x="888977" y="1244599"/>
            <a:ext cx="2920926" cy="22224"/>
          </a:xfrm>
          <a:prstGeom prst="rect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21726" y="558800"/>
            <a:ext cx="1015974" cy="342900"/>
          </a:xfrm>
          <a:prstGeom prst="roundRect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DengXian"/>
              </a:rPr>
              <a:t>图 5 /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7892" y="1460500"/>
            <a:ext cx="3555911" cy="698500"/>
          </a:xfrm>
          <a:prstGeom prst="roundRect">
            <a:avLst/>
          </a:prstGeom>
          <a:solidFill>
            <a:srgbClr val="E1F1FE"/>
          </a:solidFill>
          <a:ln w="25400">
            <a:solidFill>
              <a:srgbClr val="E06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27432" bIns="27432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44546A"/>
                </a:solidFill>
                <a:latin typeface="DengXian"/>
              </a:rPr>
              <a:t>Agent 发起 request_unlock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44546A"/>
                </a:solidFill>
                <a:latin typeface="DengXian"/>
              </a:rPr>
              <a:t>credential_id + reason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7892" y="1511300"/>
            <a:ext cx="31749" cy="596900"/>
          </a:xfrm>
          <a:prstGeom prst="rect">
            <a:avLst/>
          </a:prstGeom>
          <a:solidFill>
            <a:srgbClr val="E06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095847" y="2159000"/>
            <a:ext cx="0" cy="254000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4444888" y="2476499"/>
            <a:ext cx="3301917" cy="254000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6A9A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44546A"/>
                </a:solidFill>
                <a:latin typeface="DengXian"/>
              </a:rPr>
              <a:t>安全闸门五项校验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44546A"/>
                </a:solidFill>
                <a:latin typeface="DengXian"/>
              </a:rPr>
              <a:t>① flow = agent_confirm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44546A"/>
                </a:solidFill>
                <a:latin typeface="DengXian"/>
              </a:rPr>
              <a:t>② 凭证未过期 (&lt;300s)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44546A"/>
                </a:solidFill>
                <a:latin typeface="DengXian"/>
              </a:rPr>
              <a:t>③ fusion_passed = true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44546A"/>
                </a:solidFill>
                <a:latin typeface="DengXian"/>
              </a:rPr>
              <a:t>④ 凭证未被消费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44546A"/>
                </a:solidFill>
                <a:latin typeface="DengXian"/>
              </a:rPr>
              <a:t>⑤ 非 dry-run (NO_UNLOCK=0)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73803" y="3746500"/>
            <a:ext cx="1142971" cy="0"/>
          </a:xfrm>
          <a:prstGeom prst="line">
            <a:avLst/>
          </a:prstGeom>
          <a:ln w="31750">
            <a:solidFill>
              <a:srgbClr val="4FAE7A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174920" y="3746500"/>
            <a:ext cx="1142972" cy="0"/>
          </a:xfrm>
          <a:prstGeom prst="line">
            <a:avLst/>
          </a:prstGeom>
          <a:ln w="31750">
            <a:solidFill>
              <a:srgbClr val="E0625C"/>
            </a:solidFill>
            <a:prstDash val="dash"/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99282" y="3683000"/>
            <a:ext cx="380990" cy="190499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4FAE7A"/>
                </a:solidFill>
                <a:latin typeface="DengXian"/>
              </a:rPr>
              <a:t>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4657" y="3683000"/>
            <a:ext cx="380990" cy="190499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0625C"/>
                </a:solidFill>
                <a:latin typeface="DengXian"/>
              </a:rPr>
              <a:t>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16774" y="3365500"/>
            <a:ext cx="2666933" cy="635000"/>
          </a:xfrm>
          <a:prstGeom prst="roundRect">
            <a:avLst/>
          </a:prstGeom>
          <a:solidFill>
            <a:srgbClr val="E1F1FE"/>
          </a:solidFill>
          <a:ln w="25400">
            <a:solidFill>
              <a:srgbClr val="4FA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27432" bIns="27432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44546A"/>
                </a:solidFill>
                <a:latin typeface="DengXian"/>
              </a:rPr>
              <a:t>消费凭证（幂等）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46A"/>
                </a:solidFill>
                <a:latin typeface="DengXian"/>
              </a:rPr>
              <a:t>consumed = true · 一次性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16774" y="3416299"/>
            <a:ext cx="31749" cy="533399"/>
          </a:xfrm>
          <a:prstGeom prst="rect">
            <a:avLst/>
          </a:prstGeom>
          <a:solidFill>
            <a:srgbClr val="4F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0350241" y="4000500"/>
            <a:ext cx="0" cy="222250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16774" y="4222750"/>
            <a:ext cx="2666933" cy="635000"/>
          </a:xfrm>
          <a:prstGeom prst="roundRect">
            <a:avLst/>
          </a:prstGeom>
          <a:solidFill>
            <a:srgbClr val="E1F1FE"/>
          </a:solidFill>
          <a:ln w="25400">
            <a:solidFill>
              <a:srgbClr val="4FA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27432" bIns="27432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44546A"/>
                </a:solidFill>
                <a:latin typeface="DengXian"/>
              </a:rPr>
              <a:t>驱动继电器 · 门开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6774" y="4273550"/>
            <a:ext cx="31749" cy="533399"/>
          </a:xfrm>
          <a:prstGeom prst="rect">
            <a:avLst/>
          </a:prstGeom>
          <a:solidFill>
            <a:srgbClr val="4F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0350241" y="4857750"/>
            <a:ext cx="0" cy="222250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016774" y="5080000"/>
            <a:ext cx="2666933" cy="539750"/>
          </a:xfrm>
          <a:prstGeom prst="roundRect">
            <a:avLst/>
          </a:prstGeom>
          <a:solidFill>
            <a:srgbClr val="E1F1FE"/>
          </a:solidFill>
          <a:ln w="25400">
            <a:solidFill>
              <a:srgbClr val="4FA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27432" bIns="27432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44546A"/>
                </a:solidFill>
                <a:latin typeface="DengXian"/>
              </a:rPr>
              <a:t>开锁完成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44546A"/>
                </a:solidFill>
                <a:latin typeface="DengXian"/>
              </a:rPr>
              <a:t>凭证立即失效 · 留痕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16774" y="5130800"/>
            <a:ext cx="31749" cy="438149"/>
          </a:xfrm>
          <a:prstGeom prst="rect">
            <a:avLst/>
          </a:prstGeom>
          <a:solidFill>
            <a:srgbClr val="4FA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7987" y="3365500"/>
            <a:ext cx="2666933" cy="635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6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44546A"/>
                </a:solidFill>
                <a:latin typeface="DengXian"/>
              </a:rPr>
              <a:t>拒绝请求 X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46A"/>
                </a:solidFill>
                <a:latin typeface="DengXian"/>
              </a:rPr>
              <a:t>返回具体拒绝原因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841453" y="4000500"/>
            <a:ext cx="0" cy="222250"/>
          </a:xfrm>
          <a:prstGeom prst="line">
            <a:avLst/>
          </a:prstGeom>
          <a:ln w="31750">
            <a:solidFill>
              <a:srgbClr val="6A9AC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7987" y="4222750"/>
            <a:ext cx="2666933" cy="635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6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44546A"/>
                </a:solidFill>
                <a:latin typeface="DengXian"/>
              </a:rPr>
              <a:t>Agent 告知用户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4546A"/>
                </a:solidFill>
                <a:latin typeface="DengXian"/>
              </a:rPr>
              <a:t>引导重认证 · 通知业主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841453" y="4857750"/>
            <a:ext cx="0" cy="603250"/>
          </a:xfrm>
          <a:prstGeom prst="line">
            <a:avLst/>
          </a:prstGeom>
          <a:ln w="31750">
            <a:solidFill>
              <a:srgbClr val="A6A6A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41453" y="5461000"/>
            <a:ext cx="4508388" cy="0"/>
          </a:xfrm>
          <a:prstGeom prst="line">
            <a:avLst/>
          </a:prstGeom>
          <a:ln w="31750">
            <a:solidFill>
              <a:srgbClr val="A6A6A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936901" y="5384800"/>
            <a:ext cx="2539936" cy="190499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A6A6A6"/>
                </a:solidFill>
                <a:latin typeface="DengXian"/>
              </a:rPr>
              <a:t>回到语音对话（图4）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7987" y="5842000"/>
            <a:ext cx="5460863" cy="508000"/>
          </a:xfrm>
          <a:prstGeom prst="roundRect">
            <a:avLst/>
          </a:prstGeom>
          <a:solidFill>
            <a:srgbClr val="FDF5E6"/>
          </a:solidFill>
          <a:ln w="25400">
            <a:solidFill>
              <a:srgbClr val="E5A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4546A"/>
                </a:solidFill>
                <a:latin typeface="DengXian"/>
              </a:rPr>
              <a:t>调试保护 · 闸门只模拟开锁 · 绝不驱动继电器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95847" y="5842000"/>
            <a:ext cx="5587860" cy="508000"/>
          </a:xfrm>
          <a:prstGeom prst="roundRect">
            <a:avLst/>
          </a:prstGeom>
          <a:solidFill>
            <a:srgbClr val="FDF5E6"/>
          </a:solidFill>
          <a:ln w="25400">
            <a:solidFill>
              <a:srgbClr val="E5A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4546A"/>
                </a:solidFill>
                <a:latin typeface="DengXian"/>
              </a:rPr>
              <a:t>权限边界 · Agent 不评分 / 凭证过期或已消费一律拒绝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987" y="6489699"/>
            <a:ext cx="8254793" cy="190499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A9AC4"/>
                </a:solidFill>
                <a:latin typeface="DengXian"/>
              </a:rPr>
              <a:t>全流程：硬件认证 → 凭证 → 请求 → 闸门 四层防线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极简蓝色商务通用工作汇报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6E4E4"/>
      </a:lt2>
      <a:accent1>
        <a:srgbClr val="ADC7DD"/>
      </a:accent1>
      <a:accent2>
        <a:srgbClr val="E1F1FE"/>
      </a:accent2>
      <a:accent3>
        <a:srgbClr val="AFC8DE"/>
      </a:accent3>
      <a:accent4>
        <a:srgbClr val="6A9AC4"/>
      </a:accent4>
      <a:accent5>
        <a:srgbClr val="A3C9E9"/>
      </a:accent5>
      <a:accent6>
        <a:srgbClr val="6EAC46"/>
      </a:accent6>
      <a:hlink>
        <a:srgbClr val="0563C1"/>
      </a:hlink>
      <a:folHlink>
        <a:srgbClr val="954D72"/>
      </a:folHlink>
    </a:clrScheme>
    <a:fontScheme name="seq0ukur">
      <a:majorFont>
        <a:latin typeface="Agency FB"/>
        <a:ea typeface="DengXian"/>
        <a:cs typeface=""/>
      </a:majorFont>
      <a:minorFont>
        <a:latin typeface="Agency FB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1740</Words>
  <Application>Microsoft Office PowerPoint</Application>
  <PresentationFormat>全屏显示(16:9)</PresentationFormat>
  <Paragraphs>259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Gill Sans</vt:lpstr>
      <vt:lpstr>DengXian</vt:lpstr>
      <vt:lpstr>黑体</vt:lpstr>
      <vt:lpstr>宋体</vt:lpstr>
      <vt:lpstr>微软雅黑</vt:lpstr>
      <vt:lpstr>Agency FB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极简蓝色商务通用工作汇报ppt模板</dc:title>
  <dc:creator/>
  <cp:lastModifiedBy/>
  <cp:revision>8</cp:revision>
  <dcterms:created xsi:type="dcterms:W3CDTF">2018-03-01T02:03:00Z</dcterms:created>
  <dcterms:modified xsi:type="dcterms:W3CDTF">2019-09-11T05:18:08Z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2052-10.1.0.7346</vt:lpwstr>
  </property>
</Properties>
</file>