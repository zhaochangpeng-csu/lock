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产销量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2021</c:v>
                </c:pt>
                <c:pt idx="1">
                  <c:v>2025</c:v>
                </c:pt>
                <c:pt idx="2">
                  <c:v>2026E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1780</c:v>
                </c:pt>
                <c:pt idx="1">
                  <c:v>2400</c:v>
                </c:pt>
                <c:pt idx="2">
                  <c:v>2571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千元以下</c:v>
                </c:pt>
                <c:pt idx="1">
                  <c:v>1000-2000 元</c:v>
                </c:pt>
                <c:pt idx="2">
                  <c:v>2000 元以上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63.8</c:v>
                </c:pt>
                <c:pt idx="1">
                  <c:v>27.3</c:v>
                </c:pt>
                <c:pt idx="2">
                  <c:v>8.9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b"/>
    </c:legend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20640" y="0"/>
            <a:ext cx="54864" cy="68580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3108960" cy="310896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68880" y="640080"/>
            <a:ext cx="1554480" cy="155448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80160" y="4297680"/>
            <a:ext cx="1920240" cy="192024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737360"/>
            <a:ext cx="57607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400"/>
              </a:spcAft>
              <a:defRPr sz="3600" b="1">
                <a:solidFill>
                  <a:srgbClr val="1E3C72"/>
                </a:solidFill>
              </a:defRPr>
            </a:pPr>
            <a:r>
              <a:t>面向家庭全人群的智能门锁 AI 原型</a:t>
            </a:r>
          </a:p>
          <a:p>
            <a:pPr algn="l">
              <a:defRPr sz="1700" b="0">
                <a:solidFill>
                  <a:srgbClr val="7F8C8D"/>
                </a:solidFill>
              </a:defRPr>
            </a:pPr>
            <a:r>
              <a:t>基于 Jetson 的多模态融合认证与低延迟语音 Agent</a:t>
            </a:r>
            <a:br/>
            <a:r>
              <a:t>立项调研 · 技术预研 · 系统实现 · 验证与商业规划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5623560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</a:defRPr>
            </a:pPr>
            <a:r>
              <a:t>中南大学 · IPD 集成产品开发  |  2026 年 8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汇报目录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645920"/>
            <a:ext cx="7619695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300"/>
              </a:spcAft>
              <a:defRPr sz="1900" b="1">
                <a:solidFill>
                  <a:srgbClr val="FFC107"/>
                </a:solidFill>
              </a:defRPr>
            </a:pPr>
            <a:r>
              <a:t>01    立项背景与市场机会</a:t>
            </a:r>
          </a:p>
          <a:p>
            <a:pPr algn="l">
              <a:spcAft>
                <a:spcPts val="1300"/>
              </a:spcAft>
              <a:defRPr sz="1900" b="0">
                <a:solidFill>
                  <a:srgbClr val="2C3E50"/>
                </a:solidFill>
              </a:defRPr>
            </a:pPr>
            <a:r>
              <a:t>02    关键技术预研与选型</a:t>
            </a:r>
          </a:p>
          <a:p>
            <a:pPr algn="l">
              <a:spcAft>
                <a:spcPts val="1300"/>
              </a:spcAft>
              <a:defRPr sz="1900" b="0">
                <a:solidFill>
                  <a:srgbClr val="2C3E50"/>
                </a:solidFill>
              </a:defRPr>
            </a:pPr>
            <a:r>
              <a:t>03    系统架构与实现</a:t>
            </a:r>
          </a:p>
          <a:p>
            <a:pPr algn="l">
              <a:spcAft>
                <a:spcPts val="1300"/>
              </a:spcAft>
              <a:defRPr sz="1900" b="0">
                <a:solidFill>
                  <a:srgbClr val="2C3E50"/>
                </a:solidFill>
              </a:defRPr>
            </a:pPr>
            <a:r>
              <a:t>04    安全设计与异常闭环</a:t>
            </a:r>
          </a:p>
          <a:p>
            <a:pPr algn="l">
              <a:spcAft>
                <a:spcPts val="1300"/>
              </a:spcAft>
              <a:defRPr sz="1900" b="0">
                <a:solidFill>
                  <a:srgbClr val="2C3E50"/>
                </a:solidFill>
              </a:defRPr>
            </a:pPr>
            <a:r>
              <a:t>05    验证结果与工程问题</a:t>
            </a:r>
          </a:p>
          <a:p>
            <a:pPr algn="l">
              <a:spcAft>
                <a:spcPts val="1300"/>
              </a:spcAft>
              <a:defRPr sz="1900" b="0">
                <a:solidFill>
                  <a:srgbClr val="2C3E50"/>
                </a:solidFill>
              </a:defRPr>
            </a:pPr>
            <a:r>
              <a:t>06    商业规划与产品路标</a:t>
            </a:r>
          </a:p>
          <a:p>
            <a:pPr algn="l">
              <a:spcAft>
                <a:spcPts val="1300"/>
              </a:spcAft>
              <a:defRPr sz="1900" b="0">
                <a:solidFill>
                  <a:srgbClr val="2C3E50"/>
                </a:solidFill>
              </a:defRPr>
            </a:pPr>
            <a:r>
              <a:t>07    风险边界与下一步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FFFFFF"/>
                </a:solidFill>
              </a:defRPr>
            </a:pPr>
            <a:r>
              <a:t>01  立项背景与市场机会</a:t>
            </a:r>
          </a:p>
          <a:p>
            <a:pPr algn="ctr">
              <a:defRPr sz="1700" b="0">
                <a:solidFill>
                  <a:srgbClr val="ECF0F1"/>
                </a:solidFill>
              </a:defRPr>
            </a:pPr>
            <a:r>
              <a:t>市场规模 · 客群痛点 · 竞品格局 · 产品边界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项目概况与产品定位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4577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项目定位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面向家庭全人群的智能门锁 AI 原型 Demo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编号 CH-2026-SL01-V1.0，编制日 2026-08-25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用途：IPD CDCP 立项决策评审核心材料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硬件构成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Jetson 边缘设备 + 单个 RGB 摄像头 + 传感器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智能音箱 + NVIDIA GPU 笔记本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核心能力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单目深度估计（Depth Anything / MiDaS）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2D 人脸识别、动作活体、声纹识别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人脸与声纹多模态融合、传感器唤醒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语音交互、模拟开锁、本地管理端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中国智能门锁产销量趋势（万套）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1371600"/>
          <a:ext cx="10728655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市场结构：渗透率、品类与集中度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4577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城镇家庭渗透率低于 30%：一线约 45%，新一线 38%，三四线 22%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日韩市场渗透率已超 60%，中国仍处普及中段，增量空间明确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人脸识别 2025 年传统电商零售量占比 43.2%，零售额占比 59.4%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2026 年 1-4 月线上销量份额 51.6%，掌静脉 16.5%（+9.2pct）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AI 智能锁 2025 年销量占比 11.2%，销售额占比 24.7%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品牌集中度：小米 + 德施曼 + 凯迪仕合计 28.3%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2025Q3 小米、德施曼、海尔、凯迪仕合计 51.0%，TOP10 超 75%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TAM 450-700 亿元/年，SAM 140-210 亿元/年（01_ 统一口径）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价格段结构（传统电商零售量占比）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1371600"/>
          <a:ext cx="10728655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用户痛点 VOC 与目标客群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188720"/>
            <a:ext cx="27432" cy="50292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48463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老人指纹浅，识别率低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晚间楼道暗光识别失败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担心照片 / 视频攻击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担心人脸数据上传云端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临时密码操作麻烦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门锁 + 猫眼需打两个孔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电池半年一换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280160"/>
            <a:ext cx="48463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核心：城市中产 / 多代同堂家庭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核心价格带 2500-3500 元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次要：年轻智能家居用户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次要价格带 2000-3000 元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渠道：高端社区物业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渠道：智能家居集成商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渠道：长租公寓 / 民宿集采 1800-2800 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竞品格局对比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96926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竞品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主要配置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价格带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德施曼 R8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双目红外 3D 人脸 + 指静脉 + 大屏猫眼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3000-4000 元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凯迪仕 K70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3D 人脸 + 掌静脉 + 本地 AI 语音管家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3500-5000 元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小米 M30 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AI 3D 结构光 + 广角猫眼 + 米家生态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2000-3000 元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华为 Pro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3D ToF + 分布式可视猫眼 + 鸿蒙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2500-3500 元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市场空白与我们的切入点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188720"/>
            <a:ext cx="27432" cy="50292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48463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多模态多为「或逻辑」，缺自适应降级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生物特征上传云端，存在隐私顾虑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身高 &lt;1.3m 儿童、&gt;1.9m 成人覆盖不全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PIR 存在误报与漏报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竞品续航普遍仅 3-6 个月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280160"/>
            <a:ext cx="48463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本地加权融合，阈值与权重可配置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端侧比对，生物特征不出设备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多模态 + 一次性凭证，判定可解释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红外上升沿触发 + 状态保持，抑制抖动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端侧不上云，无云存储订阅成本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产品边界：本项目明确不做的事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4577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不做真实硬件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真实整机硬件结构与开模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仅做方案分析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3D 结构光 / ToF 人脸、半导体指纹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全自动锁体、安全芯片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不做验证与送检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真实低功耗与电池续航验证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真实认证送检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当前版本不做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声纹独立单因子开锁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AI 主动安防与视频事件分析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不做平台化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大规模云平台与社区门禁中台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FFFFFF"/>
                </a:solidFill>
              </a:defRPr>
            </a:pPr>
            <a:r>
              <a:t>02  关键技术预研与选型</a:t>
            </a:r>
          </a:p>
          <a:p>
            <a:pPr algn="ctr">
              <a:defRPr sz="1700" b="0">
                <a:solidFill>
                  <a:srgbClr val="ECF0F1"/>
                </a:solidFill>
              </a:defRPr>
            </a:pPr>
            <a:r>
              <a:t>两条技术路线 · 否定项 · 判定结论 · 指标基线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技术选型：Demo 验证路线 vs 量产方案路线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60579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能力域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Demo 验证路线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量产方案路线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深度估计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Depth Anything / MiDaS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3D 结构光优先，双目 IR 备选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人脸识别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InsightFace / SCRFD / ArcFace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3D 结构光 + 端侧比对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活体检测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MediaPipe FaceMesh 动作活体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3D 活体 + 分级唤醒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声纹识别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SpeechBrain ECAPA-TDNN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声纹作为第二因子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主认证兜底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自研规则引擎 + 人脸声纹融合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半导体指纹 + 密码兜底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多模态融合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自研规则引擎，加权融合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规则化多模态，策略从简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执行与推理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Jetson.GPIO + ONNX Runtime / TensorRT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全自动锁体 + 端侧 NPU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被否定的技术路线及理由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4577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常电视觉方案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功耗高、续航差，不适合电池供电门锁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云端比对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隐私、断网可用性与合规风险难以接受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光学指纹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安全性不足，干湿手识别弱，改选半导体指纹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复杂 AI 多模态融合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可解释性差，留待 V2.0；本版采用规则化融合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声纹独立开锁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V1.0 仅作第二因子，不做单因子放行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UWB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短期可行性低，暂不纳入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指静脉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识别慢约 1-2 秒、体积大、需用户教育，仅作旗舰补充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关键技术项判定结论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技术项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判定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人脸识别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Pass（方案级）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Demo 用 2D，量产转 3D 结构光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指纹识别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量产采用半导体指纹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密码兜底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保留为最终降级通道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声纹识别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Conditional Pass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仅作第二因子，不单独放行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多模态融合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框架先行，策略从简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低功耗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Pass（设计验证）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分级唤醒，未做真机续航天验证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安全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端侧比对，特征不出设备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锁体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Pass（方案级）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全自动锁体仅方案分析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遮挡场景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Conditional 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算法准确率 72% → 95.3%，仍需实测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性能指标：Demo 基线与量产目标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4577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Demo 基线（预研报告 6.2）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深度图 ≤ 1~2 秒；人脸识别单次 ≤ 1~2 秒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声纹识别 ≤ 2~3 秒；整体演示链路 ≤ 5~8 秒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量产建议目标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识别成功率 ≥ 98%~99%；误识率 FAR ≤ 0.001%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活体拦截率 ≥ 95%~99%；开锁链路 ≤ 1.5~2 秒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唤醒 ≤ 300~500 毫秒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续航 ≥ 6 个月，低于 4 个月强制改方案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遮挡优化参考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领先算法准确率 72% → 95.3%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单帧耗时 85 毫秒 → 38 毫秒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FFFFFF"/>
                </a:solidFill>
              </a:defRPr>
            </a:pPr>
            <a:r>
              <a:t>03  系统架构与实现</a:t>
            </a:r>
          </a:p>
          <a:p>
            <a:pPr algn="ctr">
              <a:defRPr sz="1700" b="0">
                <a:solidFill>
                  <a:srgbClr val="ECF0F1"/>
                </a:solidFill>
              </a:defRPr>
            </a:pPr>
            <a:r>
              <a:t>四层职责边界 · 融合认证 · 两阶段开门 · 语音 Agent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总体部署架构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578" y="1325880"/>
            <a:ext cx="9114537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85216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</a:defRPr>
            </a:pPr>
            <a:r>
              <a:t>Jetson 边缘端负责硬件、实时语音与最终安全裁决；Windows / WSL 负责 FastGPT 与 DeepSeek 对话编排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系统四层职责边界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4577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Jetson 硬件认证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独立完成红外 / 人脸 / 活体 / 声纹与融合判定，只产生凭证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FastGPT + DeepSeek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只做语言理解与工具编排，不接触摄像头特征与声纹 embedding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Jetson 工具网关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只验证凭证与干运行开关，最终驱动执行器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Pipecat 语音流水线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只做音频流水线、轮流说话与打断，不参与安全判定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异常事件服务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只记录认证失败，故障不得改变融合判定与开锁结果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硬件多模态认证流程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4577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① 红外传感器常驻轮询，检测到人体靠近后开启摄像头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② InsightFace 人脸识别，与本地人脸库 embedding 比对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③ MediaPipe 活体检测，要求眨眼一次并左右转头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④ SpeechBrain ECAPA 文本无关声纹识别，无需固定口令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⑤ 校验人脸身份与声纹身份一致，进入本地加权融合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全部参数位于 config.yaml，Agent 不参与任何评分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多模态融合权重与阈值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8077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模块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融合权重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单项阈值与关键参数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人脸（InsightFace）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min_score 0.65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活体（MediaPipe）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min_score 0.60，需眨眼 + 转头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声纹（SpeechBrain ECAPA）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min_score 0.70，最短语音 2.0 秒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红外（串口传感器）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上升沿触发，状态保持 30 秒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融合阈值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require_all = false，按加权总分判定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两阶段开门时序</a:t>
            </a:r>
          </a:p>
        </p:txBody>
      </p:sp>
      <p:pic>
        <p:nvPicPr>
          <p:cNvPr id="7" name="Picture 6" descr="unlock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62430"/>
            <a:ext cx="10911535" cy="247029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85216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</a:defRPr>
            </a:pPr>
            <a:r>
              <a:t>硬件融合通过后只签发一次性凭证，由用户向语音 Agent 表达开门意图后，再由本地安全闸门裁决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一次性安全凭证设计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4577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凭证内容（logs/auth_context.json）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credential_id：一次性随机 ID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time：签发时间；fusion_passed：本地融合结果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consumed：是否已被消费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有效条件（需同时满足）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fusion_passed 为 true，且 consumed 为 false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now - time 不超过 300 秒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消费语义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request_unlock 成功后立即标记为已消费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重复请求必须被拒绝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生命周期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每次融合通过签发新凭证，失败重试不覆盖有效凭证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人员离开、会话重置或脚本重启时删除凭证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低延迟语音 Agent 流水线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4577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麦克风 → sounddevice / PortAudio → 输入 16 kHz 单声道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Pipecat + Silero VAD：检测起止说话、静音超时与打断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本地 ASR：FunASR SenseVoiceSmall + FSMN-VAD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FastGPT + DeepSeek：流式回复与工具编排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本地 TTS：sherpa-onnx VITS/Piper 优先，edge-tts 降级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输出：ffmpeg 转 S16_LE 16 kHz 单声道 → ALSA aplay 播放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Agent 受控工具定义（仅注册两个）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16154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工具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方法 / 路径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调用约束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</a:tr>
              <a:tr h="16154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current_auth_context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GET /tools/current_auth_context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读取最新硬件认证凭证状态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任何开锁请求前必须先调用</a:t>
                      </a:r>
                    </a:p>
                  </a:txBody>
                  <a:tcPr/>
                </a:tc>
              </a:tr>
              <a:tr h="16154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request_unlock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POST /tools/request_unlock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请求开锁，由本地闸门裁决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四个有效条件同时满足才调用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ASR / TTS 与边缘资源策略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4577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ASR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FunASR SenseVoiceSmall + FSMN-VAD，本地推理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WSL CPU 峰值约 3.62 GB，Jetson 需整机内存基准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下一步评估 sherpa-onnx 流式 ASR 或模型量化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TTS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已选 sherpa-onnx 1.13.6，提供 aarch64 py3.8 轮子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piper-tts 不可行：piper-phonemize 无 aarch64 预编译轮子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冒烟音色 13.4 MB，模型卡标注 non-commercial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正式音色需完成许可证确认后才能商用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Jetson 依赖组合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pipecat-ai==0.0.108 --no-deps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numba==0.60.0、onnxruntime==1.16.3、soxr==0.5.0.post1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均已确认存在 aarch64 cp310 轮子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FFFFFF"/>
                </a:solidFill>
              </a:defRPr>
            </a:pPr>
            <a:r>
              <a:t>04  安全设计与异常闭环</a:t>
            </a:r>
          </a:p>
          <a:p>
            <a:pPr algn="ctr">
              <a:defRPr sz="1700" b="0">
                <a:solidFill>
                  <a:srgbClr val="ECF0F1"/>
                </a:solidFill>
              </a:defRPr>
            </a:pPr>
            <a:r>
              <a:t>四层约束 · 场景验证 · 事件链路 · 进程治理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四层安全约束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4577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第一层 · 融合层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只有 Jetson 本地 FusionEngine 能产生认证结果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第二层 · 凭证层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短时、一次性；过期与重复消费一律拒绝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第三层 · Agent 层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仅注册两个受控工具，不暴露裸 unlock 接口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第四层 · 执行层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Bearer Token、SMART_LOCK_NO_UNLOCK 与本地执行器共同控制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结论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即使模型误解或提示词失效，本地安全闸门仍能拒绝无凭证请求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安全验证：两个真实场景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16154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场景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实际工具调用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结果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</a:tr>
              <a:tr h="16154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有效凭证 + 「请开门」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current_auth_context → request_unlock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干运行阻止真实动作</a:t>
                      </a:r>
                    </a:p>
                  </a:txBody>
                  <a:tcPr/>
                </a:tc>
              </a:tr>
              <a:tr h="16154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无效凭证 + 「请开门」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仅 current_auth_context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不调用开锁工具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异常事件闭环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4577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触发条件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红外持续检测到人员，超过 3 秒仍无法识别人脸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完整认证进入融合阶段后失败（活体、声纹或身份一致性）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处理链路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认证失败 → localhost:8790/event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原子写入 latest_event.json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SCP 同步至 Windows → WorkBuddy 定时读取 → Bot 通知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通知成功后标记 processed = true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设计约束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同一次人员停留只写一次，离开超过 5 秒后重新布防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事件服务异常只记日志并重试，不改变认证或开锁结果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当前只保留最新一条，不等同于完整事件队列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端口与服务分工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12115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服务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默认端口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部署位置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配置入口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</a:tr>
              <a:tr h="12115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FastGPT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3300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Windows / WSL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FASTGPT_PORT / API_BASE</a:t>
                      </a:r>
                    </a:p>
                  </a:txBody>
                  <a:tcPr/>
                </a:tc>
              </a:tr>
              <a:tr h="12115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门锁工具网关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8787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Jetson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LOCK_TOOL_GATEWAY_PORT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12115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异常事件服务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8790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Jetson 本机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LOCK_EVENT_SERVICE_PORT / URL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进程治理与一键运维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4577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run_smart_lock.sh 支持 start / status / restart / stop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统一监督 GUI、Pipecat Agent、工具网关与异常事件服务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子进程异常退出后自动拉起，保证长时间运行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停止时清理 PID、临时凭证与 .tmp 文件，并释放端口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启动时清理旧凭证与临时文件，保证幂等启动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Windows 侧由 run_jetson_full_stack.ps1 管理 SSH 双向隧道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FFFFFF"/>
                </a:solidFill>
              </a:defRPr>
            </a:pPr>
            <a:r>
              <a:t>05  验证结果与工程问题</a:t>
            </a:r>
          </a:p>
          <a:p>
            <a:pPr algn="ctr">
              <a:defRPr sz="1700" b="0">
                <a:solidFill>
                  <a:srgbClr val="ECF0F1"/>
                </a:solidFill>
              </a:defRPr>
            </a:pPr>
            <a:r>
              <a:t>测试清单 · 资源实测 · 典型问题与解法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测试与验证结果清单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44057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测试项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结果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原硬件正向认证流程（红外→人脸→活体→声纹）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开发板已跑通</a:t>
                      </a:r>
                    </a:p>
                  </a:txBody>
                  <a:tcPr/>
                </a:tc>
              </a:tr>
              <a:tr h="4405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FastGPT Web 可达性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localhost:3300 返回 200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Agent 有效 / 无效凭证工具调用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两个真实场景均通过</a:t>
                      </a:r>
                    </a:p>
                  </a:txBody>
                  <a:tcPr/>
                </a:tc>
              </a:tr>
              <a:tr h="4405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工具网关生命周期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start / stop / restart / crash / recovery 通过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异常事件服务生命周期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start / stop / restart / crash / recovery 通过</a:t>
                      </a:r>
                    </a:p>
                  </a:txBody>
                  <a:tcPr/>
                </a:tc>
              </a:tr>
              <a:tr h="4405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端口与父进程环境清理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通过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Pipecat 单元链路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通过</a:t>
                      </a:r>
                    </a:p>
                  </a:txBody>
                  <a:tcPr/>
                </a:tc>
              </a:tr>
              <a:tr h="4405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Windows / WSL 文件语音链路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通过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开发板真麦克风与音箱基础对话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历史版本已通过</a:t>
                      </a:r>
                    </a:p>
                  </a:txBody>
                  <a:tcPr/>
                </a:tc>
              </a:tr>
              <a:tr h="4405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最新异常触发与 Jetson aplay 输出改动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待板端重新同步复测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资源实测与平台口径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188720"/>
            <a:ext cx="27432" cy="50292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48463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整机运行约 5.5 GiB，剩余约 1.6 GiB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主要占用：SenseVoice 进程与 GUI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WSL 侧 FunASR CPU 峰值约 3.62 GB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人脸 / 活体 / 声纹 / ASR / 网关可同时工作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280160"/>
            <a:ext cx="48463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实测板为 Orin NX，约 7.4 GiB 内存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Jetson Nano 4GB 是目标兼容平台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Nano 4GB 资源余量未知，需重新基准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不可直接宣称已完成 Nano 部署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关键工程问题与解决方案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38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问题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解决方案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红外持续为 true 导致重复播报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上升沿触发 + 状态保持 + 离开重置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模型首次使用延迟高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GUI 与 FunASR 启动时预加载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GUI 声纹与 Agent 同时抢麦克风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Agent 等待硬件凭证，认证结束后再开麦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Agent 可能绕过认证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一次性凭证 + 本地网关，不暴露裸开锁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FastGPT 无法直接访问 Jetson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SSH 本地 / 反向隧道连接 3300 与 8787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服务异常退出污染端口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PID 监督、信号清理、强制中断恢复测试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异常情况没有记录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独立事件服务 + 单文件原子写入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Jetson 音频路径不统一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输入统一 PortAudio，输出统一 ALSA aplay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FFFFFF"/>
                </a:solidFill>
              </a:defRPr>
            </a:pPr>
            <a:r>
              <a:t>06  商业规划与产品路标</a:t>
            </a:r>
          </a:p>
          <a:p>
            <a:pPr algn="ctr">
              <a:defRPr sz="1700" b="0">
                <a:solidFill>
                  <a:srgbClr val="ECF0F1"/>
                </a:solidFill>
              </a:defRPr>
            </a:pPr>
            <a:r>
              <a:t>成本定价 · 商业模式 · 版本与流程路标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成本、定价与营收测算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60579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项目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Demo 阶段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量产测算（教学示例）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硬件 / 耗材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额外耗材 0-2000 元（不含已有设备）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整机边际成本 1000-1600 元/套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人力与周期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5-8 人，3-4 个月，预留 1-2 周缓冲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毛利率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30%-45%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建议定价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基础版 2599 / 标准版 2999 / 高配版 3499 元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首年销量与营收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1-3 万套，营收 0.3-0.9 亿元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研发与营销投入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可选用免费云额度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2000-5000 万元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投资回收期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2-4 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商业模式与渠道策略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4577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商业模式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硬件销售、B 端集采、增值服务（后续）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溢价逻辑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端侧不上云，云存储订阅费为零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锚定 2500-3500 元价格带，不参与价格战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渠道策略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首年新房渠道出货控制在 40% 以内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KOL 内容种草 + 高端社区物业团购 + 集成商推荐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预算与落地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不投放电商竞价流量，预留 15% 应急预算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需求方案 → 模组验证 → 工程样机 → 系统验证 → 认证整改 → 小批试制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版本路标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474720"/>
            <a:ext cx="10728655" cy="54864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84929" y="3291839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3409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1E3C72"/>
                </a:solidFill>
              </a:defRPr>
            </a:pPr>
            <a:r>
              <a:t>V1.0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409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</a:defRPr>
            </a:pPr>
            <a:r>
              <a:t>Demo 与量产基础能力</a:t>
            </a:r>
          </a:p>
        </p:txBody>
      </p:sp>
      <p:sp>
        <p:nvSpPr>
          <p:cNvPr id="11" name="Oval 10"/>
          <p:cNvSpPr/>
          <p:nvPr/>
        </p:nvSpPr>
        <p:spPr>
          <a:xfrm>
            <a:off x="3657508" y="3291839"/>
            <a:ext cx="365760" cy="36576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5988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1E3C72"/>
                </a:solidFill>
              </a:defRPr>
            </a:pPr>
            <a:r>
              <a:t>V2.0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5988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</a:defRPr>
            </a:pPr>
            <a:r>
              <a:t>多模态自适应、遮挡优化</a:t>
            </a:r>
          </a:p>
        </p:txBody>
      </p:sp>
      <p:sp>
        <p:nvSpPr>
          <p:cNvPr id="14" name="Oval 13"/>
          <p:cNvSpPr/>
          <p:nvPr/>
        </p:nvSpPr>
        <p:spPr>
          <a:xfrm>
            <a:off x="5730087" y="3291839"/>
            <a:ext cx="365760" cy="36576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98567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1E3C72"/>
                </a:solidFill>
              </a:defRPr>
            </a:pPr>
            <a:r>
              <a:t>V2.0+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8567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</a:defRPr>
            </a:pPr>
            <a:r>
              <a:t>智能猫眼 / 门铃、Matter</a:t>
            </a:r>
          </a:p>
        </p:txBody>
      </p:sp>
      <p:sp>
        <p:nvSpPr>
          <p:cNvPr id="17" name="Oval 16"/>
          <p:cNvSpPr/>
          <p:nvPr/>
        </p:nvSpPr>
        <p:spPr>
          <a:xfrm>
            <a:off x="7802666" y="3291839"/>
            <a:ext cx="365760" cy="36576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71146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1E3C72"/>
                </a:solidFill>
              </a:defRPr>
            </a:pPr>
            <a:r>
              <a:t>V3.0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1146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</a:defRPr>
            </a:pPr>
            <a:r>
              <a:t>声纹独立开锁、AI 主动安防</a:t>
            </a:r>
          </a:p>
        </p:txBody>
      </p:sp>
      <p:sp>
        <p:nvSpPr>
          <p:cNvPr id="20" name="Oval 19"/>
          <p:cNvSpPr/>
          <p:nvPr/>
        </p:nvSpPr>
        <p:spPr>
          <a:xfrm>
            <a:off x="9875245" y="3291839"/>
            <a:ext cx="365760" cy="36576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3725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1E3C72"/>
                </a:solidFill>
              </a:defRPr>
            </a:pPr>
            <a:r>
              <a:t>V3.0+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3725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</a:defRPr>
            </a:pPr>
            <a:r>
              <a:t>指静脉 / UWB、统一身份平台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IPD 流程节点与交付物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474720"/>
            <a:ext cx="10728655" cy="54864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84929" y="3291839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3409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1E3C72"/>
                </a:solidFill>
              </a:defRPr>
            </a:pPr>
            <a:r>
              <a:t>CDCP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409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</a:defRPr>
            </a:pPr>
            <a:r>
              <a:t>Charter 审批 + PDT 组建</a:t>
            </a:r>
          </a:p>
        </p:txBody>
      </p:sp>
      <p:sp>
        <p:nvSpPr>
          <p:cNvPr id="11" name="Oval 10"/>
          <p:cNvSpPr/>
          <p:nvPr/>
        </p:nvSpPr>
        <p:spPr>
          <a:xfrm>
            <a:off x="3657508" y="3291839"/>
            <a:ext cx="365760" cy="36576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5988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1E3C72"/>
                </a:solidFill>
              </a:defRPr>
            </a:pPr>
            <a:r>
              <a:t>TR1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5988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</a:defRPr>
            </a:pPr>
            <a:r>
              <a:t>需求说明与产品概念</a:t>
            </a:r>
          </a:p>
        </p:txBody>
      </p:sp>
      <p:sp>
        <p:nvSpPr>
          <p:cNvPr id="14" name="Oval 13"/>
          <p:cNvSpPr/>
          <p:nvPr/>
        </p:nvSpPr>
        <p:spPr>
          <a:xfrm>
            <a:off x="5730087" y="3291839"/>
            <a:ext cx="365760" cy="36576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98567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1E3C72"/>
                </a:solidFill>
              </a:defRPr>
            </a:pPr>
            <a:r>
              <a:t>TR2 / TR3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8567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</a:defRPr>
            </a:pPr>
            <a:r>
              <a:t>架构选型与详细设计</a:t>
            </a:r>
          </a:p>
        </p:txBody>
      </p:sp>
      <p:sp>
        <p:nvSpPr>
          <p:cNvPr id="17" name="Oval 16"/>
          <p:cNvSpPr/>
          <p:nvPr/>
        </p:nvSpPr>
        <p:spPr>
          <a:xfrm>
            <a:off x="7802666" y="3291839"/>
            <a:ext cx="365760" cy="36576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71146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1E3C72"/>
                </a:solidFill>
              </a:defRPr>
            </a:pPr>
            <a:r>
              <a:t>TR4 / TR5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1146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</a:defRPr>
            </a:pPr>
            <a:r>
              <a:t>模块测试与整机联调</a:t>
            </a:r>
          </a:p>
        </p:txBody>
      </p:sp>
      <p:sp>
        <p:nvSpPr>
          <p:cNvPr id="20" name="Oval 19"/>
          <p:cNvSpPr/>
          <p:nvPr/>
        </p:nvSpPr>
        <p:spPr>
          <a:xfrm>
            <a:off x="9875245" y="3291839"/>
            <a:ext cx="365760" cy="36576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3725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1E3C72"/>
                </a:solidFill>
              </a:defRPr>
            </a:pPr>
            <a:r>
              <a:t>TR6 / ADCP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3725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</a:defRPr>
            </a:pPr>
            <a:r>
              <a:t>归档与结项演示（2026-12）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FFFFFF"/>
                </a:solidFill>
              </a:defRPr>
            </a:pPr>
            <a:r>
              <a:t>07  风险边界与下一步</a:t>
            </a:r>
          </a:p>
          <a:p>
            <a:pPr algn="ctr">
              <a:defRPr sz="1700" b="0">
                <a:solidFill>
                  <a:srgbClr val="ECF0F1"/>
                </a:solidFill>
              </a:defRPr>
            </a:pPr>
            <a:r>
              <a:t>已知边界 · 风险清单 · 短中长期计划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当前边界与风险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4577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开发板 SSH 在密钥交换阶段关闭连接，最新改动尚未同步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执行器为串口风扇模拟开锁，真实继电器需有人看护测试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DeepSeek API 依赖网络，断网时对话开门不可用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回声消除、长时间打断稳定性与端到端延迟缺正式数据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latest_event.json 只保留最新一条，生产应升级为队列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Bot 渠道与 WorkBuddy 正式定时任务尚未接入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Nano 4GB 资源余量未知，需要更小 ASR 或模型量化方案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下一步计划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4577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短期：完成板端验收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恢复 SSH 并同步最新代码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验证陌生人 3 秒自动事件与融合失败事件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验证 Pipecat 通过 aplay 的真实扬声器输出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复测 start / restart / stop / crash 与端口清理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中期：形成可演示闭环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接入 WorkBuddy 定时任务与一个 Bot 通知渠道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演示：记录 → 同步 → 通知 → processed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记录 ASR、模型调用、TTS 与总响应延迟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长期：产品化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事件存储升级为 SQLite 队列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加入回声消除与更小的流式 ASR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在真实继电器与 Nano 4GB 上完成资源、安全、断网、断电测试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项目总结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999713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C3E50"/>
                </a:solidFill>
              </a:defRPr>
            </a:pPr>
            <a:r>
              <a:t>立项侧：市场规模、客群痛点、竞品格局与技术预研已形成完整证据链</a:t>
            </a:r>
          </a:p>
          <a:p>
            <a:pPr>
              <a:spcAft>
                <a:spcPts val="1000"/>
              </a:spcAft>
              <a:defRPr sz="1700" b="0">
                <a:solidFill>
                  <a:srgbClr val="2C3E50"/>
                </a:solidFill>
              </a:defRPr>
            </a:pPr>
            <a:r>
              <a:t>技术侧：多模态融合认证、两阶段开门与语音 Agent 已在板端跑通</a:t>
            </a:r>
          </a:p>
          <a:p>
            <a:pPr>
              <a:spcAft>
                <a:spcPts val="1000"/>
              </a:spcAft>
              <a:defRPr sz="1700" b="0">
                <a:solidFill>
                  <a:srgbClr val="2C3E50"/>
                </a:solidFill>
              </a:defRPr>
            </a:pPr>
            <a:r>
              <a:t>安全侧：一次性凭证 + 本地网关，使模型误判也无法驱动真实开锁</a:t>
            </a:r>
          </a:p>
          <a:p>
            <a:pPr>
              <a:spcAft>
                <a:spcPts val="1000"/>
              </a:spcAft>
              <a:defRPr sz="1700" b="0">
                <a:solidFill>
                  <a:srgbClr val="2C3E50"/>
                </a:solidFill>
              </a:defRPr>
            </a:pPr>
            <a:r>
              <a:t>工程侧：四个服务统一监督、端口与凭证自动清理，可重复部署</a:t>
            </a:r>
          </a:p>
          <a:p>
            <a:pPr>
              <a:spcAft>
                <a:spcPts val="1000"/>
              </a:spcAft>
              <a:defRPr sz="1700" b="0">
                <a:solidFill>
                  <a:srgbClr val="2C3E50"/>
                </a:solidFill>
              </a:defRPr>
            </a:pPr>
            <a:r>
              <a:t>边界：真实继电器、断网可用性、端到端延迟与 Nano 4GB 仍待验证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120640"/>
            <a:ext cx="10362895" cy="9144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硬件认证负责安全，Agent 负责交互，网关负责执行 —— 三者各司其职的组合已经验证可行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295" y="64739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8C8D"/>
                </a:solidFill>
              </a:defRPr>
            </a:pPr>
            <a:r>
              <a:t>智能门锁 AI 原型 · IPD 立项与技术汇报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4484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400"/>
              </a:spcAft>
              <a:defRPr sz="3400" b="1">
                <a:solidFill>
                  <a:srgbClr val="FFFFFF"/>
                </a:solidFill>
              </a:defRPr>
            </a:pPr>
            <a:r>
              <a:t>感谢聆听 · 敬请指正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85340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700"/>
              </a:spcAft>
              <a:defRPr sz="1700" b="0">
                <a:solidFill>
                  <a:srgbClr val="ECF0F1"/>
                </a:solidFill>
              </a:defRPr>
            </a:pPr>
            <a:r>
              <a:t>项目：面向家庭全人群的智能门锁 AI 原型（CH-2026-SL01-V1.0）</a:t>
            </a:r>
            <a:br/>
            <a:r>
              <a:t>技术方案：docs/LLM_AGENT_PLAN.md（v2.1）　部署记录：docs/DEPLOYMENT.md</a:t>
            </a:r>
            <a:br/>
            <a:r>
              <a:t>汇报稿：docs/PPT_REPORT.md　素材：docs/architecture.png、docs/unlock_sequence.png</a:t>
            </a:r>
            <a:br/>
            <a:r>
              <a:t>现场演示保持 SMART_LOCK_NO_UNLOCK=1，不驱动真实继电器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