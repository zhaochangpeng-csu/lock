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1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5"/>
  </p:notesMasterIdLst>
  <p:sldIdLst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</p:sldIdLst>
  <p:sldSz cx="9144000" cy="5143500" type="screen16x9"/>
  <p:notesSz cx="6858000" cy="9144000"/>
  <p:custDataLst>
    <p:tags r:id="rId26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3FE"/>
    <a:srgbClr val="AEC7DD"/>
    <a:srgbClr val="E1F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60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38" y="2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tags" Target="tags/tag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chemeClr val="bg1"/>
            </a:solidFill>
            <a:ln w="38100">
              <a:solidFill>
                <a:schemeClr val="accent1">
                  <a:alpha val="70000"/>
                </a:schemeClr>
              </a:solidFill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chemeClr val="bg1"/>
              </a:solidFill>
              <a:ln w="3810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E9-4420-85B6-AABFAF218BBF}"/>
              </c:ext>
            </c:extLst>
          </c:dPt>
          <c:dPt>
            <c:idx val="1"/>
            <c:invertIfNegative val="1"/>
            <c:bubble3D val="0"/>
            <c:spPr>
              <a:solidFill>
                <a:schemeClr val="bg1"/>
              </a:solidFill>
              <a:ln w="38100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E9-4420-85B6-AABFAF218BBF}"/>
              </c:ext>
            </c:extLst>
          </c:dPt>
          <c:dPt>
            <c:idx val="2"/>
            <c:invertIfNegative val="1"/>
            <c:bubble3D val="0"/>
            <c:spPr>
              <a:solidFill>
                <a:schemeClr val="bg1"/>
              </a:solidFill>
              <a:ln w="38100"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E9-4420-85B6-AABFAF218BBF}"/>
              </c:ext>
            </c:extLst>
          </c:dPt>
          <c:dPt>
            <c:idx val="3"/>
            <c:invertIfNegative val="1"/>
            <c:bubble3D val="0"/>
            <c:spPr>
              <a:solidFill>
                <a:schemeClr val="bg1"/>
              </a:solidFill>
              <a:ln w="38100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E9-4420-85B6-AABFAF218BBF}"/>
              </c:ext>
            </c:extLst>
          </c:dPt>
          <c:dPt>
            <c:idx val="4"/>
            <c:invertIfNegative val="1"/>
            <c:bubble3D val="0"/>
            <c:spPr>
              <a:solidFill>
                <a:schemeClr val="bg1"/>
              </a:solidFill>
              <a:ln w="38100"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7E9-4420-85B6-AABFAF218BB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2700" cap="rnd" cmpd="sng">
                <a:solidFill>
                  <a:schemeClr val="bg1">
                    <a:lumMod val="75000"/>
                  </a:schemeClr>
                </a:solidFill>
                <a:prstDash val="dash"/>
              </a:ln>
              <a:effectLst/>
            </c:spPr>
            <c:trendlineType val="poly"/>
            <c:order val="4"/>
            <c:dispRSqr val="0"/>
            <c:dispEq val="0"/>
          </c:trendline>
          <c:xVal>
            <c:numRef>
              <c:f>Sheet1!$A$2:$A$6</c:f>
              <c:numCache>
                <c:formatCode>General</c:formatCode>
                <c:ptCount val="5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</c:v>
                </c:pt>
                <c:pt idx="4">
                  <c:v>2.5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2</c:v>
                </c:pt>
                <c:pt idx="2">
                  <c:v>2</c:v>
                </c:pt>
                <c:pt idx="3">
                  <c:v>1.5</c:v>
                </c:pt>
                <c:pt idx="4">
                  <c:v>2.5</c:v>
                </c:pt>
              </c:numCache>
            </c:numRef>
          </c:yVal>
          <c:bubbleSize>
            <c:numRef>
              <c:f>Sheet1!$C$2:$C$6</c:f>
              <c:numCache>
                <c:formatCode>General</c:formatCode>
                <c:ptCount val="5"/>
                <c:pt idx="0">
                  <c:v>6</c:v>
                </c:pt>
                <c:pt idx="1">
                  <c:v>8</c:v>
                </c:pt>
                <c:pt idx="2">
                  <c:v>5</c:v>
                </c:pt>
                <c:pt idx="3">
                  <c:v>8</c:v>
                </c:pt>
                <c:pt idx="4">
                  <c:v>10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B-77E9-4420-85B6-AABFAF218B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bubbleScale val="100"/>
        <c:showNegBubbles val="0"/>
        <c:axId val="432621056"/>
        <c:axId val="432622976"/>
      </c:bubbleChart>
      <c:valAx>
        <c:axId val="432621056"/>
        <c:scaling>
          <c:orientation val="minMax"/>
        </c:scaling>
        <c:delete val="0"/>
        <c:axPos val="b"/>
        <c:majorGridlines>
          <c:spPr>
            <a:ln w="9525"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id-ID"/>
                  <a:t>DIAGRAM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195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432622976"/>
        <c:crosses val="autoZero"/>
        <c:crossBetween val="midCat"/>
      </c:valAx>
      <c:valAx>
        <c:axId val="432622976"/>
        <c:scaling>
          <c:orientation val="minMax"/>
        </c:scaling>
        <c:delete val="0"/>
        <c:axPos val="l"/>
        <c:majorGridlines>
          <c:spPr>
            <a:ln w="9525"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25400"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4326210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/>
    <cs:fontRef idx="minor">
      <a:schemeClr val="dk1"/>
    </cs:fontRef>
    <cs:spPr>
      <a:noFill/>
      <a:ln w="31750">
        <a:solidFill>
          <a:schemeClr val="phClr">
            <a:alpha val="70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dk1"/>
    </cs:fontRef>
    <cs:spPr>
      <a:noFill/>
      <a:ln w="31750">
        <a:solidFill>
          <a:schemeClr val="phClr">
            <a:alpha val="70000"/>
          </a:schemeClr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1"/>
    <cs:effectRef idx="0"/>
    <cs:fontRef idx="minor">
      <a:schemeClr val="tx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3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spPr>
      <a:ln>
        <a:solidFill>
          <a:schemeClr val="tx1">
            <a:lumMod val="25000"/>
            <a:lumOff val="75000"/>
          </a:schemeClr>
        </a:solidFill>
      </a:ln>
    </cs:spPr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2019/9/11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71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90650"/>
            <a:ext cx="6858000" cy="1241822"/>
          </a:xfrm>
        </p:spPr>
        <p:txBody>
          <a:bodyPr anchor="b">
            <a:normAutofit/>
          </a:bodyPr>
          <a:lstStyle>
            <a:lvl1pPr algn="ctr">
              <a:defRPr sz="54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2019/9/11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/>
          <p:cNvSpPr txBox="1"/>
          <p:nvPr userDrawn="1"/>
        </p:nvSpPr>
        <p:spPr>
          <a:xfrm>
            <a:off x="8395675" y="4869409"/>
            <a:ext cx="725405" cy="352697"/>
          </a:xfrm>
          <a:prstGeom prst="ellipse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6858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3068952F-5E95-44E1-9562-3F7BE09D45B9}" type="slidenum">
              <a:rPr lang="en-US" sz="900" kern="1200" smtClean="0">
                <a:solidFill>
                  <a:srgbClr val="F0F6F4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900" kern="1200" dirty="0">
              <a:solidFill>
                <a:srgbClr val="F0F6F4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up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-7620" y="-7620"/>
            <a:ext cx="9151620" cy="51511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9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855720" y="850501"/>
            <a:ext cx="1752600" cy="3020459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al Esta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0" y="1280408"/>
            <a:ext cx="9144000" cy="20273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up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531663" y="1385107"/>
            <a:ext cx="1424897" cy="24858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7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880403" y="1324147"/>
            <a:ext cx="1493477" cy="26230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Footer &amp;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tags" Target="../tags/tag2.xml"/><Relationship Id="rId13" Type="http://schemas.openxmlformats.org/officeDocument/2006/relationships/tags" Target="../tags/tag3.xml"/><Relationship Id="rId14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5F3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2019/9/11</a:t>
            </a:fld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3" Type="http://schemas.openxmlformats.org/officeDocument/2006/relationships/image" Target="../media/image1.jpeg"/><Relationship Id="rId4" Type="http://schemas.openxmlformats.org/officeDocument/2006/relationships/tags" Target="../tags/tag5.xml"/><Relationship Id="rId5" Type="http://schemas.openxmlformats.org/officeDocument/2006/relationships/tags" Target="../tags/tag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3" Type="http://schemas.openxmlformats.org/officeDocument/2006/relationships/image" Target="../media/image10.jpeg"/><Relationship Id="rId4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ags" Target="../tags/tag8.xml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3" Type="http://schemas.openxmlformats.org/officeDocument/2006/relationships/image" Target="../media/image10.jpe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hdphoto" Target="../media/hdphoto7.wdp"/><Relationship Id="rId3" Type="http://schemas.openxmlformats.org/officeDocument/2006/relationships/image" Target="../media/image12.png"/><Relationship Id="rId4" Type="http://schemas.microsoft.com/office/2007/relationships/hdphoto" Target="../media/hdphoto6.wdp"/><Relationship Id="rId5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microsoft.com/office/2007/relationships/hdphoto" Target="../media/hdphoto10.wdp"/><Relationship Id="rId3" Type="http://schemas.openxmlformats.org/officeDocument/2006/relationships/image" Target="../media/image15.png"/><Relationship Id="rId4" Type="http://schemas.microsoft.com/office/2007/relationships/hdphoto" Target="../media/hdphoto5.wdp"/><Relationship Id="rId5" Type="http://schemas.openxmlformats.org/officeDocument/2006/relationships/image" Target="../media/image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3" Type="http://schemas.openxmlformats.org/officeDocument/2006/relationships/image" Target="../media/image1.jpeg"/><Relationship Id="rId4" Type="http://schemas.openxmlformats.org/officeDocument/2006/relationships/tags" Target="../tags/tag13.xml"/><Relationship Id="rId5" Type="http://schemas.openxmlformats.org/officeDocument/2006/relationships/tags" Target="../tags/tag15.xml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0910c8dbefd44dba6ce05a395d4f64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" y="6192"/>
            <a:ext cx="9242584" cy="5166836"/>
          </a:xfrm>
          <a:prstGeom prst="rect">
            <a:avLst/>
          </a:prstGeom>
        </p:spPr>
      </p:pic>
      <p:sp>
        <p:nvSpPr>
          <p:cNvPr id="40" name="椭圆 39"/>
          <p:cNvSpPr/>
          <p:nvPr/>
        </p:nvSpPr>
        <p:spPr>
          <a:xfrm>
            <a:off x="1571632" y="-444038"/>
            <a:ext cx="6031575" cy="60315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364933" y="-604361"/>
            <a:ext cx="6382226" cy="6351270"/>
            <a:chOff x="2899" y="-1269"/>
            <a:chExt cx="13401" cy="13336"/>
          </a:xfrm>
        </p:grpSpPr>
        <p:sp>
          <p:nvSpPr>
            <p:cNvPr id="39" name="椭圆 38"/>
            <p:cNvSpPr/>
            <p:nvPr/>
          </p:nvSpPr>
          <p:spPr>
            <a:xfrm>
              <a:off x="2964" y="-1269"/>
              <a:ext cx="13337" cy="13337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6000">
                    <a:schemeClr val="tx1"/>
                  </a:gs>
                  <a:gs pos="6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899" y="3268"/>
              <a:ext cx="503" cy="1249"/>
              <a:chOff x="1820381" y="2075156"/>
              <a:chExt cx="319500" cy="792801"/>
            </a:xfrm>
          </p:grpSpPr>
          <p:sp>
            <p:nvSpPr>
              <p:cNvPr id="52" name="椭圆 51"/>
              <p:cNvSpPr/>
              <p:nvPr/>
            </p:nvSpPr>
            <p:spPr>
              <a:xfrm>
                <a:off x="1975944" y="2075156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1820381" y="2331550"/>
                <a:ext cx="295688" cy="295688"/>
              </a:xfrm>
              <a:prstGeom prst="ellipse">
                <a:avLst/>
              </a:prstGeom>
              <a:solidFill>
                <a:srgbClr val="E1F1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1820381" y="2704020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5056" y="7951"/>
              <a:ext cx="825" cy="1279"/>
              <a:chOff x="15056" y="7951"/>
              <a:chExt cx="825" cy="1279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15623" y="7951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5288" y="8385"/>
                <a:ext cx="466" cy="466"/>
              </a:xfrm>
              <a:prstGeom prst="ellipse">
                <a:avLst/>
              </a:prstGeom>
              <a:solidFill>
                <a:srgbClr val="AEC7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15056" y="8972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0" name="矩形 49"/>
          <p:cNvSpPr/>
          <p:nvPr/>
        </p:nvSpPr>
        <p:spPr>
          <a:xfrm>
            <a:off x="2579371" y="1320642"/>
            <a:ext cx="3854291" cy="83869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 dirty="0" b="1">
                <a:cs typeface="+mn-ea"/>
                <a:sym typeface="+mn-lt"/>
                <a:latin typeface="微软雅黑"/>
              </a:rPr>
              <a:t>基于 Jetson 的多模态智能门锁</a:t>
            </a:r>
          </a:p>
        </p:txBody>
      </p:sp>
      <p:sp>
        <p:nvSpPr>
          <p:cNvPr id="51" name="矩形 50"/>
          <p:cNvSpPr/>
          <p:nvPr/>
        </p:nvSpPr>
        <p:spPr>
          <a:xfrm>
            <a:off x="2602344" y="3386583"/>
            <a:ext cx="4069379" cy="23852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1000" dirty="0">
                <a:solidFill>
                  <a:srgbClr val="121212">
                    <a:alpha val="80000"/>
                  </a:srgbClr>
                </a:solidFill>
                <a:cs typeface="+mn-ea"/>
                <a:sym typeface="+mn-lt"/>
                <a:latin typeface="微软雅黑"/>
              </a:rPr>
              <a:t>SMART LOCK × VOICE AGENT  ·  MVP DEMO 2026</a:t>
            </a:r>
            <a:endParaRPr lang="zh-CN" altLang="en-US" sz="1100" spc="225" dirty="0">
              <a:cs typeface="+mn-ea"/>
              <a:sym typeface="+mn-lt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414111" y="2854166"/>
            <a:ext cx="4257675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dirty="0" sz="1300">
                <a:cs typeface="+mn-ea"/>
                <a:sym typeface="+mn-lt"/>
                <a:latin typeface="微软雅黑"/>
              </a:rPr>
              <a:t>硬件认证 · 一次性凭证 · 语音交互 · 事件闭环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414111" y="2423636"/>
            <a:ext cx="4185285" cy="87630"/>
            <a:chOff x="5156" y="5307"/>
            <a:chExt cx="8788" cy="184"/>
          </a:xfrm>
        </p:grpSpPr>
        <p:cxnSp>
          <p:nvCxnSpPr>
            <p:cNvPr id="8" name="PA_直接连接符 4"/>
            <p:cNvCxnSpPr/>
            <p:nvPr>
              <p:custDataLst>
                <p:tags r:id="rId2"/>
              </p:custDataLst>
            </p:nvPr>
          </p:nvCxnSpPr>
          <p:spPr>
            <a:xfrm>
              <a:off x="5156" y="5315"/>
              <a:ext cx="8788" cy="0"/>
            </a:xfrm>
            <a:prstGeom prst="line">
              <a:avLst/>
            </a:prstGeom>
            <a:ln w="28575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PA_矩形 27"/>
            <p:cNvSpPr/>
            <p:nvPr>
              <p:custDataLst>
                <p:tags r:id="rId5"/>
              </p:custDataLst>
            </p:nvPr>
          </p:nvSpPr>
          <p:spPr>
            <a:xfrm>
              <a:off x="7995" y="5307"/>
              <a:ext cx="3110" cy="184"/>
            </a:xfrm>
            <a:prstGeom prst="rect">
              <a:avLst/>
            </a:prstGeom>
            <a:solidFill>
              <a:srgbClr val="121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073241" y="4215283"/>
            <a:ext cx="2996565" cy="491489"/>
            <a:chOff x="6316" y="9230"/>
            <a:chExt cx="6292" cy="1032"/>
          </a:xfrm>
        </p:grpSpPr>
        <p:cxnSp>
          <p:nvCxnSpPr>
            <p:cNvPr id="12" name="直接连接符 11"/>
            <p:cNvCxnSpPr/>
            <p:nvPr/>
          </p:nvCxnSpPr>
          <p:spPr>
            <a:xfrm flipV="1">
              <a:off x="9142" y="9433"/>
              <a:ext cx="640" cy="618"/>
            </a:xfrm>
            <a:prstGeom prst="line">
              <a:avLst/>
            </a:prstGeom>
            <a:ln w="28575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6316" y="9230"/>
              <a:ext cx="2826" cy="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900" spc="450" dirty="0">
                  <a:solidFill>
                    <a:srgbClr val="121212"/>
                  </a:solidFill>
                  <a:cs typeface="+mn-ea"/>
                  <a:sym typeface="+mn-lt"/>
                  <a:latin typeface="微软雅黑"/>
                </a:rPr>
                <a:t/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782" y="9713"/>
              <a:ext cx="2826" cy="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900" spc="450" dirty="0" smtClean="0">
                  <a:solidFill>
                    <a:srgbClr val="121212"/>
                  </a:solidFill>
                  <a:cs typeface="+mn-ea"/>
                  <a:sym typeface="+mn-lt"/>
                  <a:latin typeface="微软雅黑"/>
                </a:rPr>
                <a:t/>
              </a:r>
              <a:endParaRPr lang="en-US" altLang="zh-CN" sz="1100" spc="450" dirty="0">
                <a:solidFill>
                  <a:srgbClr val="121212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0" grpId="1"/>
      <p:bldP spid="51" grpId="0"/>
      <p:bldP spid="65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图片 2" descr="0910c8dbefd44dba6ce05a395d4f6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30" y="6192"/>
            <a:ext cx="9242584" cy="5166836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4478908" y="707866"/>
            <a:ext cx="3672408" cy="758033"/>
            <a:chOff x="4727054" y="1768670"/>
            <a:chExt cx="4896544" cy="1010710"/>
          </a:xfrm>
        </p:grpSpPr>
        <p:sp>
          <p:nvSpPr>
            <p:cNvPr id="57" name="TextBox 12"/>
            <p:cNvSpPr txBox="1"/>
            <p:nvPr/>
          </p:nvSpPr>
          <p:spPr>
            <a:xfrm>
              <a:off x="4822629" y="1828399"/>
              <a:ext cx="30820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>
                  <a:cs typeface="+mn-ea"/>
                  <a:sym typeface="+mn-lt"/>
                </a:rPr>
                <a:t>1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4727054" y="1768670"/>
              <a:ext cx="504056" cy="488790"/>
              <a:chOff x="4727054" y="1768670"/>
              <a:chExt cx="504056" cy="488790"/>
            </a:xfrm>
          </p:grpSpPr>
          <p:sp>
            <p:nvSpPr>
              <p:cNvPr id="61" name="左中括号 60"/>
              <p:cNvSpPr/>
              <p:nvPr/>
            </p:nvSpPr>
            <p:spPr>
              <a:xfrm>
                <a:off x="472705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左中括号 61"/>
              <p:cNvSpPr/>
              <p:nvPr/>
            </p:nvSpPr>
            <p:spPr>
              <a:xfrm flipH="1">
                <a:off x="508709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9" name="TextBox 15"/>
            <p:cNvSpPr txBox="1"/>
            <p:nvPr/>
          </p:nvSpPr>
          <p:spPr>
            <a:xfrm>
              <a:off x="5375126" y="1772817"/>
              <a:ext cx="2400657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 sz="1300">
                  <a:cs typeface="+mn-ea"/>
                  <a:sym typeface="+mn-lt"/>
                  <a:latin typeface="微软雅黑"/>
                </a:rPr>
                <a:t>01  项目背景</a:t>
              </a:r>
            </a:p>
          </p:txBody>
        </p:sp>
        <p:sp>
          <p:nvSpPr>
            <p:cNvPr id="60" name="TextBox 16"/>
            <p:cNvSpPr txBox="1"/>
            <p:nvPr/>
          </p:nvSpPr>
          <p:spPr>
            <a:xfrm>
              <a:off x="5447134" y="2204864"/>
              <a:ext cx="4176464" cy="574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  <a:latin typeface="微软雅黑"/>
                </a:rPr>
                <a:t>重新审视门锁的三个缺口，明确四个目标与边界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018968" y="1836324"/>
            <a:ext cx="3672408" cy="754923"/>
            <a:chOff x="4727054" y="3140968"/>
            <a:chExt cx="4896544" cy="1006564"/>
          </a:xfrm>
        </p:grpSpPr>
        <p:sp>
          <p:nvSpPr>
            <p:cNvPr id="51" name="TextBox 20"/>
            <p:cNvSpPr txBox="1"/>
            <p:nvPr/>
          </p:nvSpPr>
          <p:spPr>
            <a:xfrm>
              <a:off x="4822629" y="3200697"/>
              <a:ext cx="36591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>
                  <a:cs typeface="+mn-ea"/>
                  <a:sym typeface="+mn-lt"/>
                </a:rPr>
                <a:t>2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4727054" y="3140968"/>
              <a:ext cx="504056" cy="488790"/>
              <a:chOff x="4727054" y="1768670"/>
              <a:chExt cx="504056" cy="488790"/>
            </a:xfrm>
          </p:grpSpPr>
          <p:sp>
            <p:nvSpPr>
              <p:cNvPr id="55" name="左中括号 54"/>
              <p:cNvSpPr/>
              <p:nvPr/>
            </p:nvSpPr>
            <p:spPr>
              <a:xfrm>
                <a:off x="472705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左中括号 55"/>
              <p:cNvSpPr/>
              <p:nvPr/>
            </p:nvSpPr>
            <p:spPr>
              <a:xfrm flipH="1">
                <a:off x="508709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3" name="TextBox 24"/>
            <p:cNvSpPr txBox="1"/>
            <p:nvPr/>
          </p:nvSpPr>
          <p:spPr>
            <a:xfrm>
              <a:off x="5375126" y="3145115"/>
              <a:ext cx="240065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 sz="1300">
                  <a:cs typeface="+mn-ea"/>
                  <a:sym typeface="+mn-lt"/>
                  <a:latin typeface="微软雅黑"/>
                </a:rPr>
                <a:t>02  技术方案</a:t>
              </a:r>
            </a:p>
          </p:txBody>
        </p:sp>
        <p:sp>
          <p:nvSpPr>
            <p:cNvPr id="54" name="TextBox 25"/>
            <p:cNvSpPr txBox="1"/>
            <p:nvPr/>
          </p:nvSpPr>
          <p:spPr>
            <a:xfrm>
              <a:off x="5447134" y="3573016"/>
              <a:ext cx="4176464" cy="574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  <a:latin typeface="微软雅黑"/>
                </a:rPr>
                <a:t>边缘融合认证、两阶段开门与低延迟语音流水线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018968" y="2909765"/>
            <a:ext cx="3672408" cy="772406"/>
            <a:chOff x="4727054" y="4413802"/>
            <a:chExt cx="4896544" cy="1029874"/>
          </a:xfrm>
        </p:grpSpPr>
        <p:sp>
          <p:nvSpPr>
            <p:cNvPr id="39" name="TextBox 26"/>
            <p:cNvSpPr txBox="1"/>
            <p:nvPr/>
          </p:nvSpPr>
          <p:spPr>
            <a:xfrm>
              <a:off x="4822629" y="4473531"/>
              <a:ext cx="376600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>
                  <a:cs typeface="+mn-ea"/>
                  <a:sym typeface="+mn-lt"/>
                </a:rPr>
                <a:t>3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4727054" y="4413802"/>
              <a:ext cx="504056" cy="488790"/>
              <a:chOff x="4727054" y="1768670"/>
              <a:chExt cx="504056" cy="488790"/>
            </a:xfrm>
          </p:grpSpPr>
          <p:sp>
            <p:nvSpPr>
              <p:cNvPr id="49" name="左中括号 48"/>
              <p:cNvSpPr/>
              <p:nvPr/>
            </p:nvSpPr>
            <p:spPr>
              <a:xfrm>
                <a:off x="472705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左中括号 49"/>
              <p:cNvSpPr/>
              <p:nvPr/>
            </p:nvSpPr>
            <p:spPr>
              <a:xfrm flipH="1">
                <a:off x="508709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44" name="TextBox 30"/>
            <p:cNvSpPr txBox="1"/>
            <p:nvPr/>
          </p:nvSpPr>
          <p:spPr>
            <a:xfrm>
              <a:off x="5375126" y="4417949"/>
              <a:ext cx="2400657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 sz="1300">
                  <a:cs typeface="+mn-ea"/>
                  <a:sym typeface="+mn-lt"/>
                  <a:latin typeface="微软雅黑"/>
                </a:rPr>
                <a:t>03  系统实现</a:t>
              </a:r>
            </a:p>
          </p:txBody>
        </p:sp>
        <p:sp>
          <p:nvSpPr>
            <p:cNvPr id="47" name="TextBox 31"/>
            <p:cNvSpPr txBox="1"/>
            <p:nvPr/>
          </p:nvSpPr>
          <p:spPr>
            <a:xfrm>
              <a:off x="5447134" y="4869160"/>
              <a:ext cx="4176464" cy="574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  <a:latin typeface="微软雅黑"/>
                </a:rPr>
                <a:t>四层安全约束、异常事件闭环与部署进程治理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478908" y="3974866"/>
            <a:ext cx="3672408" cy="772406"/>
            <a:chOff x="4727054" y="4413802"/>
            <a:chExt cx="4896544" cy="1029874"/>
          </a:xfrm>
        </p:grpSpPr>
        <p:sp>
          <p:nvSpPr>
            <p:cNvPr id="27" name="TextBox 26"/>
            <p:cNvSpPr txBox="1"/>
            <p:nvPr/>
          </p:nvSpPr>
          <p:spPr>
            <a:xfrm>
              <a:off x="4822629" y="4473531"/>
              <a:ext cx="363776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>
                  <a:cs typeface="+mn-ea"/>
                  <a:sym typeface="+mn-lt"/>
                </a:rPr>
                <a:t>4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4727054" y="4413802"/>
              <a:ext cx="504056" cy="488790"/>
              <a:chOff x="4727054" y="1768670"/>
              <a:chExt cx="504056" cy="488790"/>
            </a:xfrm>
          </p:grpSpPr>
          <p:sp>
            <p:nvSpPr>
              <p:cNvPr id="35" name="左中括号 34"/>
              <p:cNvSpPr/>
              <p:nvPr/>
            </p:nvSpPr>
            <p:spPr>
              <a:xfrm>
                <a:off x="472705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左中括号 35"/>
              <p:cNvSpPr/>
              <p:nvPr/>
            </p:nvSpPr>
            <p:spPr>
              <a:xfrm flipH="1">
                <a:off x="508709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3" name="TextBox 30"/>
            <p:cNvSpPr txBox="1"/>
            <p:nvPr/>
          </p:nvSpPr>
          <p:spPr>
            <a:xfrm>
              <a:off x="5375126" y="4417949"/>
              <a:ext cx="2400657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 sz="1300">
                  <a:cs typeface="+mn-ea"/>
                  <a:sym typeface="+mn-lt"/>
                  <a:latin typeface="微软雅黑"/>
                </a:rPr>
                <a:t>04  验证与规划</a:t>
              </a:r>
            </a:p>
          </p:txBody>
        </p:sp>
        <p:sp>
          <p:nvSpPr>
            <p:cNvPr id="34" name="TextBox 31"/>
            <p:cNvSpPr txBox="1"/>
            <p:nvPr/>
          </p:nvSpPr>
          <p:spPr>
            <a:xfrm>
              <a:off x="5447134" y="4869160"/>
              <a:ext cx="4176464" cy="574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  <a:latin typeface="微软雅黑"/>
                </a:rPr>
                <a:t>测试结果、已知边界与下一步计划</a:t>
              </a:r>
            </a:p>
          </p:txBody>
        </p:sp>
      </p:grpSp>
      <p:sp>
        <p:nvSpPr>
          <p:cNvPr id="40" name="椭圆 39"/>
          <p:cNvSpPr/>
          <p:nvPr/>
        </p:nvSpPr>
        <p:spPr>
          <a:xfrm>
            <a:off x="1571632" y="-444038"/>
            <a:ext cx="6031575" cy="60315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-2125504" y="-604838"/>
            <a:ext cx="6489383" cy="6351270"/>
            <a:chOff x="-4463" y="-1270"/>
            <a:chExt cx="13626" cy="13336"/>
          </a:xfrm>
        </p:grpSpPr>
        <p:grpSp>
          <p:nvGrpSpPr>
            <p:cNvPr id="11" name="组合 10"/>
            <p:cNvGrpSpPr/>
            <p:nvPr/>
          </p:nvGrpSpPr>
          <p:grpSpPr>
            <a:xfrm rot="19860000">
              <a:off x="-4463" y="-1270"/>
              <a:ext cx="13627" cy="13337"/>
              <a:chOff x="2899" y="-1269"/>
              <a:chExt cx="13627" cy="13337"/>
            </a:xfrm>
          </p:grpSpPr>
          <p:sp>
            <p:nvSpPr>
              <p:cNvPr id="4" name="椭圆 3"/>
              <p:cNvSpPr/>
              <p:nvPr/>
            </p:nvSpPr>
            <p:spPr>
              <a:xfrm>
                <a:off x="2964" y="-1269"/>
                <a:ext cx="13337" cy="13337"/>
              </a:xfrm>
              <a:prstGeom prst="ellipse">
                <a:avLst/>
              </a:prstGeom>
              <a:noFill/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36000">
                      <a:schemeClr val="tx1"/>
                    </a:gs>
                    <a:gs pos="60000">
                      <a:schemeClr val="bg1"/>
                    </a:gs>
                    <a:gs pos="100000">
                      <a:schemeClr val="tx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2899" y="3268"/>
                <a:ext cx="503" cy="1249"/>
                <a:chOff x="1820381" y="2075156"/>
                <a:chExt cx="319500" cy="792801"/>
              </a:xfrm>
            </p:grpSpPr>
            <p:sp>
              <p:nvSpPr>
                <p:cNvPr id="6" name="椭圆 5"/>
                <p:cNvSpPr/>
                <p:nvPr/>
              </p:nvSpPr>
              <p:spPr>
                <a:xfrm>
                  <a:off x="1975944" y="2075156"/>
                  <a:ext cx="163937" cy="16393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" name="椭圆 6"/>
                <p:cNvSpPr/>
                <p:nvPr/>
              </p:nvSpPr>
              <p:spPr>
                <a:xfrm>
                  <a:off x="1820381" y="2331550"/>
                  <a:ext cx="295688" cy="295688"/>
                </a:xfrm>
                <a:prstGeom prst="ellipse">
                  <a:avLst/>
                </a:prstGeom>
                <a:solidFill>
                  <a:srgbClr val="E1F1F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椭圆 7"/>
                <p:cNvSpPr/>
                <p:nvPr/>
              </p:nvSpPr>
              <p:spPr>
                <a:xfrm>
                  <a:off x="1820381" y="2704020"/>
                  <a:ext cx="163937" cy="16393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6" name="椭圆 45"/>
              <p:cNvSpPr/>
              <p:nvPr/>
            </p:nvSpPr>
            <p:spPr>
              <a:xfrm>
                <a:off x="16060" y="4703"/>
                <a:ext cx="466" cy="46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2" name="椭圆 11"/>
            <p:cNvSpPr/>
            <p:nvPr/>
          </p:nvSpPr>
          <p:spPr>
            <a:xfrm rot="19860000">
              <a:off x="8658" y="3984"/>
              <a:ext cx="466" cy="4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 rot="19860000">
              <a:off x="8648" y="6144"/>
              <a:ext cx="466" cy="4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 rot="19860000">
              <a:off x="7828" y="8474"/>
              <a:ext cx="466" cy="4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629482" y="2012857"/>
            <a:ext cx="2715860" cy="90024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dist"/>
            <a:r>
              <a:rPr lang="zh-CN" altLang="en-US" sz="5400" dirty="0">
                <a:solidFill>
                  <a:srgbClr val="121212"/>
                </a:solidFill>
                <a:cs typeface="+mn-ea"/>
                <a:sym typeface="+mn-lt"/>
              </a:rPr>
              <a:t>目</a:t>
            </a:r>
            <a:r>
              <a:rPr lang="zh-CN" altLang="en-US" sz="5400" dirty="0">
                <a:solidFill>
                  <a:schemeClr val="bg1"/>
                </a:solidFill>
                <a:cs typeface="+mn-ea"/>
                <a:sym typeface="+mn-lt"/>
              </a:rPr>
              <a:t>录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9482" y="3190147"/>
            <a:ext cx="2715860" cy="25288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dist"/>
            <a:r>
              <a:rPr lang="en-US" sz="1200" dirty="0">
                <a:solidFill>
                  <a:srgbClr val="121212"/>
                </a:solidFill>
                <a:cs typeface="+mn-ea"/>
                <a:sym typeface="+mn-lt"/>
              </a:rPr>
              <a:t>CONTENT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文本框 86"/>
          <p:cNvSpPr txBox="1"/>
          <p:nvPr/>
        </p:nvSpPr>
        <p:spPr>
          <a:xfrm>
            <a:off x="44404" y="954127"/>
            <a:ext cx="9099596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95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  <a:latin typeface="微软雅黑"/>
              </a:rPr>
              <a:t>单一模态撑不起门锁安全，自然交互与异常记录同样缺位。</a:t>
            </a:r>
            <a:endParaRPr lang="zh-CN" altLang="en-US" sz="1200" dirty="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154574" y="1148694"/>
            <a:ext cx="6879257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  <a:latin typeface="微软雅黑"/>
              </a:rPr>
              <a:t/>
            </a:r>
          </a:p>
        </p:txBody>
      </p:sp>
      <p:sp>
        <p:nvSpPr>
          <p:cNvPr id="107" name="矩形 106"/>
          <p:cNvSpPr/>
          <p:nvPr/>
        </p:nvSpPr>
        <p:spPr>
          <a:xfrm>
            <a:off x="2651760" y="1773667"/>
            <a:ext cx="3840480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b="1" dirty="0" sz="1500">
                <a:solidFill>
                  <a:srgbClr val="404040"/>
                </a:solidFill>
                <a:cs typeface="+mn-ea"/>
                <a:sym typeface="+mn-lt"/>
                <a:latin typeface="微软雅黑"/>
              </a:rPr>
              <a:t>为什么重新设计门锁</a:t>
            </a:r>
          </a:p>
        </p:txBody>
      </p:sp>
      <p:grpSp>
        <p:nvGrpSpPr>
          <p:cNvPr id="108" name="组合 107"/>
          <p:cNvGrpSpPr/>
          <p:nvPr/>
        </p:nvGrpSpPr>
        <p:grpSpPr>
          <a:xfrm>
            <a:off x="4451168" y="2089923"/>
            <a:ext cx="286068" cy="82626"/>
            <a:chOff x="5905288" y="3385219"/>
            <a:chExt cx="381424" cy="110168"/>
          </a:xfrm>
          <a:solidFill>
            <a:schemeClr val="accent1"/>
          </a:solidFill>
        </p:grpSpPr>
        <p:sp>
          <p:nvSpPr>
            <p:cNvPr id="109" name="椭圆 108"/>
            <p:cNvSpPr/>
            <p:nvPr/>
          </p:nvSpPr>
          <p:spPr>
            <a:xfrm>
              <a:off x="5905288" y="3385219"/>
              <a:ext cx="110168" cy="1101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6040916" y="3385219"/>
              <a:ext cx="110168" cy="1101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6176544" y="3385219"/>
              <a:ext cx="110168" cy="1101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786445" y="2437330"/>
            <a:ext cx="1751468" cy="1735373"/>
            <a:chOff x="772501" y="3721210"/>
            <a:chExt cx="2335290" cy="2313831"/>
          </a:xfrm>
        </p:grpSpPr>
        <p:sp>
          <p:nvSpPr>
            <p:cNvPr id="113" name="矩形 112"/>
            <p:cNvSpPr/>
            <p:nvPr/>
          </p:nvSpPr>
          <p:spPr>
            <a:xfrm>
              <a:off x="772501" y="3721210"/>
              <a:ext cx="2335290" cy="136355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772501" y="5077199"/>
              <a:ext cx="2335290" cy="957842"/>
            </a:xfrm>
            <a:prstGeom prst="rect">
              <a:avLst/>
            </a:prstGeom>
            <a:solidFill>
              <a:srgbClr val="E4E4E4">
                <a:alpha val="4500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5" name="Freeform 132"/>
            <p:cNvSpPr>
              <a:spLocks noEditPoints="1"/>
            </p:cNvSpPr>
            <p:nvPr/>
          </p:nvSpPr>
          <p:spPr bwMode="auto">
            <a:xfrm>
              <a:off x="1679736" y="4219279"/>
              <a:ext cx="441310" cy="400036"/>
            </a:xfrm>
            <a:custGeom>
              <a:avLst/>
              <a:gdLst>
                <a:gd name="T0" fmla="*/ 4 w 66"/>
                <a:gd name="T1" fmla="*/ 17 h 60"/>
                <a:gd name="T2" fmla="*/ 28 w 66"/>
                <a:gd name="T3" fmla="*/ 15 h 60"/>
                <a:gd name="T4" fmla="*/ 32 w 66"/>
                <a:gd name="T5" fmla="*/ 3 h 60"/>
                <a:gd name="T6" fmla="*/ 63 w 66"/>
                <a:gd name="T7" fmla="*/ 3 h 60"/>
                <a:gd name="T8" fmla="*/ 51 w 66"/>
                <a:gd name="T9" fmla="*/ 60 h 60"/>
                <a:gd name="T10" fmla="*/ 38 w 66"/>
                <a:gd name="T11" fmla="*/ 8 h 60"/>
                <a:gd name="T12" fmla="*/ 28 w 66"/>
                <a:gd name="T13" fmla="*/ 60 h 60"/>
                <a:gd name="T14" fmla="*/ 20 w 66"/>
                <a:gd name="T15" fmla="*/ 20 h 60"/>
                <a:gd name="T16" fmla="*/ 6 w 66"/>
                <a:gd name="T17" fmla="*/ 60 h 60"/>
                <a:gd name="T18" fmla="*/ 44 w 66"/>
                <a:gd name="T19" fmla="*/ 20 h 60"/>
                <a:gd name="T20" fmla="*/ 45 w 66"/>
                <a:gd name="T21" fmla="*/ 16 h 60"/>
                <a:gd name="T22" fmla="*/ 45 w 66"/>
                <a:gd name="T23" fmla="*/ 13 h 60"/>
                <a:gd name="T24" fmla="*/ 44 w 66"/>
                <a:gd name="T25" fmla="*/ 9 h 60"/>
                <a:gd name="T26" fmla="*/ 46 w 66"/>
                <a:gd name="T27" fmla="*/ 27 h 60"/>
                <a:gd name="T28" fmla="*/ 44 w 66"/>
                <a:gd name="T29" fmla="*/ 30 h 60"/>
                <a:gd name="T30" fmla="*/ 46 w 66"/>
                <a:gd name="T31" fmla="*/ 30 h 60"/>
                <a:gd name="T32" fmla="*/ 44 w 66"/>
                <a:gd name="T33" fmla="*/ 41 h 60"/>
                <a:gd name="T34" fmla="*/ 45 w 66"/>
                <a:gd name="T35" fmla="*/ 37 h 60"/>
                <a:gd name="T36" fmla="*/ 41 w 66"/>
                <a:gd name="T37" fmla="*/ 21 h 60"/>
                <a:gd name="T38" fmla="*/ 39 w 66"/>
                <a:gd name="T39" fmla="*/ 17 h 60"/>
                <a:gd name="T40" fmla="*/ 42 w 66"/>
                <a:gd name="T41" fmla="*/ 13 h 60"/>
                <a:gd name="T42" fmla="*/ 39 w 66"/>
                <a:gd name="T43" fmla="*/ 24 h 60"/>
                <a:gd name="T44" fmla="*/ 42 w 66"/>
                <a:gd name="T45" fmla="*/ 23 h 60"/>
                <a:gd name="T46" fmla="*/ 39 w 66"/>
                <a:gd name="T47" fmla="*/ 35 h 60"/>
                <a:gd name="T48" fmla="*/ 41 w 66"/>
                <a:gd name="T49" fmla="*/ 31 h 60"/>
                <a:gd name="T50" fmla="*/ 41 w 66"/>
                <a:gd name="T51" fmla="*/ 41 h 60"/>
                <a:gd name="T52" fmla="*/ 39 w 66"/>
                <a:gd name="T53" fmla="*/ 38 h 60"/>
                <a:gd name="T54" fmla="*/ 46 w 66"/>
                <a:gd name="T55" fmla="*/ 48 h 60"/>
                <a:gd name="T56" fmla="*/ 39 w 66"/>
                <a:gd name="T57" fmla="*/ 45 h 60"/>
                <a:gd name="T58" fmla="*/ 42 w 66"/>
                <a:gd name="T59" fmla="*/ 44 h 60"/>
                <a:gd name="T60" fmla="*/ 11 w 66"/>
                <a:gd name="T61" fmla="*/ 34 h 60"/>
                <a:gd name="T62" fmla="*/ 12 w 66"/>
                <a:gd name="T63" fmla="*/ 30 h 60"/>
                <a:gd name="T64" fmla="*/ 17 w 66"/>
                <a:gd name="T65" fmla="*/ 33 h 60"/>
                <a:gd name="T66" fmla="*/ 15 w 66"/>
                <a:gd name="T67" fmla="*/ 30 h 60"/>
                <a:gd name="T68" fmla="*/ 18 w 66"/>
                <a:gd name="T69" fmla="*/ 26 h 60"/>
                <a:gd name="T70" fmla="*/ 15 w 66"/>
                <a:gd name="T71" fmla="*/ 37 h 60"/>
                <a:gd name="T72" fmla="*/ 18 w 66"/>
                <a:gd name="T73" fmla="*/ 36 h 60"/>
                <a:gd name="T74" fmla="*/ 15 w 66"/>
                <a:gd name="T75" fmla="*/ 48 h 60"/>
                <a:gd name="T76" fmla="*/ 17 w 66"/>
                <a:gd name="T77" fmla="*/ 44 h 60"/>
                <a:gd name="T78" fmla="*/ 17 w 66"/>
                <a:gd name="T79" fmla="*/ 55 h 60"/>
                <a:gd name="T80" fmla="*/ 15 w 66"/>
                <a:gd name="T81" fmla="*/ 51 h 60"/>
                <a:gd name="T82" fmla="*/ 13 w 66"/>
                <a:gd name="T83" fmla="*/ 27 h 60"/>
                <a:gd name="T84" fmla="*/ 11 w 66"/>
                <a:gd name="T85" fmla="*/ 37 h 60"/>
                <a:gd name="T86" fmla="*/ 13 w 66"/>
                <a:gd name="T87" fmla="*/ 37 h 60"/>
                <a:gd name="T88" fmla="*/ 11 w 66"/>
                <a:gd name="T89" fmla="*/ 48 h 60"/>
                <a:gd name="T90" fmla="*/ 12 w 66"/>
                <a:gd name="T91" fmla="*/ 44 h 60"/>
                <a:gd name="T92" fmla="*/ 12 w 66"/>
                <a:gd name="T93" fmla="*/ 55 h 60"/>
                <a:gd name="T94" fmla="*/ 11 w 66"/>
                <a:gd name="T95" fmla="*/ 5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6" h="60">
                  <a:moveTo>
                    <a:pt x="0" y="55"/>
                  </a:moveTo>
                  <a:cubicBezTo>
                    <a:pt x="4" y="55"/>
                    <a:pt x="4" y="55"/>
                    <a:pt x="4" y="55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3" y="55"/>
                    <a:pt x="63" y="55"/>
                    <a:pt x="63" y="55"/>
                  </a:cubicBezTo>
                  <a:cubicBezTo>
                    <a:pt x="66" y="55"/>
                    <a:pt x="66" y="55"/>
                    <a:pt x="66" y="55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49" y="60"/>
                    <a:pt x="49" y="60"/>
                    <a:pt x="49" y="60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5"/>
                    <a:pt x="0" y="55"/>
                    <a:pt x="0" y="55"/>
                  </a:cubicBezTo>
                  <a:close/>
                  <a:moveTo>
                    <a:pt x="44" y="16"/>
                  </a:moveTo>
                  <a:cubicBezTo>
                    <a:pt x="44" y="18"/>
                    <a:pt x="44" y="19"/>
                    <a:pt x="44" y="20"/>
                  </a:cubicBezTo>
                  <a:cubicBezTo>
                    <a:pt x="44" y="20"/>
                    <a:pt x="45" y="20"/>
                    <a:pt x="45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6" y="17"/>
                    <a:pt x="46" y="16"/>
                  </a:cubicBezTo>
                  <a:cubicBezTo>
                    <a:pt x="46" y="16"/>
                    <a:pt x="46" y="16"/>
                    <a:pt x="45" y="16"/>
                  </a:cubicBezTo>
                  <a:cubicBezTo>
                    <a:pt x="45" y="16"/>
                    <a:pt x="44" y="16"/>
                    <a:pt x="44" y="16"/>
                  </a:cubicBezTo>
                  <a:close/>
                  <a:moveTo>
                    <a:pt x="44" y="9"/>
                  </a:moveTo>
                  <a:cubicBezTo>
                    <a:pt x="44" y="11"/>
                    <a:pt x="44" y="12"/>
                    <a:pt x="44" y="13"/>
                  </a:cubicBezTo>
                  <a:cubicBezTo>
                    <a:pt x="44" y="13"/>
                    <a:pt x="45" y="13"/>
                    <a:pt x="45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6" y="12"/>
                    <a:pt x="46" y="10"/>
                    <a:pt x="46" y="9"/>
                  </a:cubicBezTo>
                  <a:cubicBezTo>
                    <a:pt x="46" y="9"/>
                    <a:pt x="46" y="9"/>
                    <a:pt x="45" y="9"/>
                  </a:cubicBezTo>
                  <a:cubicBezTo>
                    <a:pt x="45" y="9"/>
                    <a:pt x="44" y="9"/>
                    <a:pt x="44" y="9"/>
                  </a:cubicBezTo>
                  <a:close/>
                  <a:moveTo>
                    <a:pt x="44" y="23"/>
                  </a:moveTo>
                  <a:cubicBezTo>
                    <a:pt x="44" y="25"/>
                    <a:pt x="44" y="26"/>
                    <a:pt x="44" y="27"/>
                  </a:cubicBezTo>
                  <a:cubicBezTo>
                    <a:pt x="44" y="27"/>
                    <a:pt x="45" y="27"/>
                    <a:pt x="45" y="27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4"/>
                    <a:pt x="46" y="23"/>
                  </a:cubicBezTo>
                  <a:cubicBezTo>
                    <a:pt x="46" y="23"/>
                    <a:pt x="46" y="23"/>
                    <a:pt x="45" y="23"/>
                  </a:cubicBezTo>
                  <a:cubicBezTo>
                    <a:pt x="45" y="23"/>
                    <a:pt x="44" y="23"/>
                    <a:pt x="44" y="23"/>
                  </a:cubicBezTo>
                  <a:close/>
                  <a:moveTo>
                    <a:pt x="44" y="30"/>
                  </a:moveTo>
                  <a:cubicBezTo>
                    <a:pt x="44" y="32"/>
                    <a:pt x="44" y="33"/>
                    <a:pt x="44" y="34"/>
                  </a:cubicBezTo>
                  <a:cubicBezTo>
                    <a:pt x="44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6" y="33"/>
                    <a:pt x="46" y="32"/>
                    <a:pt x="46" y="30"/>
                  </a:cubicBezTo>
                  <a:cubicBezTo>
                    <a:pt x="46" y="30"/>
                    <a:pt x="46" y="30"/>
                    <a:pt x="45" y="30"/>
                  </a:cubicBezTo>
                  <a:cubicBezTo>
                    <a:pt x="45" y="30"/>
                    <a:pt x="44" y="30"/>
                    <a:pt x="44" y="30"/>
                  </a:cubicBezTo>
                  <a:close/>
                  <a:moveTo>
                    <a:pt x="44" y="37"/>
                  </a:moveTo>
                  <a:cubicBezTo>
                    <a:pt x="44" y="39"/>
                    <a:pt x="44" y="40"/>
                    <a:pt x="44" y="41"/>
                  </a:cubicBezTo>
                  <a:cubicBezTo>
                    <a:pt x="44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0"/>
                    <a:pt x="46" y="39"/>
                    <a:pt x="46" y="37"/>
                  </a:cubicBezTo>
                  <a:cubicBezTo>
                    <a:pt x="46" y="37"/>
                    <a:pt x="46" y="37"/>
                    <a:pt x="45" y="37"/>
                  </a:cubicBezTo>
                  <a:cubicBezTo>
                    <a:pt x="45" y="37"/>
                    <a:pt x="44" y="37"/>
                    <a:pt x="44" y="37"/>
                  </a:cubicBezTo>
                  <a:close/>
                  <a:moveTo>
                    <a:pt x="39" y="17"/>
                  </a:moveTo>
                  <a:cubicBezTo>
                    <a:pt x="39" y="18"/>
                    <a:pt x="39" y="19"/>
                    <a:pt x="39" y="21"/>
                  </a:cubicBezTo>
                  <a:cubicBezTo>
                    <a:pt x="40" y="21"/>
                    <a:pt x="40" y="21"/>
                    <a:pt x="41" y="21"/>
                  </a:cubicBezTo>
                  <a:cubicBezTo>
                    <a:pt x="41" y="21"/>
                    <a:pt x="41" y="21"/>
                    <a:pt x="42" y="20"/>
                  </a:cubicBezTo>
                  <a:cubicBezTo>
                    <a:pt x="42" y="19"/>
                    <a:pt x="42" y="18"/>
                    <a:pt x="42" y="1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0" y="17"/>
                    <a:pt x="40" y="17"/>
                    <a:pt x="39" y="17"/>
                  </a:cubicBezTo>
                  <a:close/>
                  <a:moveTo>
                    <a:pt x="39" y="10"/>
                  </a:moveTo>
                  <a:cubicBezTo>
                    <a:pt x="39" y="11"/>
                    <a:pt x="39" y="12"/>
                    <a:pt x="39" y="14"/>
                  </a:cubicBezTo>
                  <a:cubicBezTo>
                    <a:pt x="40" y="14"/>
                    <a:pt x="40" y="14"/>
                    <a:pt x="41" y="14"/>
                  </a:cubicBezTo>
                  <a:cubicBezTo>
                    <a:pt x="41" y="14"/>
                    <a:pt x="41" y="14"/>
                    <a:pt x="42" y="13"/>
                  </a:cubicBezTo>
                  <a:cubicBezTo>
                    <a:pt x="42" y="12"/>
                    <a:pt x="42" y="11"/>
                    <a:pt x="42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0" y="10"/>
                    <a:pt x="40" y="10"/>
                    <a:pt x="39" y="10"/>
                  </a:cubicBezTo>
                  <a:close/>
                  <a:moveTo>
                    <a:pt x="39" y="24"/>
                  </a:moveTo>
                  <a:cubicBezTo>
                    <a:pt x="39" y="25"/>
                    <a:pt x="39" y="26"/>
                    <a:pt x="39" y="28"/>
                  </a:cubicBezTo>
                  <a:cubicBezTo>
                    <a:pt x="40" y="28"/>
                    <a:pt x="40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2" y="26"/>
                    <a:pt x="42" y="25"/>
                    <a:pt x="42" y="23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4"/>
                    <a:pt x="40" y="24"/>
                    <a:pt x="39" y="24"/>
                  </a:cubicBezTo>
                  <a:close/>
                  <a:moveTo>
                    <a:pt x="39" y="31"/>
                  </a:moveTo>
                  <a:cubicBezTo>
                    <a:pt x="39" y="32"/>
                    <a:pt x="39" y="33"/>
                    <a:pt x="39" y="35"/>
                  </a:cubicBezTo>
                  <a:cubicBezTo>
                    <a:pt x="40" y="35"/>
                    <a:pt x="40" y="34"/>
                    <a:pt x="41" y="34"/>
                  </a:cubicBezTo>
                  <a:cubicBezTo>
                    <a:pt x="41" y="34"/>
                    <a:pt x="41" y="34"/>
                    <a:pt x="42" y="34"/>
                  </a:cubicBezTo>
                  <a:cubicBezTo>
                    <a:pt x="42" y="33"/>
                    <a:pt x="42" y="32"/>
                    <a:pt x="42" y="30"/>
                  </a:cubicBezTo>
                  <a:cubicBezTo>
                    <a:pt x="41" y="30"/>
                    <a:pt x="41" y="30"/>
                    <a:pt x="41" y="31"/>
                  </a:cubicBezTo>
                  <a:cubicBezTo>
                    <a:pt x="40" y="31"/>
                    <a:pt x="40" y="31"/>
                    <a:pt x="39" y="31"/>
                  </a:cubicBezTo>
                  <a:close/>
                  <a:moveTo>
                    <a:pt x="39" y="38"/>
                  </a:moveTo>
                  <a:cubicBezTo>
                    <a:pt x="39" y="39"/>
                    <a:pt x="39" y="40"/>
                    <a:pt x="39" y="41"/>
                  </a:cubicBezTo>
                  <a:cubicBezTo>
                    <a:pt x="40" y="41"/>
                    <a:pt x="40" y="41"/>
                    <a:pt x="41" y="41"/>
                  </a:cubicBezTo>
                  <a:cubicBezTo>
                    <a:pt x="41" y="41"/>
                    <a:pt x="41" y="41"/>
                    <a:pt x="42" y="41"/>
                  </a:cubicBezTo>
                  <a:cubicBezTo>
                    <a:pt x="42" y="40"/>
                    <a:pt x="42" y="39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0" y="37"/>
                    <a:pt x="40" y="37"/>
                    <a:pt x="39" y="38"/>
                  </a:cubicBezTo>
                  <a:close/>
                  <a:moveTo>
                    <a:pt x="44" y="44"/>
                  </a:moveTo>
                  <a:cubicBezTo>
                    <a:pt x="44" y="46"/>
                    <a:pt x="44" y="47"/>
                    <a:pt x="44" y="48"/>
                  </a:cubicBezTo>
                  <a:cubicBezTo>
                    <a:pt x="44" y="48"/>
                    <a:pt x="45" y="48"/>
                    <a:pt x="45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7"/>
                    <a:pt x="46" y="46"/>
                    <a:pt x="46" y="44"/>
                  </a:cubicBezTo>
                  <a:cubicBezTo>
                    <a:pt x="46" y="44"/>
                    <a:pt x="46" y="44"/>
                    <a:pt x="45" y="44"/>
                  </a:cubicBezTo>
                  <a:cubicBezTo>
                    <a:pt x="45" y="44"/>
                    <a:pt x="44" y="44"/>
                    <a:pt x="44" y="44"/>
                  </a:cubicBezTo>
                  <a:close/>
                  <a:moveTo>
                    <a:pt x="39" y="45"/>
                  </a:moveTo>
                  <a:cubicBezTo>
                    <a:pt x="39" y="46"/>
                    <a:pt x="39" y="47"/>
                    <a:pt x="39" y="48"/>
                  </a:cubicBezTo>
                  <a:cubicBezTo>
                    <a:pt x="40" y="48"/>
                    <a:pt x="40" y="48"/>
                    <a:pt x="41" y="48"/>
                  </a:cubicBezTo>
                  <a:cubicBezTo>
                    <a:pt x="41" y="48"/>
                    <a:pt x="41" y="48"/>
                    <a:pt x="42" y="48"/>
                  </a:cubicBezTo>
                  <a:cubicBezTo>
                    <a:pt x="42" y="47"/>
                    <a:pt x="42" y="46"/>
                    <a:pt x="42" y="44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40" y="44"/>
                    <a:pt x="40" y="44"/>
                    <a:pt x="39" y="45"/>
                  </a:cubicBezTo>
                  <a:close/>
                  <a:moveTo>
                    <a:pt x="11" y="30"/>
                  </a:moveTo>
                  <a:cubicBezTo>
                    <a:pt x="11" y="31"/>
                    <a:pt x="11" y="33"/>
                    <a:pt x="11" y="34"/>
                  </a:cubicBezTo>
                  <a:cubicBezTo>
                    <a:pt x="11" y="34"/>
                    <a:pt x="12" y="34"/>
                    <a:pt x="12" y="34"/>
                  </a:cubicBezTo>
                  <a:cubicBezTo>
                    <a:pt x="12" y="34"/>
                    <a:pt x="13" y="34"/>
                    <a:pt x="13" y="34"/>
                  </a:cubicBezTo>
                  <a:cubicBezTo>
                    <a:pt x="13" y="32"/>
                    <a:pt x="13" y="31"/>
                    <a:pt x="13" y="30"/>
                  </a:cubicBezTo>
                  <a:cubicBezTo>
                    <a:pt x="13" y="30"/>
                    <a:pt x="12" y="30"/>
                    <a:pt x="12" y="30"/>
                  </a:cubicBezTo>
                  <a:cubicBezTo>
                    <a:pt x="12" y="30"/>
                    <a:pt x="11" y="30"/>
                    <a:pt x="11" y="30"/>
                  </a:cubicBezTo>
                  <a:close/>
                  <a:moveTo>
                    <a:pt x="15" y="30"/>
                  </a:moveTo>
                  <a:cubicBezTo>
                    <a:pt x="15" y="31"/>
                    <a:pt x="15" y="32"/>
                    <a:pt x="15" y="34"/>
                  </a:cubicBezTo>
                  <a:cubicBezTo>
                    <a:pt x="16" y="34"/>
                    <a:pt x="16" y="34"/>
                    <a:pt x="17" y="33"/>
                  </a:cubicBezTo>
                  <a:cubicBezTo>
                    <a:pt x="17" y="33"/>
                    <a:pt x="17" y="33"/>
                    <a:pt x="18" y="33"/>
                  </a:cubicBezTo>
                  <a:cubicBezTo>
                    <a:pt x="18" y="32"/>
                    <a:pt x="18" y="31"/>
                    <a:pt x="18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6" y="30"/>
                    <a:pt x="16" y="30"/>
                    <a:pt x="15" y="30"/>
                  </a:cubicBezTo>
                  <a:close/>
                  <a:moveTo>
                    <a:pt x="15" y="23"/>
                  </a:moveTo>
                  <a:cubicBezTo>
                    <a:pt x="15" y="24"/>
                    <a:pt x="15" y="25"/>
                    <a:pt x="15" y="27"/>
                  </a:cubicBezTo>
                  <a:cubicBezTo>
                    <a:pt x="16" y="27"/>
                    <a:pt x="16" y="26"/>
                    <a:pt x="17" y="26"/>
                  </a:cubicBezTo>
                  <a:cubicBezTo>
                    <a:pt x="17" y="26"/>
                    <a:pt x="17" y="26"/>
                    <a:pt x="18" y="26"/>
                  </a:cubicBezTo>
                  <a:cubicBezTo>
                    <a:pt x="18" y="25"/>
                    <a:pt x="18" y="24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5" y="23"/>
                  </a:cubicBezTo>
                  <a:close/>
                  <a:moveTo>
                    <a:pt x="15" y="37"/>
                  </a:moveTo>
                  <a:cubicBezTo>
                    <a:pt x="15" y="38"/>
                    <a:pt x="15" y="39"/>
                    <a:pt x="15" y="41"/>
                  </a:cubicBezTo>
                  <a:cubicBezTo>
                    <a:pt x="16" y="41"/>
                    <a:pt x="16" y="41"/>
                    <a:pt x="17" y="41"/>
                  </a:cubicBezTo>
                  <a:cubicBezTo>
                    <a:pt x="17" y="41"/>
                    <a:pt x="17" y="41"/>
                    <a:pt x="18" y="40"/>
                  </a:cubicBezTo>
                  <a:cubicBezTo>
                    <a:pt x="18" y="39"/>
                    <a:pt x="18" y="38"/>
                    <a:pt x="18" y="36"/>
                  </a:cubicBezTo>
                  <a:cubicBezTo>
                    <a:pt x="17" y="36"/>
                    <a:pt x="17" y="37"/>
                    <a:pt x="17" y="37"/>
                  </a:cubicBezTo>
                  <a:cubicBezTo>
                    <a:pt x="16" y="37"/>
                    <a:pt x="16" y="37"/>
                    <a:pt x="15" y="37"/>
                  </a:cubicBezTo>
                  <a:close/>
                  <a:moveTo>
                    <a:pt x="15" y="44"/>
                  </a:moveTo>
                  <a:cubicBezTo>
                    <a:pt x="15" y="45"/>
                    <a:pt x="15" y="46"/>
                    <a:pt x="15" y="48"/>
                  </a:cubicBezTo>
                  <a:cubicBezTo>
                    <a:pt x="16" y="48"/>
                    <a:pt x="16" y="48"/>
                    <a:pt x="17" y="48"/>
                  </a:cubicBezTo>
                  <a:cubicBezTo>
                    <a:pt x="17" y="48"/>
                    <a:pt x="17" y="48"/>
                    <a:pt x="18" y="48"/>
                  </a:cubicBezTo>
                  <a:cubicBezTo>
                    <a:pt x="18" y="46"/>
                    <a:pt x="18" y="45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5" y="44"/>
                  </a:cubicBezTo>
                  <a:close/>
                  <a:moveTo>
                    <a:pt x="15" y="51"/>
                  </a:moveTo>
                  <a:cubicBezTo>
                    <a:pt x="15" y="52"/>
                    <a:pt x="15" y="53"/>
                    <a:pt x="15" y="55"/>
                  </a:cubicBezTo>
                  <a:cubicBezTo>
                    <a:pt x="16" y="55"/>
                    <a:pt x="16" y="55"/>
                    <a:pt x="17" y="55"/>
                  </a:cubicBezTo>
                  <a:cubicBezTo>
                    <a:pt x="17" y="55"/>
                    <a:pt x="17" y="55"/>
                    <a:pt x="18" y="55"/>
                  </a:cubicBezTo>
                  <a:cubicBezTo>
                    <a:pt x="18" y="53"/>
                    <a:pt x="18" y="52"/>
                    <a:pt x="18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5" y="51"/>
                  </a:cubicBezTo>
                  <a:close/>
                  <a:moveTo>
                    <a:pt x="11" y="23"/>
                  </a:moveTo>
                  <a:cubicBezTo>
                    <a:pt x="11" y="24"/>
                    <a:pt x="11" y="26"/>
                    <a:pt x="11" y="27"/>
                  </a:cubicBezTo>
                  <a:cubicBezTo>
                    <a:pt x="11" y="27"/>
                    <a:pt x="12" y="27"/>
                    <a:pt x="12" y="27"/>
                  </a:cubicBezTo>
                  <a:cubicBezTo>
                    <a:pt x="12" y="27"/>
                    <a:pt x="13" y="27"/>
                    <a:pt x="13" y="27"/>
                  </a:cubicBezTo>
                  <a:cubicBezTo>
                    <a:pt x="13" y="25"/>
                    <a:pt x="13" y="24"/>
                    <a:pt x="13" y="23"/>
                  </a:cubicBezTo>
                  <a:cubicBezTo>
                    <a:pt x="13" y="23"/>
                    <a:pt x="12" y="23"/>
                    <a:pt x="12" y="23"/>
                  </a:cubicBezTo>
                  <a:cubicBezTo>
                    <a:pt x="12" y="23"/>
                    <a:pt x="11" y="23"/>
                    <a:pt x="11" y="23"/>
                  </a:cubicBezTo>
                  <a:close/>
                  <a:moveTo>
                    <a:pt x="11" y="37"/>
                  </a:moveTo>
                  <a:cubicBezTo>
                    <a:pt x="11" y="38"/>
                    <a:pt x="11" y="40"/>
                    <a:pt x="11" y="41"/>
                  </a:cubicBezTo>
                  <a:cubicBezTo>
                    <a:pt x="11" y="41"/>
                    <a:pt x="12" y="41"/>
                    <a:pt x="12" y="41"/>
                  </a:cubicBezTo>
                  <a:cubicBezTo>
                    <a:pt x="12" y="41"/>
                    <a:pt x="13" y="41"/>
                    <a:pt x="13" y="41"/>
                  </a:cubicBezTo>
                  <a:cubicBezTo>
                    <a:pt x="13" y="39"/>
                    <a:pt x="13" y="38"/>
                    <a:pt x="13" y="37"/>
                  </a:cubicBezTo>
                  <a:cubicBezTo>
                    <a:pt x="13" y="37"/>
                    <a:pt x="12" y="37"/>
                    <a:pt x="12" y="37"/>
                  </a:cubicBezTo>
                  <a:cubicBezTo>
                    <a:pt x="12" y="37"/>
                    <a:pt x="11" y="37"/>
                    <a:pt x="11" y="37"/>
                  </a:cubicBezTo>
                  <a:close/>
                  <a:moveTo>
                    <a:pt x="11" y="44"/>
                  </a:moveTo>
                  <a:cubicBezTo>
                    <a:pt x="11" y="45"/>
                    <a:pt x="11" y="46"/>
                    <a:pt x="11" y="48"/>
                  </a:cubicBezTo>
                  <a:cubicBezTo>
                    <a:pt x="11" y="48"/>
                    <a:pt x="12" y="48"/>
                    <a:pt x="12" y="48"/>
                  </a:cubicBezTo>
                  <a:cubicBezTo>
                    <a:pt x="12" y="48"/>
                    <a:pt x="13" y="48"/>
                    <a:pt x="13" y="48"/>
                  </a:cubicBezTo>
                  <a:cubicBezTo>
                    <a:pt x="13" y="46"/>
                    <a:pt x="13" y="45"/>
                    <a:pt x="13" y="44"/>
                  </a:cubicBezTo>
                  <a:cubicBezTo>
                    <a:pt x="13" y="44"/>
                    <a:pt x="12" y="44"/>
                    <a:pt x="12" y="44"/>
                  </a:cubicBezTo>
                  <a:cubicBezTo>
                    <a:pt x="12" y="44"/>
                    <a:pt x="11" y="44"/>
                    <a:pt x="11" y="44"/>
                  </a:cubicBezTo>
                  <a:close/>
                  <a:moveTo>
                    <a:pt x="11" y="51"/>
                  </a:moveTo>
                  <a:cubicBezTo>
                    <a:pt x="11" y="52"/>
                    <a:pt x="11" y="53"/>
                    <a:pt x="11" y="55"/>
                  </a:cubicBezTo>
                  <a:cubicBezTo>
                    <a:pt x="11" y="55"/>
                    <a:pt x="12" y="55"/>
                    <a:pt x="12" y="55"/>
                  </a:cubicBezTo>
                  <a:cubicBezTo>
                    <a:pt x="12" y="55"/>
                    <a:pt x="13" y="55"/>
                    <a:pt x="13" y="55"/>
                  </a:cubicBezTo>
                  <a:cubicBezTo>
                    <a:pt x="13" y="53"/>
                    <a:pt x="13" y="52"/>
                    <a:pt x="13" y="51"/>
                  </a:cubicBezTo>
                  <a:cubicBezTo>
                    <a:pt x="13" y="51"/>
                    <a:pt x="12" y="51"/>
                    <a:pt x="12" y="51"/>
                  </a:cubicBezTo>
                  <a:cubicBezTo>
                    <a:pt x="12" y="51"/>
                    <a:pt x="11" y="51"/>
                    <a:pt x="11" y="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TextBox 14"/>
            <p:cNvSpPr txBox="1"/>
            <p:nvPr/>
          </p:nvSpPr>
          <p:spPr>
            <a:xfrm>
              <a:off x="818652" y="5486400"/>
              <a:ext cx="2289139" cy="451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id-ID" sz="900" dirty="0">
                  <a:solidFill>
                    <a:prstClr val="black">
                      <a:lumMod val="50000"/>
                      <a:lumOff val="50000"/>
                    </a:prstClr>
                  </a:solidFill>
                  <a:cs typeface="+mn-ea"/>
                  <a:sym typeface="+mn-lt"/>
                  <a:latin typeface="微软雅黑"/>
                </a:rPr>
                <a:t>照片、替身与环境噪声都能绕过单一模态，人脸或声纹单独使用都存在明确攻击面。</a:t>
              </a:r>
              <a:endParaRPr lang="en-US" sz="800" b="1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endParaRPr>
            </a:p>
          </p:txBody>
        </p:sp>
        <p:sp>
          <p:nvSpPr>
            <p:cNvPr id="117" name="TextBox 15"/>
            <p:cNvSpPr txBox="1"/>
            <p:nvPr/>
          </p:nvSpPr>
          <p:spPr>
            <a:xfrm>
              <a:off x="818652" y="5226130"/>
              <a:ext cx="2032894" cy="507889"/>
            </a:xfrm>
            <a:prstGeom prst="rect">
              <a:avLst/>
            </a:prstGeom>
            <a:noFill/>
          </p:spPr>
          <p:txBody>
            <a:bodyPr wrap="none"/>
            <a:lstStyle/>
            <a:p>
              <a:pPr>
                <a:defRPr/>
              </a:pPr>
              <a:r>
                <a:rPr lang="id-ID" sz="1200" b="1" dirty="0">
                  <a:solidFill>
                    <a:srgbClr val="413C42"/>
                  </a:solidFill>
                  <a:cs typeface="+mn-ea"/>
                  <a:sym typeface="+mn-lt"/>
                  <a:latin typeface="微软雅黑"/>
                </a:rPr>
                <a:t>单一识别易被冒用</a:t>
              </a:r>
            </a:p>
          </p:txBody>
        </p:sp>
      </p:grpSp>
      <p:cxnSp>
        <p:nvCxnSpPr>
          <p:cNvPr id="118" name="直接连接符 117"/>
          <p:cNvCxnSpPr/>
          <p:nvPr/>
        </p:nvCxnSpPr>
        <p:spPr>
          <a:xfrm>
            <a:off x="793669" y="1626848"/>
            <a:ext cx="7601069" cy="0"/>
          </a:xfrm>
          <a:prstGeom prst="line">
            <a:avLst/>
          </a:prstGeom>
          <a:noFill/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9" name="组合 118"/>
          <p:cNvGrpSpPr/>
          <p:nvPr/>
        </p:nvGrpSpPr>
        <p:grpSpPr>
          <a:xfrm>
            <a:off x="2738720" y="2437330"/>
            <a:ext cx="1751468" cy="1735373"/>
            <a:chOff x="3581323" y="3721210"/>
            <a:chExt cx="2335290" cy="2313831"/>
          </a:xfrm>
        </p:grpSpPr>
        <p:grpSp>
          <p:nvGrpSpPr>
            <p:cNvPr id="120" name="组合 119"/>
            <p:cNvGrpSpPr/>
            <p:nvPr/>
          </p:nvGrpSpPr>
          <p:grpSpPr>
            <a:xfrm>
              <a:off x="3581323" y="3721210"/>
              <a:ext cx="2335290" cy="2313831"/>
              <a:chOff x="772501" y="3721210"/>
              <a:chExt cx="2335290" cy="2313831"/>
            </a:xfrm>
          </p:grpSpPr>
          <p:sp>
            <p:nvSpPr>
              <p:cNvPr id="122" name="矩形 121"/>
              <p:cNvSpPr/>
              <p:nvPr/>
            </p:nvSpPr>
            <p:spPr>
              <a:xfrm>
                <a:off x="772501" y="3721210"/>
                <a:ext cx="2335290" cy="136355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72501" y="5077199"/>
                <a:ext cx="2335290" cy="957842"/>
              </a:xfrm>
              <a:prstGeom prst="rect">
                <a:avLst/>
              </a:prstGeom>
              <a:solidFill>
                <a:srgbClr val="E4E4E4">
                  <a:alpha val="45000"/>
                </a:srgb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TextBox 14"/>
              <p:cNvSpPr txBox="1"/>
              <p:nvPr/>
            </p:nvSpPr>
            <p:spPr>
              <a:xfrm>
                <a:off x="818652" y="5486400"/>
                <a:ext cx="2289139" cy="451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id-ID" sz="9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cs typeface="+mn-ea"/>
                    <a:sym typeface="+mn-lt"/>
                    <a:latin typeface="微软雅黑"/>
                  </a:rPr>
                  <a:t>传统门锁只有按键与卡片，没有语音、没有对话，用户意图无法被理解。</a:t>
                </a:r>
                <a:endParaRPr lang="en-US" sz="800" b="1" dirty="0">
                  <a:solidFill>
                    <a:prstClr val="black">
                      <a:lumMod val="50000"/>
                      <a:lumOff val="50000"/>
                    </a:prst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5" name="TextBox 15"/>
              <p:cNvSpPr txBox="1"/>
              <p:nvPr/>
            </p:nvSpPr>
            <p:spPr>
              <a:xfrm>
                <a:off x="818652" y="5226130"/>
                <a:ext cx="2032894" cy="507889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>
                  <a:defRPr/>
                </a:pPr>
                <a:r>
                  <a:rPr lang="id-ID" sz="1200" b="1" dirty="0">
                    <a:solidFill>
                      <a:srgbClr val="413C42"/>
                    </a:solidFill>
                    <a:cs typeface="+mn-ea"/>
                    <a:sym typeface="+mn-lt"/>
                    <a:latin typeface="微软雅黑"/>
                  </a:rPr>
                  <a:t>缺少自然交互</a:t>
                </a:r>
              </a:p>
            </p:txBody>
          </p:sp>
        </p:grpSp>
        <p:sp>
          <p:nvSpPr>
            <p:cNvPr id="121" name="Freeform 176"/>
            <p:cNvSpPr>
              <a:spLocks noEditPoints="1"/>
            </p:cNvSpPr>
            <p:nvPr/>
          </p:nvSpPr>
          <p:spPr bwMode="auto">
            <a:xfrm>
              <a:off x="4562860" y="4282887"/>
              <a:ext cx="381517" cy="312964"/>
            </a:xfrm>
            <a:custGeom>
              <a:avLst/>
              <a:gdLst>
                <a:gd name="T0" fmla="*/ 112 w 128"/>
                <a:gd name="T1" fmla="*/ 2 h 105"/>
                <a:gd name="T2" fmla="*/ 107 w 128"/>
                <a:gd name="T3" fmla="*/ 23 h 105"/>
                <a:gd name="T4" fmla="*/ 99 w 128"/>
                <a:gd name="T5" fmla="*/ 2 h 105"/>
                <a:gd name="T6" fmla="*/ 112 w 128"/>
                <a:gd name="T7" fmla="*/ 46 h 105"/>
                <a:gd name="T8" fmla="*/ 99 w 128"/>
                <a:gd name="T9" fmla="*/ 105 h 105"/>
                <a:gd name="T10" fmla="*/ 107 w 128"/>
                <a:gd name="T11" fmla="*/ 42 h 105"/>
                <a:gd name="T12" fmla="*/ 112 w 128"/>
                <a:gd name="T13" fmla="*/ 46 h 105"/>
                <a:gd name="T14" fmla="*/ 128 w 128"/>
                <a:gd name="T15" fmla="*/ 0 h 105"/>
                <a:gd name="T16" fmla="*/ 114 w 128"/>
                <a:gd name="T17" fmla="*/ 105 h 105"/>
                <a:gd name="T18" fmla="*/ 118 w 128"/>
                <a:gd name="T19" fmla="*/ 33 h 105"/>
                <a:gd name="T20" fmla="*/ 114 w 128"/>
                <a:gd name="T21" fmla="*/ 21 h 105"/>
                <a:gd name="T22" fmla="*/ 114 w 128"/>
                <a:gd name="T23" fmla="*/ 0 h 105"/>
                <a:gd name="T24" fmla="*/ 95 w 128"/>
                <a:gd name="T25" fmla="*/ 15 h 105"/>
                <a:gd name="T26" fmla="*/ 93 w 128"/>
                <a:gd name="T27" fmla="*/ 27 h 105"/>
                <a:gd name="T28" fmla="*/ 95 w 128"/>
                <a:gd name="T29" fmla="*/ 38 h 105"/>
                <a:gd name="T30" fmla="*/ 82 w 128"/>
                <a:gd name="T31" fmla="*/ 15 h 105"/>
                <a:gd name="T32" fmla="*/ 95 w 128"/>
                <a:gd name="T33" fmla="*/ 57 h 105"/>
                <a:gd name="T34" fmla="*/ 82 w 128"/>
                <a:gd name="T35" fmla="*/ 105 h 105"/>
                <a:gd name="T36" fmla="*/ 95 w 128"/>
                <a:gd name="T37" fmla="*/ 57 h 105"/>
                <a:gd name="T38" fmla="*/ 65 w 128"/>
                <a:gd name="T39" fmla="*/ 23 h 105"/>
                <a:gd name="T40" fmla="*/ 80 w 128"/>
                <a:gd name="T41" fmla="*/ 54 h 105"/>
                <a:gd name="T42" fmla="*/ 72 w 128"/>
                <a:gd name="T43" fmla="*/ 57 h 105"/>
                <a:gd name="T44" fmla="*/ 65 w 128"/>
                <a:gd name="T45" fmla="*/ 52 h 105"/>
                <a:gd name="T46" fmla="*/ 65 w 128"/>
                <a:gd name="T47" fmla="*/ 23 h 105"/>
                <a:gd name="T48" fmla="*/ 80 w 128"/>
                <a:gd name="T49" fmla="*/ 105 h 105"/>
                <a:gd name="T50" fmla="*/ 65 w 128"/>
                <a:gd name="T51" fmla="*/ 71 h 105"/>
                <a:gd name="T52" fmla="*/ 72 w 128"/>
                <a:gd name="T53" fmla="*/ 80 h 105"/>
                <a:gd name="T54" fmla="*/ 80 w 128"/>
                <a:gd name="T55" fmla="*/ 73 h 105"/>
                <a:gd name="T56" fmla="*/ 49 w 128"/>
                <a:gd name="T57" fmla="*/ 33 h 105"/>
                <a:gd name="T58" fmla="*/ 63 w 128"/>
                <a:gd name="T59" fmla="*/ 54 h 105"/>
                <a:gd name="T60" fmla="*/ 49 w 128"/>
                <a:gd name="T61" fmla="*/ 63 h 105"/>
                <a:gd name="T62" fmla="*/ 49 w 128"/>
                <a:gd name="T63" fmla="*/ 33 h 105"/>
                <a:gd name="T64" fmla="*/ 63 w 128"/>
                <a:gd name="T65" fmla="*/ 105 h 105"/>
                <a:gd name="T66" fmla="*/ 49 w 128"/>
                <a:gd name="T67" fmla="*/ 78 h 105"/>
                <a:gd name="T68" fmla="*/ 63 w 128"/>
                <a:gd name="T69" fmla="*/ 69 h 105"/>
                <a:gd name="T70" fmla="*/ 47 w 128"/>
                <a:gd name="T71" fmla="*/ 42 h 105"/>
                <a:gd name="T72" fmla="*/ 38 w 128"/>
                <a:gd name="T73" fmla="*/ 71 h 105"/>
                <a:gd name="T74" fmla="*/ 34 w 128"/>
                <a:gd name="T75" fmla="*/ 42 h 105"/>
                <a:gd name="T76" fmla="*/ 47 w 128"/>
                <a:gd name="T77" fmla="*/ 80 h 105"/>
                <a:gd name="T78" fmla="*/ 34 w 128"/>
                <a:gd name="T79" fmla="*/ 105 h 105"/>
                <a:gd name="T80" fmla="*/ 36 w 128"/>
                <a:gd name="T81" fmla="*/ 86 h 105"/>
                <a:gd name="T82" fmla="*/ 47 w 128"/>
                <a:gd name="T83" fmla="*/ 80 h 105"/>
                <a:gd name="T84" fmla="*/ 17 w 128"/>
                <a:gd name="T85" fmla="*/ 36 h 105"/>
                <a:gd name="T86" fmla="*/ 32 w 128"/>
                <a:gd name="T87" fmla="*/ 63 h 105"/>
                <a:gd name="T88" fmla="*/ 28 w 128"/>
                <a:gd name="T89" fmla="*/ 61 h 105"/>
                <a:gd name="T90" fmla="*/ 17 w 128"/>
                <a:gd name="T91" fmla="*/ 65 h 105"/>
                <a:gd name="T92" fmla="*/ 17 w 128"/>
                <a:gd name="T93" fmla="*/ 36 h 105"/>
                <a:gd name="T94" fmla="*/ 32 w 128"/>
                <a:gd name="T95" fmla="*/ 105 h 105"/>
                <a:gd name="T96" fmla="*/ 17 w 128"/>
                <a:gd name="T97" fmla="*/ 80 h 105"/>
                <a:gd name="T98" fmla="*/ 32 w 128"/>
                <a:gd name="T99" fmla="*/ 82 h 105"/>
                <a:gd name="T100" fmla="*/ 0 w 128"/>
                <a:gd name="T101" fmla="*/ 48 h 105"/>
                <a:gd name="T102" fmla="*/ 15 w 128"/>
                <a:gd name="T103" fmla="*/ 67 h 105"/>
                <a:gd name="T104" fmla="*/ 13 w 128"/>
                <a:gd name="T105" fmla="*/ 84 h 105"/>
                <a:gd name="T106" fmla="*/ 15 w 128"/>
                <a:gd name="T107" fmla="*/ 105 h 105"/>
                <a:gd name="T108" fmla="*/ 0 w 128"/>
                <a:gd name="T109" fmla="*/ 48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8" h="105">
                  <a:moveTo>
                    <a:pt x="99" y="2"/>
                  </a:moveTo>
                  <a:lnTo>
                    <a:pt x="112" y="2"/>
                  </a:lnTo>
                  <a:lnTo>
                    <a:pt x="112" y="21"/>
                  </a:lnTo>
                  <a:lnTo>
                    <a:pt x="107" y="23"/>
                  </a:lnTo>
                  <a:lnTo>
                    <a:pt x="99" y="25"/>
                  </a:lnTo>
                  <a:lnTo>
                    <a:pt x="99" y="2"/>
                  </a:lnTo>
                  <a:lnTo>
                    <a:pt x="99" y="2"/>
                  </a:lnTo>
                  <a:close/>
                  <a:moveTo>
                    <a:pt x="112" y="46"/>
                  </a:moveTo>
                  <a:lnTo>
                    <a:pt x="112" y="105"/>
                  </a:lnTo>
                  <a:lnTo>
                    <a:pt x="99" y="105"/>
                  </a:lnTo>
                  <a:lnTo>
                    <a:pt x="99" y="52"/>
                  </a:lnTo>
                  <a:lnTo>
                    <a:pt x="107" y="42"/>
                  </a:lnTo>
                  <a:lnTo>
                    <a:pt x="112" y="46"/>
                  </a:lnTo>
                  <a:lnTo>
                    <a:pt x="112" y="46"/>
                  </a:lnTo>
                  <a:close/>
                  <a:moveTo>
                    <a:pt x="114" y="0"/>
                  </a:moveTo>
                  <a:lnTo>
                    <a:pt x="128" y="0"/>
                  </a:lnTo>
                  <a:lnTo>
                    <a:pt x="128" y="105"/>
                  </a:lnTo>
                  <a:lnTo>
                    <a:pt x="114" y="105"/>
                  </a:lnTo>
                  <a:lnTo>
                    <a:pt x="114" y="44"/>
                  </a:lnTo>
                  <a:lnTo>
                    <a:pt x="118" y="33"/>
                  </a:lnTo>
                  <a:lnTo>
                    <a:pt x="120" y="19"/>
                  </a:lnTo>
                  <a:lnTo>
                    <a:pt x="114" y="21"/>
                  </a:lnTo>
                  <a:lnTo>
                    <a:pt x="114" y="0"/>
                  </a:lnTo>
                  <a:lnTo>
                    <a:pt x="114" y="0"/>
                  </a:lnTo>
                  <a:close/>
                  <a:moveTo>
                    <a:pt x="82" y="15"/>
                  </a:moveTo>
                  <a:lnTo>
                    <a:pt x="95" y="15"/>
                  </a:lnTo>
                  <a:lnTo>
                    <a:pt x="95" y="27"/>
                  </a:lnTo>
                  <a:lnTo>
                    <a:pt x="93" y="27"/>
                  </a:lnTo>
                  <a:lnTo>
                    <a:pt x="95" y="31"/>
                  </a:lnTo>
                  <a:lnTo>
                    <a:pt x="95" y="38"/>
                  </a:lnTo>
                  <a:lnTo>
                    <a:pt x="82" y="50"/>
                  </a:lnTo>
                  <a:lnTo>
                    <a:pt x="82" y="15"/>
                  </a:lnTo>
                  <a:lnTo>
                    <a:pt x="82" y="15"/>
                  </a:lnTo>
                  <a:close/>
                  <a:moveTo>
                    <a:pt x="95" y="57"/>
                  </a:moveTo>
                  <a:lnTo>
                    <a:pt x="95" y="105"/>
                  </a:lnTo>
                  <a:lnTo>
                    <a:pt x="82" y="105"/>
                  </a:lnTo>
                  <a:lnTo>
                    <a:pt x="82" y="69"/>
                  </a:lnTo>
                  <a:lnTo>
                    <a:pt x="95" y="57"/>
                  </a:lnTo>
                  <a:lnTo>
                    <a:pt x="95" y="57"/>
                  </a:lnTo>
                  <a:close/>
                  <a:moveTo>
                    <a:pt x="65" y="23"/>
                  </a:moveTo>
                  <a:lnTo>
                    <a:pt x="80" y="23"/>
                  </a:lnTo>
                  <a:lnTo>
                    <a:pt x="80" y="54"/>
                  </a:lnTo>
                  <a:lnTo>
                    <a:pt x="74" y="61"/>
                  </a:lnTo>
                  <a:lnTo>
                    <a:pt x="72" y="57"/>
                  </a:lnTo>
                  <a:lnTo>
                    <a:pt x="68" y="52"/>
                  </a:lnTo>
                  <a:lnTo>
                    <a:pt x="65" y="52"/>
                  </a:lnTo>
                  <a:lnTo>
                    <a:pt x="65" y="23"/>
                  </a:lnTo>
                  <a:lnTo>
                    <a:pt x="65" y="23"/>
                  </a:lnTo>
                  <a:close/>
                  <a:moveTo>
                    <a:pt x="80" y="73"/>
                  </a:moveTo>
                  <a:lnTo>
                    <a:pt x="80" y="105"/>
                  </a:lnTo>
                  <a:lnTo>
                    <a:pt x="65" y="105"/>
                  </a:lnTo>
                  <a:lnTo>
                    <a:pt x="65" y="71"/>
                  </a:lnTo>
                  <a:lnTo>
                    <a:pt x="68" y="73"/>
                  </a:lnTo>
                  <a:lnTo>
                    <a:pt x="72" y="80"/>
                  </a:lnTo>
                  <a:lnTo>
                    <a:pt x="78" y="73"/>
                  </a:lnTo>
                  <a:lnTo>
                    <a:pt x="80" y="73"/>
                  </a:lnTo>
                  <a:lnTo>
                    <a:pt x="80" y="73"/>
                  </a:lnTo>
                  <a:close/>
                  <a:moveTo>
                    <a:pt x="49" y="33"/>
                  </a:moveTo>
                  <a:lnTo>
                    <a:pt x="63" y="33"/>
                  </a:lnTo>
                  <a:lnTo>
                    <a:pt x="63" y="54"/>
                  </a:lnTo>
                  <a:lnTo>
                    <a:pt x="61" y="54"/>
                  </a:lnTo>
                  <a:lnTo>
                    <a:pt x="49" y="63"/>
                  </a:lnTo>
                  <a:lnTo>
                    <a:pt x="49" y="33"/>
                  </a:lnTo>
                  <a:lnTo>
                    <a:pt x="49" y="33"/>
                  </a:lnTo>
                  <a:close/>
                  <a:moveTo>
                    <a:pt x="63" y="69"/>
                  </a:moveTo>
                  <a:lnTo>
                    <a:pt x="63" y="105"/>
                  </a:lnTo>
                  <a:lnTo>
                    <a:pt x="49" y="105"/>
                  </a:lnTo>
                  <a:lnTo>
                    <a:pt x="49" y="78"/>
                  </a:lnTo>
                  <a:lnTo>
                    <a:pt x="63" y="69"/>
                  </a:lnTo>
                  <a:lnTo>
                    <a:pt x="63" y="69"/>
                  </a:lnTo>
                  <a:close/>
                  <a:moveTo>
                    <a:pt x="34" y="42"/>
                  </a:moveTo>
                  <a:lnTo>
                    <a:pt x="47" y="42"/>
                  </a:lnTo>
                  <a:lnTo>
                    <a:pt x="47" y="65"/>
                  </a:lnTo>
                  <a:lnTo>
                    <a:pt x="38" y="71"/>
                  </a:lnTo>
                  <a:lnTo>
                    <a:pt x="34" y="67"/>
                  </a:lnTo>
                  <a:lnTo>
                    <a:pt x="34" y="42"/>
                  </a:lnTo>
                  <a:lnTo>
                    <a:pt x="34" y="42"/>
                  </a:lnTo>
                  <a:close/>
                  <a:moveTo>
                    <a:pt x="47" y="80"/>
                  </a:moveTo>
                  <a:lnTo>
                    <a:pt x="47" y="105"/>
                  </a:lnTo>
                  <a:lnTo>
                    <a:pt x="34" y="105"/>
                  </a:lnTo>
                  <a:lnTo>
                    <a:pt x="34" y="84"/>
                  </a:lnTo>
                  <a:lnTo>
                    <a:pt x="36" y="86"/>
                  </a:lnTo>
                  <a:lnTo>
                    <a:pt x="40" y="84"/>
                  </a:lnTo>
                  <a:lnTo>
                    <a:pt x="47" y="80"/>
                  </a:lnTo>
                  <a:lnTo>
                    <a:pt x="47" y="80"/>
                  </a:lnTo>
                  <a:close/>
                  <a:moveTo>
                    <a:pt x="17" y="36"/>
                  </a:moveTo>
                  <a:lnTo>
                    <a:pt x="32" y="36"/>
                  </a:lnTo>
                  <a:lnTo>
                    <a:pt x="32" y="63"/>
                  </a:lnTo>
                  <a:lnTo>
                    <a:pt x="30" y="63"/>
                  </a:lnTo>
                  <a:lnTo>
                    <a:pt x="28" y="61"/>
                  </a:lnTo>
                  <a:lnTo>
                    <a:pt x="23" y="63"/>
                  </a:lnTo>
                  <a:lnTo>
                    <a:pt x="17" y="65"/>
                  </a:lnTo>
                  <a:lnTo>
                    <a:pt x="17" y="36"/>
                  </a:lnTo>
                  <a:lnTo>
                    <a:pt x="17" y="36"/>
                  </a:lnTo>
                  <a:close/>
                  <a:moveTo>
                    <a:pt x="32" y="82"/>
                  </a:moveTo>
                  <a:lnTo>
                    <a:pt x="32" y="105"/>
                  </a:lnTo>
                  <a:lnTo>
                    <a:pt x="17" y="105"/>
                  </a:lnTo>
                  <a:lnTo>
                    <a:pt x="17" y="80"/>
                  </a:lnTo>
                  <a:lnTo>
                    <a:pt x="26" y="75"/>
                  </a:lnTo>
                  <a:lnTo>
                    <a:pt x="32" y="82"/>
                  </a:lnTo>
                  <a:lnTo>
                    <a:pt x="32" y="82"/>
                  </a:lnTo>
                  <a:close/>
                  <a:moveTo>
                    <a:pt x="0" y="48"/>
                  </a:moveTo>
                  <a:lnTo>
                    <a:pt x="15" y="48"/>
                  </a:lnTo>
                  <a:lnTo>
                    <a:pt x="15" y="67"/>
                  </a:lnTo>
                  <a:lnTo>
                    <a:pt x="7" y="71"/>
                  </a:lnTo>
                  <a:lnTo>
                    <a:pt x="13" y="84"/>
                  </a:lnTo>
                  <a:lnTo>
                    <a:pt x="15" y="82"/>
                  </a:lnTo>
                  <a:lnTo>
                    <a:pt x="15" y="105"/>
                  </a:lnTo>
                  <a:lnTo>
                    <a:pt x="0" y="105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4690995" y="2437330"/>
            <a:ext cx="1751468" cy="1735373"/>
            <a:chOff x="6192089" y="3721210"/>
            <a:chExt cx="2335290" cy="2313831"/>
          </a:xfrm>
        </p:grpSpPr>
        <p:sp>
          <p:nvSpPr>
            <p:cNvPr id="127" name="矩形 126"/>
            <p:cNvSpPr/>
            <p:nvPr/>
          </p:nvSpPr>
          <p:spPr>
            <a:xfrm>
              <a:off x="6192089" y="3721210"/>
              <a:ext cx="2335290" cy="1363554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6192089" y="5077199"/>
              <a:ext cx="2335290" cy="957842"/>
            </a:xfrm>
            <a:prstGeom prst="rect">
              <a:avLst/>
            </a:prstGeom>
            <a:solidFill>
              <a:srgbClr val="E4E4E4">
                <a:alpha val="4500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9" name="TextBox 14"/>
            <p:cNvSpPr txBox="1"/>
            <p:nvPr/>
          </p:nvSpPr>
          <p:spPr>
            <a:xfrm>
              <a:off x="6238240" y="5486400"/>
              <a:ext cx="2289139" cy="451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id-ID" sz="900" dirty="0">
                  <a:solidFill>
                    <a:prstClr val="black">
                      <a:lumMod val="50000"/>
                      <a:lumOff val="50000"/>
                    </a:prstClr>
                  </a:solidFill>
                  <a:cs typeface="+mn-ea"/>
                  <a:sym typeface="+mn-lt"/>
                  <a:latin typeface="微软雅黑"/>
                </a:rPr>
                <a:t>陌生人徘徊、认证失败不落盘，也没有后续通知与追溯入口。</a:t>
              </a:r>
              <a:endParaRPr lang="en-US" sz="800" b="1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endParaRPr>
            </a:p>
          </p:txBody>
        </p:sp>
        <p:sp>
          <p:nvSpPr>
            <p:cNvPr id="130" name="TextBox 15"/>
            <p:cNvSpPr txBox="1"/>
            <p:nvPr/>
          </p:nvSpPr>
          <p:spPr>
            <a:xfrm>
              <a:off x="6238240" y="5226130"/>
              <a:ext cx="2032894" cy="507889"/>
            </a:xfrm>
            <a:prstGeom prst="rect">
              <a:avLst/>
            </a:prstGeom>
            <a:noFill/>
          </p:spPr>
          <p:txBody>
            <a:bodyPr wrap="none"/>
            <a:lstStyle/>
            <a:p>
              <a:pPr>
                <a:defRPr/>
              </a:pPr>
              <a:r>
                <a:rPr lang="id-ID" sz="1200" b="1" dirty="0">
                  <a:solidFill>
                    <a:srgbClr val="413C42"/>
                  </a:solidFill>
                  <a:cs typeface="+mn-ea"/>
                  <a:sym typeface="+mn-lt"/>
                  <a:latin typeface="微软雅黑"/>
                </a:rPr>
                <a:t>异常缺少统一记录</a:t>
              </a:r>
            </a:p>
          </p:txBody>
        </p:sp>
        <p:sp>
          <p:nvSpPr>
            <p:cNvPr id="131" name="Freeform 105"/>
            <p:cNvSpPr>
              <a:spLocks noEditPoints="1"/>
            </p:cNvSpPr>
            <p:nvPr/>
          </p:nvSpPr>
          <p:spPr bwMode="auto">
            <a:xfrm>
              <a:off x="7119816" y="4304750"/>
              <a:ext cx="479836" cy="282761"/>
            </a:xfrm>
            <a:custGeom>
              <a:avLst/>
              <a:gdLst>
                <a:gd name="T0" fmla="*/ 58 w 80"/>
                <a:gd name="T1" fmla="*/ 7 h 47"/>
                <a:gd name="T2" fmla="*/ 61 w 80"/>
                <a:gd name="T3" fmla="*/ 6 h 47"/>
                <a:gd name="T4" fmla="*/ 66 w 80"/>
                <a:gd name="T5" fmla="*/ 14 h 47"/>
                <a:gd name="T6" fmla="*/ 74 w 80"/>
                <a:gd name="T7" fmla="*/ 19 h 47"/>
                <a:gd name="T8" fmla="*/ 73 w 80"/>
                <a:gd name="T9" fmla="*/ 22 h 47"/>
                <a:gd name="T10" fmla="*/ 80 w 80"/>
                <a:gd name="T11" fmla="*/ 39 h 47"/>
                <a:gd name="T12" fmla="*/ 77 w 80"/>
                <a:gd name="T13" fmla="*/ 41 h 47"/>
                <a:gd name="T14" fmla="*/ 71 w 80"/>
                <a:gd name="T15" fmla="*/ 41 h 47"/>
                <a:gd name="T16" fmla="*/ 73 w 80"/>
                <a:gd name="T17" fmla="*/ 39 h 47"/>
                <a:gd name="T18" fmla="*/ 67 w 80"/>
                <a:gd name="T19" fmla="*/ 25 h 47"/>
                <a:gd name="T20" fmla="*/ 59 w 80"/>
                <a:gd name="T21" fmla="*/ 39 h 47"/>
                <a:gd name="T22" fmla="*/ 67 w 80"/>
                <a:gd name="T23" fmla="*/ 25 h 47"/>
                <a:gd name="T24" fmla="*/ 68 w 80"/>
                <a:gd name="T25" fmla="*/ 23 h 47"/>
                <a:gd name="T26" fmla="*/ 57 w 80"/>
                <a:gd name="T27" fmla="*/ 12 h 47"/>
                <a:gd name="T28" fmla="*/ 62 w 80"/>
                <a:gd name="T29" fmla="*/ 18 h 47"/>
                <a:gd name="T30" fmla="*/ 56 w 80"/>
                <a:gd name="T31" fmla="*/ 29 h 47"/>
                <a:gd name="T32" fmla="*/ 50 w 80"/>
                <a:gd name="T33" fmla="*/ 24 h 47"/>
                <a:gd name="T34" fmla="*/ 55 w 80"/>
                <a:gd name="T35" fmla="*/ 13 h 47"/>
                <a:gd name="T36" fmla="*/ 41 w 80"/>
                <a:gd name="T37" fmla="*/ 7 h 47"/>
                <a:gd name="T38" fmla="*/ 39 w 80"/>
                <a:gd name="T39" fmla="*/ 9 h 47"/>
                <a:gd name="T40" fmla="*/ 24 w 80"/>
                <a:gd name="T41" fmla="*/ 11 h 47"/>
                <a:gd name="T42" fmla="*/ 39 w 80"/>
                <a:gd name="T43" fmla="*/ 9 h 47"/>
                <a:gd name="T44" fmla="*/ 31 w 80"/>
                <a:gd name="T45" fmla="*/ 23 h 47"/>
                <a:gd name="T46" fmla="*/ 24 w 80"/>
                <a:gd name="T47" fmla="*/ 14 h 47"/>
                <a:gd name="T48" fmla="*/ 17 w 80"/>
                <a:gd name="T49" fmla="*/ 17 h 47"/>
                <a:gd name="T50" fmla="*/ 14 w 80"/>
                <a:gd name="T51" fmla="*/ 24 h 47"/>
                <a:gd name="T52" fmla="*/ 24 w 80"/>
                <a:gd name="T53" fmla="*/ 14 h 47"/>
                <a:gd name="T54" fmla="*/ 28 w 80"/>
                <a:gd name="T55" fmla="*/ 25 h 47"/>
                <a:gd name="T56" fmla="*/ 20 w 80"/>
                <a:gd name="T57" fmla="*/ 22 h 47"/>
                <a:gd name="T58" fmla="*/ 23 w 80"/>
                <a:gd name="T59" fmla="*/ 29 h 47"/>
                <a:gd name="T60" fmla="*/ 13 w 80"/>
                <a:gd name="T61" fmla="*/ 25 h 47"/>
                <a:gd name="T62" fmla="*/ 7 w 80"/>
                <a:gd name="T63" fmla="*/ 39 h 47"/>
                <a:gd name="T64" fmla="*/ 9 w 80"/>
                <a:gd name="T65" fmla="*/ 41 h 47"/>
                <a:gd name="T66" fmla="*/ 3 w 80"/>
                <a:gd name="T67" fmla="*/ 41 h 47"/>
                <a:gd name="T68" fmla="*/ 0 w 80"/>
                <a:gd name="T69" fmla="*/ 39 h 47"/>
                <a:gd name="T70" fmla="*/ 7 w 80"/>
                <a:gd name="T71" fmla="*/ 22 h 47"/>
                <a:gd name="T72" fmla="*/ 6 w 80"/>
                <a:gd name="T73" fmla="*/ 19 h 47"/>
                <a:gd name="T74" fmla="*/ 14 w 80"/>
                <a:gd name="T75" fmla="*/ 14 h 47"/>
                <a:gd name="T76" fmla="*/ 19 w 80"/>
                <a:gd name="T77" fmla="*/ 6 h 47"/>
                <a:gd name="T78" fmla="*/ 22 w 80"/>
                <a:gd name="T79" fmla="*/ 7 h 47"/>
                <a:gd name="T80" fmla="*/ 39 w 80"/>
                <a:gd name="T81" fmla="*/ 0 h 47"/>
                <a:gd name="T82" fmla="*/ 41 w 80"/>
                <a:gd name="T83" fmla="*/ 3 h 47"/>
                <a:gd name="T84" fmla="*/ 33 w 80"/>
                <a:gd name="T85" fmla="*/ 40 h 47"/>
                <a:gd name="T86" fmla="*/ 40 w 80"/>
                <a:gd name="T87" fmla="*/ 47 h 47"/>
                <a:gd name="T88" fmla="*/ 45 w 80"/>
                <a:gd name="T89" fmla="*/ 45 h 47"/>
                <a:gd name="T90" fmla="*/ 47 w 80"/>
                <a:gd name="T91" fmla="*/ 39 h 47"/>
                <a:gd name="T92" fmla="*/ 45 w 80"/>
                <a:gd name="T93" fmla="*/ 34 h 47"/>
                <a:gd name="T94" fmla="*/ 39 w 80"/>
                <a:gd name="T95" fmla="*/ 33 h 47"/>
                <a:gd name="T96" fmla="*/ 24 w 80"/>
                <a:gd name="T97" fmla="*/ 23 h 47"/>
                <a:gd name="T98" fmla="*/ 22 w 80"/>
                <a:gd name="T99" fmla="*/ 26 h 47"/>
                <a:gd name="T100" fmla="*/ 40 w 80"/>
                <a:gd name="T101" fmla="*/ 37 h 47"/>
                <a:gd name="T102" fmla="*/ 37 w 80"/>
                <a:gd name="T103" fmla="*/ 40 h 47"/>
                <a:gd name="T104" fmla="*/ 40 w 80"/>
                <a:gd name="T105" fmla="*/ 43 h 47"/>
                <a:gd name="T106" fmla="*/ 42 w 80"/>
                <a:gd name="T107" fmla="*/ 42 h 47"/>
                <a:gd name="T108" fmla="*/ 43 w 80"/>
                <a:gd name="T109" fmla="*/ 40 h 47"/>
                <a:gd name="T110" fmla="*/ 40 w 80"/>
                <a:gd name="T111" fmla="*/ 37 h 47"/>
                <a:gd name="T112" fmla="*/ 41 w 80"/>
                <a:gd name="T113" fmla="*/ 9 h 47"/>
                <a:gd name="T114" fmla="*/ 49 w 80"/>
                <a:gd name="T115" fmla="*/ 23 h 47"/>
                <a:gd name="T116" fmla="*/ 41 w 80"/>
                <a:gd name="T117" fmla="*/ 9 h 47"/>
                <a:gd name="T118" fmla="*/ 13 w 80"/>
                <a:gd name="T119" fmla="*/ 25 h 47"/>
                <a:gd name="T120" fmla="*/ 21 w 80"/>
                <a:gd name="T121" fmla="*/ 3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0" h="47">
                  <a:moveTo>
                    <a:pt x="41" y="3"/>
                  </a:moveTo>
                  <a:cubicBezTo>
                    <a:pt x="47" y="3"/>
                    <a:pt x="53" y="5"/>
                    <a:pt x="58" y="7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2" y="10"/>
                    <a:pt x="64" y="12"/>
                    <a:pt x="66" y="14"/>
                  </a:cubicBezTo>
                  <a:cubicBezTo>
                    <a:pt x="68" y="16"/>
                    <a:pt x="70" y="18"/>
                    <a:pt x="72" y="20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5" y="27"/>
                    <a:pt x="77" y="33"/>
                    <a:pt x="77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77" y="41"/>
                    <a:pt x="77" y="41"/>
                    <a:pt x="77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34"/>
                    <a:pt x="71" y="29"/>
                    <a:pt x="69" y="24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9" y="29"/>
                    <a:pt x="71" y="34"/>
                    <a:pt x="71" y="39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59" y="36"/>
                    <a:pt x="58" y="33"/>
                    <a:pt x="57" y="31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7" y="20"/>
                    <a:pt x="65" y="18"/>
                    <a:pt x="63" y="17"/>
                  </a:cubicBezTo>
                  <a:cubicBezTo>
                    <a:pt x="61" y="15"/>
                    <a:pt x="59" y="13"/>
                    <a:pt x="57" y="12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58" y="15"/>
                    <a:pt x="60" y="16"/>
                    <a:pt x="62" y="18"/>
                  </a:cubicBezTo>
                  <a:cubicBezTo>
                    <a:pt x="63" y="20"/>
                    <a:pt x="65" y="22"/>
                    <a:pt x="66" y="24"/>
                  </a:cubicBezTo>
                  <a:cubicBezTo>
                    <a:pt x="56" y="29"/>
                    <a:pt x="56" y="29"/>
                    <a:pt x="56" y="29"/>
                  </a:cubicBezTo>
                  <a:cubicBezTo>
                    <a:pt x="55" y="28"/>
                    <a:pt x="55" y="27"/>
                    <a:pt x="54" y="26"/>
                  </a:cubicBezTo>
                  <a:cubicBezTo>
                    <a:pt x="53" y="25"/>
                    <a:pt x="52" y="24"/>
                    <a:pt x="50" y="24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1" y="8"/>
                    <a:pt x="46" y="7"/>
                    <a:pt x="41" y="7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4" y="7"/>
                    <a:pt x="29" y="8"/>
                    <a:pt x="24" y="11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9" y="11"/>
                    <a:pt x="34" y="9"/>
                    <a:pt x="39" y="9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6" y="21"/>
                    <a:pt x="34" y="21"/>
                    <a:pt x="31" y="2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1" y="13"/>
                    <a:pt x="19" y="15"/>
                    <a:pt x="17" y="17"/>
                  </a:cubicBezTo>
                  <a:cubicBezTo>
                    <a:pt x="15" y="18"/>
                    <a:pt x="13" y="20"/>
                    <a:pt x="12" y="23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2"/>
                    <a:pt x="17" y="20"/>
                    <a:pt x="18" y="18"/>
                  </a:cubicBezTo>
                  <a:cubicBezTo>
                    <a:pt x="20" y="16"/>
                    <a:pt x="22" y="15"/>
                    <a:pt x="24" y="14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29" y="24"/>
                    <a:pt x="29" y="24"/>
                    <a:pt x="28" y="25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9" y="29"/>
                    <a:pt x="7" y="34"/>
                    <a:pt x="7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3"/>
                    <a:pt x="5" y="27"/>
                    <a:pt x="7" y="2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0" y="18"/>
                    <a:pt x="12" y="16"/>
                    <a:pt x="14" y="14"/>
                  </a:cubicBezTo>
                  <a:cubicBezTo>
                    <a:pt x="16" y="12"/>
                    <a:pt x="18" y="10"/>
                    <a:pt x="21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7" y="5"/>
                    <a:pt x="33" y="3"/>
                    <a:pt x="39" y="3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lose/>
                  <a:moveTo>
                    <a:pt x="33" y="39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2"/>
                    <a:pt x="34" y="44"/>
                    <a:pt x="35" y="45"/>
                  </a:cubicBezTo>
                  <a:cubicBezTo>
                    <a:pt x="37" y="47"/>
                    <a:pt x="39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2" y="47"/>
                    <a:pt x="44" y="46"/>
                    <a:pt x="45" y="45"/>
                  </a:cubicBezTo>
                  <a:cubicBezTo>
                    <a:pt x="47" y="43"/>
                    <a:pt x="47" y="41"/>
                    <a:pt x="47" y="39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37"/>
                    <a:pt x="46" y="36"/>
                    <a:pt x="45" y="34"/>
                  </a:cubicBezTo>
                  <a:cubicBezTo>
                    <a:pt x="43" y="33"/>
                    <a:pt x="41" y="32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33" y="39"/>
                    <a:pt x="33" y="39"/>
                    <a:pt x="33" y="39"/>
                  </a:cubicBezTo>
                  <a:close/>
                  <a:moveTo>
                    <a:pt x="40" y="37"/>
                  </a:moveTo>
                  <a:cubicBezTo>
                    <a:pt x="39" y="37"/>
                    <a:pt x="38" y="37"/>
                    <a:pt x="38" y="38"/>
                  </a:cubicBezTo>
                  <a:cubicBezTo>
                    <a:pt x="37" y="38"/>
                    <a:pt x="37" y="39"/>
                    <a:pt x="37" y="40"/>
                  </a:cubicBezTo>
                  <a:cubicBezTo>
                    <a:pt x="37" y="41"/>
                    <a:pt x="37" y="42"/>
                    <a:pt x="38" y="42"/>
                  </a:cubicBezTo>
                  <a:cubicBezTo>
                    <a:pt x="39" y="43"/>
                    <a:pt x="39" y="43"/>
                    <a:pt x="40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1" y="43"/>
                    <a:pt x="42" y="42"/>
                    <a:pt x="42" y="42"/>
                  </a:cubicBezTo>
                  <a:cubicBezTo>
                    <a:pt x="43" y="41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39"/>
                    <a:pt x="43" y="38"/>
                    <a:pt x="42" y="37"/>
                  </a:cubicBezTo>
                  <a:cubicBezTo>
                    <a:pt x="41" y="37"/>
                    <a:pt x="41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lose/>
                  <a:moveTo>
                    <a:pt x="41" y="9"/>
                  </a:moveTo>
                  <a:cubicBezTo>
                    <a:pt x="41" y="21"/>
                    <a:pt x="41" y="21"/>
                    <a:pt x="41" y="21"/>
                  </a:cubicBezTo>
                  <a:cubicBezTo>
                    <a:pt x="44" y="21"/>
                    <a:pt x="46" y="21"/>
                    <a:pt x="49" y="23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0" y="11"/>
                    <a:pt x="46" y="9"/>
                    <a:pt x="41" y="9"/>
                  </a:cubicBezTo>
                  <a:close/>
                  <a:moveTo>
                    <a:pt x="23" y="31"/>
                  </a:moveTo>
                  <a:cubicBezTo>
                    <a:pt x="13" y="25"/>
                    <a:pt x="13" y="25"/>
                    <a:pt x="13" y="25"/>
                  </a:cubicBezTo>
                  <a:cubicBezTo>
                    <a:pt x="11" y="29"/>
                    <a:pt x="9" y="34"/>
                    <a:pt x="9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6"/>
                    <a:pt x="22" y="33"/>
                    <a:pt x="23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6643270" y="2437330"/>
            <a:ext cx="1751468" cy="1735373"/>
            <a:chOff x="8828090" y="3721210"/>
            <a:chExt cx="2335290" cy="2313831"/>
          </a:xfrm>
        </p:grpSpPr>
        <p:sp>
          <p:nvSpPr>
            <p:cNvPr id="133" name="矩形 132"/>
            <p:cNvSpPr/>
            <p:nvPr/>
          </p:nvSpPr>
          <p:spPr>
            <a:xfrm>
              <a:off x="8828090" y="3721210"/>
              <a:ext cx="2335290" cy="1363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34" name="矩形 133"/>
            <p:cNvSpPr/>
            <p:nvPr/>
          </p:nvSpPr>
          <p:spPr>
            <a:xfrm>
              <a:off x="8828090" y="5077199"/>
              <a:ext cx="2335290" cy="957842"/>
            </a:xfrm>
            <a:prstGeom prst="rect">
              <a:avLst/>
            </a:prstGeom>
            <a:solidFill>
              <a:srgbClr val="E4E4E4">
                <a:alpha val="4500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5" name="TextBox 14"/>
            <p:cNvSpPr txBox="1"/>
            <p:nvPr/>
          </p:nvSpPr>
          <p:spPr>
            <a:xfrm>
              <a:off x="8874241" y="5486400"/>
              <a:ext cx="2289139" cy="451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id-ID" sz="900" dirty="0">
                  <a:solidFill>
                    <a:prstClr val="black">
                      <a:lumMod val="50000"/>
                      <a:lumOff val="50000"/>
                    </a:prstClr>
                  </a:solidFill>
                  <a:cs typeface="+mn-ea"/>
                  <a:sym typeface="+mn-lt"/>
                  <a:latin typeface="微软雅黑"/>
                </a:rPr>
                <a:t>语言模型输出存在不确定性，不能承担开锁这类安全判定职责。</a:t>
              </a:r>
              <a:endParaRPr lang="en-US" sz="800" b="1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endParaRPr>
            </a:p>
          </p:txBody>
        </p:sp>
        <p:sp>
          <p:nvSpPr>
            <p:cNvPr id="136" name="TextBox 15"/>
            <p:cNvSpPr txBox="1"/>
            <p:nvPr/>
          </p:nvSpPr>
          <p:spPr>
            <a:xfrm>
              <a:off x="8874241" y="5226130"/>
              <a:ext cx="2032894" cy="507889"/>
            </a:xfrm>
            <a:prstGeom prst="rect">
              <a:avLst/>
            </a:prstGeom>
            <a:noFill/>
          </p:spPr>
          <p:txBody>
            <a:bodyPr wrap="none"/>
            <a:lstStyle/>
            <a:p>
              <a:pPr>
                <a:defRPr/>
              </a:pPr>
              <a:r>
                <a:rPr lang="id-ID" sz="1200" b="1" dirty="0">
                  <a:solidFill>
                    <a:srgbClr val="413C42"/>
                  </a:solidFill>
                  <a:cs typeface="+mn-ea"/>
                  <a:sym typeface="+mn-lt"/>
                  <a:latin typeface="微软雅黑"/>
                </a:rPr>
                <a:t>大模型不宜直接控锁</a:t>
              </a:r>
            </a:p>
          </p:txBody>
        </p:sp>
        <p:sp>
          <p:nvSpPr>
            <p:cNvPr id="137" name="Freeform 139"/>
            <p:cNvSpPr>
              <a:spLocks noEditPoints="1"/>
            </p:cNvSpPr>
            <p:nvPr/>
          </p:nvSpPr>
          <p:spPr bwMode="auto">
            <a:xfrm>
              <a:off x="9810274" y="4219279"/>
              <a:ext cx="370923" cy="403829"/>
            </a:xfrm>
            <a:custGeom>
              <a:avLst/>
              <a:gdLst>
                <a:gd name="T0" fmla="*/ 29 w 59"/>
                <a:gd name="T1" fmla="*/ 0 h 64"/>
                <a:gd name="T2" fmla="*/ 59 w 59"/>
                <a:gd name="T3" fmla="*/ 29 h 64"/>
                <a:gd name="T4" fmla="*/ 49 w 59"/>
                <a:gd name="T5" fmla="*/ 51 h 64"/>
                <a:gd name="T6" fmla="*/ 56 w 59"/>
                <a:gd name="T7" fmla="*/ 34 h 64"/>
                <a:gd name="T8" fmla="*/ 29 w 59"/>
                <a:gd name="T9" fmla="*/ 7 h 64"/>
                <a:gd name="T10" fmla="*/ 3 w 59"/>
                <a:gd name="T11" fmla="*/ 34 h 64"/>
                <a:gd name="T12" fmla="*/ 9 w 59"/>
                <a:gd name="T13" fmla="*/ 51 h 64"/>
                <a:gd name="T14" fmla="*/ 0 w 59"/>
                <a:gd name="T15" fmla="*/ 29 h 64"/>
                <a:gd name="T16" fmla="*/ 29 w 59"/>
                <a:gd name="T17" fmla="*/ 0 h 64"/>
                <a:gd name="T18" fmla="*/ 35 w 59"/>
                <a:gd name="T19" fmla="*/ 47 h 64"/>
                <a:gd name="T20" fmla="*/ 41 w 59"/>
                <a:gd name="T21" fmla="*/ 37 h 64"/>
                <a:gd name="T22" fmla="*/ 29 w 59"/>
                <a:gd name="T23" fmla="*/ 25 h 64"/>
                <a:gd name="T24" fmla="*/ 17 w 59"/>
                <a:gd name="T25" fmla="*/ 37 h 64"/>
                <a:gd name="T26" fmla="*/ 23 w 59"/>
                <a:gd name="T27" fmla="*/ 47 h 64"/>
                <a:gd name="T28" fmla="*/ 23 w 59"/>
                <a:gd name="T29" fmla="*/ 64 h 64"/>
                <a:gd name="T30" fmla="*/ 35 w 59"/>
                <a:gd name="T31" fmla="*/ 64 h 64"/>
                <a:gd name="T32" fmla="*/ 35 w 59"/>
                <a:gd name="T33" fmla="*/ 47 h 64"/>
                <a:gd name="T34" fmla="*/ 29 w 59"/>
                <a:gd name="T35" fmla="*/ 14 h 64"/>
                <a:gd name="T36" fmla="*/ 9 w 59"/>
                <a:gd name="T37" fmla="*/ 34 h 64"/>
                <a:gd name="T38" fmla="*/ 18 w 59"/>
                <a:gd name="T39" fmla="*/ 51 h 64"/>
                <a:gd name="T40" fmla="*/ 11 w 59"/>
                <a:gd name="T41" fmla="*/ 37 h 64"/>
                <a:gd name="T42" fmla="*/ 29 w 59"/>
                <a:gd name="T43" fmla="*/ 20 h 64"/>
                <a:gd name="T44" fmla="*/ 47 w 59"/>
                <a:gd name="T45" fmla="*/ 37 h 64"/>
                <a:gd name="T46" fmla="*/ 41 w 59"/>
                <a:gd name="T47" fmla="*/ 51 h 64"/>
                <a:gd name="T48" fmla="*/ 50 w 59"/>
                <a:gd name="T49" fmla="*/ 34 h 64"/>
                <a:gd name="T50" fmla="*/ 29 w 59"/>
                <a:gd name="T51" fmla="*/ 1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64">
                  <a:moveTo>
                    <a:pt x="29" y="0"/>
                  </a:moveTo>
                  <a:cubicBezTo>
                    <a:pt x="46" y="0"/>
                    <a:pt x="59" y="13"/>
                    <a:pt x="59" y="29"/>
                  </a:cubicBezTo>
                  <a:cubicBezTo>
                    <a:pt x="59" y="38"/>
                    <a:pt x="55" y="46"/>
                    <a:pt x="49" y="51"/>
                  </a:cubicBezTo>
                  <a:cubicBezTo>
                    <a:pt x="53" y="46"/>
                    <a:pt x="56" y="40"/>
                    <a:pt x="56" y="34"/>
                  </a:cubicBezTo>
                  <a:cubicBezTo>
                    <a:pt x="56" y="19"/>
                    <a:pt x="44" y="7"/>
                    <a:pt x="29" y="7"/>
                  </a:cubicBezTo>
                  <a:cubicBezTo>
                    <a:pt x="15" y="7"/>
                    <a:pt x="3" y="19"/>
                    <a:pt x="3" y="34"/>
                  </a:cubicBezTo>
                  <a:cubicBezTo>
                    <a:pt x="3" y="40"/>
                    <a:pt x="5" y="46"/>
                    <a:pt x="9" y="51"/>
                  </a:cubicBezTo>
                  <a:cubicBezTo>
                    <a:pt x="3" y="46"/>
                    <a:pt x="0" y="38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lose/>
                  <a:moveTo>
                    <a:pt x="35" y="47"/>
                  </a:moveTo>
                  <a:cubicBezTo>
                    <a:pt x="39" y="45"/>
                    <a:pt x="41" y="41"/>
                    <a:pt x="41" y="37"/>
                  </a:cubicBezTo>
                  <a:cubicBezTo>
                    <a:pt x="41" y="31"/>
                    <a:pt x="36" y="25"/>
                    <a:pt x="29" y="25"/>
                  </a:cubicBezTo>
                  <a:cubicBezTo>
                    <a:pt x="23" y="25"/>
                    <a:pt x="17" y="31"/>
                    <a:pt x="17" y="37"/>
                  </a:cubicBezTo>
                  <a:cubicBezTo>
                    <a:pt x="17" y="41"/>
                    <a:pt x="20" y="45"/>
                    <a:pt x="23" y="47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47"/>
                    <a:pt x="35" y="47"/>
                    <a:pt x="35" y="47"/>
                  </a:cubicBezTo>
                  <a:close/>
                  <a:moveTo>
                    <a:pt x="29" y="14"/>
                  </a:moveTo>
                  <a:cubicBezTo>
                    <a:pt x="18" y="14"/>
                    <a:pt x="9" y="23"/>
                    <a:pt x="9" y="34"/>
                  </a:cubicBezTo>
                  <a:cubicBezTo>
                    <a:pt x="9" y="41"/>
                    <a:pt x="12" y="47"/>
                    <a:pt x="18" y="51"/>
                  </a:cubicBezTo>
                  <a:cubicBezTo>
                    <a:pt x="14" y="48"/>
                    <a:pt x="11" y="43"/>
                    <a:pt x="11" y="37"/>
                  </a:cubicBezTo>
                  <a:cubicBezTo>
                    <a:pt x="11" y="27"/>
                    <a:pt x="19" y="20"/>
                    <a:pt x="29" y="20"/>
                  </a:cubicBezTo>
                  <a:cubicBezTo>
                    <a:pt x="39" y="20"/>
                    <a:pt x="47" y="27"/>
                    <a:pt x="47" y="37"/>
                  </a:cubicBezTo>
                  <a:cubicBezTo>
                    <a:pt x="47" y="43"/>
                    <a:pt x="45" y="48"/>
                    <a:pt x="41" y="51"/>
                  </a:cubicBezTo>
                  <a:cubicBezTo>
                    <a:pt x="46" y="47"/>
                    <a:pt x="50" y="41"/>
                    <a:pt x="50" y="34"/>
                  </a:cubicBezTo>
                  <a:cubicBezTo>
                    <a:pt x="50" y="23"/>
                    <a:pt x="40" y="14"/>
                    <a:pt x="29" y="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3" name="组合 2"/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项目背景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BACKGROUND</a:t>
                </a:r>
              </a:p>
            </p:txBody>
          </p:sp>
        </p:grpSp>
        <p:cxnSp>
          <p:nvCxnSpPr>
            <p:cNvPr id="18" name="直接连接符 17"/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1990725" y="1292066"/>
            <a:ext cx="5596414" cy="37242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ES" altLang="zh-CN" sz="1200" b="1" kern="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  <a:latin typeface="微软雅黑"/>
              </a:rPr>
              <a:t>对话能力增强体验，硬件认证保持安全权威。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9498" y="2212393"/>
            <a:ext cx="1901678" cy="2143139"/>
            <a:chOff x="1183290" y="2842447"/>
            <a:chExt cx="2535570" cy="2857519"/>
          </a:xfrm>
        </p:grpSpPr>
        <p:grpSp>
          <p:nvGrpSpPr>
            <p:cNvPr id="12" name="组合 11"/>
            <p:cNvGrpSpPr/>
            <p:nvPr/>
          </p:nvGrpSpPr>
          <p:grpSpPr>
            <a:xfrm>
              <a:off x="1183290" y="2842447"/>
              <a:ext cx="2535570" cy="2857519"/>
              <a:chOff x="1183290" y="2842447"/>
              <a:chExt cx="2535570" cy="2857519"/>
            </a:xfrm>
          </p:grpSpPr>
          <p:sp>
            <p:nvSpPr>
              <p:cNvPr id="81" name="矩形 80"/>
              <p:cNvSpPr/>
              <p:nvPr/>
            </p:nvSpPr>
            <p:spPr>
              <a:xfrm>
                <a:off x="1183290" y="2842447"/>
                <a:ext cx="2535570" cy="2857519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1296665" y="2954952"/>
                <a:ext cx="2308821" cy="2632508"/>
              </a:xfrm>
              <a:prstGeom prst="rect">
                <a:avLst/>
              </a:prstGeom>
              <a:noFill/>
              <a:ln w="3175"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1824621" y="3347028"/>
              <a:ext cx="1252908" cy="1848357"/>
              <a:chOff x="1810756" y="3591092"/>
              <a:chExt cx="1252908" cy="1848357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1903732" y="4776086"/>
                <a:ext cx="1066959" cy="663363"/>
                <a:chOff x="1916432" y="4268086"/>
                <a:chExt cx="1066959" cy="663363"/>
              </a:xfrm>
            </p:grpSpPr>
            <p:grpSp>
              <p:nvGrpSpPr>
                <p:cNvPr id="33" name="组合 32"/>
                <p:cNvGrpSpPr/>
                <p:nvPr/>
              </p:nvGrpSpPr>
              <p:grpSpPr>
                <a:xfrm>
                  <a:off x="1916432" y="4268086"/>
                  <a:ext cx="1066959" cy="513473"/>
                  <a:chOff x="1302075" y="-259563"/>
                  <a:chExt cx="1066959" cy="513473"/>
                </a:xfrm>
              </p:grpSpPr>
              <p:sp>
                <p:nvSpPr>
                  <p:cNvPr id="48" name="矩形 47"/>
                  <p:cNvSpPr/>
                  <p:nvPr/>
                </p:nvSpPr>
                <p:spPr>
                  <a:xfrm>
                    <a:off x="1302075" y="-259563"/>
                    <a:ext cx="2286000" cy="45720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zh-CN" altLang="en-US" sz="1100" dirty="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边缘端融合认证</a:t>
                    </a:r>
                    <a:endPara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" name="矩形 48"/>
                  <p:cNvSpPr/>
                  <p:nvPr/>
                </p:nvSpPr>
                <p:spPr>
                  <a:xfrm>
                    <a:off x="1352303" y="28207"/>
                    <a:ext cx="2286000" cy="105156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zh-CN" altLang="en-US" sz="8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红外、人脸、活体、声纹四路在 Jetson 本地完成</a:t>
                    </a:r>
                  </a:p>
                </p:txBody>
              </p:sp>
            </p:grpSp>
            <p:cxnSp>
              <p:nvCxnSpPr>
                <p:cNvPr id="47" name="直接连接符 46"/>
                <p:cNvCxnSpPr/>
                <p:nvPr/>
              </p:nvCxnSpPr>
              <p:spPr>
                <a:xfrm>
                  <a:off x="2325220" y="4931449"/>
                  <a:ext cx="249382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" name="文本框 2"/>
              <p:cNvSpPr txBox="1"/>
              <p:nvPr/>
            </p:nvSpPr>
            <p:spPr>
              <a:xfrm>
                <a:off x="1810756" y="3591092"/>
                <a:ext cx="1252908" cy="9643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 b="1">
                    <a:solidFill>
                      <a:schemeClr val="tx2"/>
                    </a:solidFill>
                    <a:cs typeface="+mn-ea"/>
                    <a:sym typeface="+mn-lt"/>
                    <a:latin typeface="微软雅黑"/>
                  </a:rPr>
                  <a:t>01</a:t>
                </a:r>
                <a:endParaRPr lang="zh-CN" altLang="en-US" sz="410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2575987" y="2212393"/>
            <a:ext cx="1901678" cy="2143139"/>
            <a:chOff x="3909040" y="2842447"/>
            <a:chExt cx="2535570" cy="2857519"/>
          </a:xfrm>
        </p:grpSpPr>
        <p:grpSp>
          <p:nvGrpSpPr>
            <p:cNvPr id="83" name="组合 82"/>
            <p:cNvGrpSpPr/>
            <p:nvPr/>
          </p:nvGrpSpPr>
          <p:grpSpPr>
            <a:xfrm>
              <a:off x="3909040" y="2842447"/>
              <a:ext cx="2535570" cy="2857519"/>
              <a:chOff x="1183290" y="2842447"/>
              <a:chExt cx="2535570" cy="2857519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1183290" y="2842447"/>
                <a:ext cx="2535570" cy="285751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1296665" y="2954952"/>
                <a:ext cx="2308821" cy="2632508"/>
              </a:xfrm>
              <a:prstGeom prst="rect">
                <a:avLst/>
              </a:prstGeom>
              <a:noFill/>
              <a:ln w="3175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4643347" y="3273592"/>
              <a:ext cx="1066959" cy="1848357"/>
              <a:chOff x="1903732" y="3591092"/>
              <a:chExt cx="1066959" cy="1848357"/>
            </a:xfrm>
          </p:grpSpPr>
          <p:grpSp>
            <p:nvGrpSpPr>
              <p:cNvPr id="61" name="组合 60"/>
              <p:cNvGrpSpPr/>
              <p:nvPr/>
            </p:nvGrpSpPr>
            <p:grpSpPr>
              <a:xfrm>
                <a:off x="1903732" y="4776086"/>
                <a:ext cx="1066959" cy="663363"/>
                <a:chOff x="1916432" y="4268086"/>
                <a:chExt cx="1066959" cy="663363"/>
              </a:xfrm>
            </p:grpSpPr>
            <p:grpSp>
              <p:nvGrpSpPr>
                <p:cNvPr id="63" name="组合 62"/>
                <p:cNvGrpSpPr/>
                <p:nvPr/>
              </p:nvGrpSpPr>
              <p:grpSpPr>
                <a:xfrm>
                  <a:off x="1916432" y="4268086"/>
                  <a:ext cx="1066959" cy="513473"/>
                  <a:chOff x="1302075" y="-259563"/>
                  <a:chExt cx="1066959" cy="513473"/>
                </a:xfrm>
              </p:grpSpPr>
              <p:sp>
                <p:nvSpPr>
                  <p:cNvPr id="65" name="矩形 64"/>
                  <p:cNvSpPr/>
                  <p:nvPr/>
                </p:nvSpPr>
                <p:spPr>
                  <a:xfrm>
                    <a:off x="1302075" y="-259563"/>
                    <a:ext cx="2286000" cy="457200"/>
                  </a:xfrm>
                  <a:prstGeom prst="rect">
                    <a:avLst/>
                  </a:prstGeom>
                  <a:ln>
                    <a:solidFill>
                      <a:schemeClr val="bg1"/>
                    </a:solidFill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zh-CN" altLang="en-US" sz="1100" dirty="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自然语音开门</a:t>
                    </a:r>
                    <a:endPara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矩形 65"/>
                  <p:cNvSpPr/>
                  <p:nvPr/>
                </p:nvSpPr>
                <p:spPr>
                  <a:xfrm>
                    <a:off x="1352303" y="28207"/>
                    <a:ext cx="2286000" cy="1051560"/>
                  </a:xfrm>
                  <a:prstGeom prst="rect">
                    <a:avLst/>
                  </a:prstGeom>
                  <a:ln>
                    <a:solidFill>
                      <a:schemeClr val="bg1"/>
                    </a:solidFill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zh-CN" altLang="en-US" sz="8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认证通过后自然语言表达意图，无需固定口令</a:t>
                    </a:r>
                  </a:p>
                </p:txBody>
              </p:sp>
            </p:grpSp>
            <p:cxnSp>
              <p:nvCxnSpPr>
                <p:cNvPr id="64" name="直接连接符 63"/>
                <p:cNvCxnSpPr/>
                <p:nvPr/>
              </p:nvCxnSpPr>
              <p:spPr>
                <a:xfrm>
                  <a:off x="2325220" y="4931449"/>
                  <a:ext cx="249382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2" name="文本框 61"/>
              <p:cNvSpPr txBox="1"/>
              <p:nvPr/>
            </p:nvSpPr>
            <p:spPr>
              <a:xfrm>
                <a:off x="2035175" y="3591092"/>
                <a:ext cx="804067" cy="96436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 b="1">
                    <a:solidFill>
                      <a:schemeClr val="tx2"/>
                    </a:solidFill>
                    <a:cs typeface="+mn-ea"/>
                    <a:sym typeface="+mn-lt"/>
                    <a:latin typeface="微软雅黑"/>
                  </a:rPr>
                  <a:t>02</a:t>
                </a:r>
                <a:endParaRPr lang="zh-CN" altLang="en-US" sz="410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4712475" y="2212393"/>
            <a:ext cx="1901678" cy="2143139"/>
            <a:chOff x="6434325" y="2842447"/>
            <a:chExt cx="2535570" cy="2857519"/>
          </a:xfrm>
        </p:grpSpPr>
        <p:grpSp>
          <p:nvGrpSpPr>
            <p:cNvPr id="86" name="组合 85"/>
            <p:cNvGrpSpPr/>
            <p:nvPr/>
          </p:nvGrpSpPr>
          <p:grpSpPr>
            <a:xfrm>
              <a:off x="6434325" y="2842447"/>
              <a:ext cx="2535570" cy="2857519"/>
              <a:chOff x="1183290" y="2842447"/>
              <a:chExt cx="2535570" cy="2857519"/>
            </a:xfrm>
          </p:grpSpPr>
          <p:sp>
            <p:nvSpPr>
              <p:cNvPr id="87" name="矩形 86"/>
              <p:cNvSpPr/>
              <p:nvPr/>
            </p:nvSpPr>
            <p:spPr>
              <a:xfrm>
                <a:off x="1183290" y="2842447"/>
                <a:ext cx="2535570" cy="2857519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1296665" y="2954952"/>
                <a:ext cx="2308821" cy="2632508"/>
              </a:xfrm>
              <a:prstGeom prst="rect">
                <a:avLst/>
              </a:prstGeom>
              <a:noFill/>
              <a:ln w="3175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7168632" y="3273592"/>
              <a:ext cx="1066959" cy="1848357"/>
              <a:chOff x="1903732" y="3591092"/>
              <a:chExt cx="1066959" cy="1848357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1903732" y="4776086"/>
                <a:ext cx="1066959" cy="663363"/>
                <a:chOff x="1916432" y="4268086"/>
                <a:chExt cx="1066959" cy="663363"/>
              </a:xfrm>
            </p:grpSpPr>
            <p:grpSp>
              <p:nvGrpSpPr>
                <p:cNvPr id="70" name="组合 69"/>
                <p:cNvGrpSpPr/>
                <p:nvPr/>
              </p:nvGrpSpPr>
              <p:grpSpPr>
                <a:xfrm>
                  <a:off x="1916432" y="4268086"/>
                  <a:ext cx="1066959" cy="513473"/>
                  <a:chOff x="1302075" y="-259563"/>
                  <a:chExt cx="1066959" cy="513473"/>
                </a:xfrm>
              </p:grpSpPr>
              <p:sp>
                <p:nvSpPr>
                  <p:cNvPr id="72" name="矩形 71"/>
                  <p:cNvSpPr/>
                  <p:nvPr/>
                </p:nvSpPr>
                <p:spPr>
                  <a:xfrm>
                    <a:off x="1302075" y="-259563"/>
                    <a:ext cx="2286000" cy="45720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zh-CN" altLang="en-US" sz="1100" dirty="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受控工具调用</a:t>
                    </a:r>
                    <a:endPara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矩形 72"/>
                  <p:cNvSpPr/>
                  <p:nvPr/>
                </p:nvSpPr>
                <p:spPr>
                  <a:xfrm>
                    <a:off x="1352303" y="28207"/>
                    <a:ext cx="2286000" cy="105156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zh-CN" altLang="en-US" sz="8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白名单工具与令牌鉴权，动作由本地闸门决定</a:t>
                    </a:r>
                  </a:p>
                </p:txBody>
              </p:sp>
            </p:grpSp>
            <p:cxnSp>
              <p:nvCxnSpPr>
                <p:cNvPr id="71" name="直接连接符 70"/>
                <p:cNvCxnSpPr/>
                <p:nvPr/>
              </p:nvCxnSpPr>
              <p:spPr>
                <a:xfrm>
                  <a:off x="2325220" y="4931449"/>
                  <a:ext cx="249382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文本框 68"/>
              <p:cNvSpPr txBox="1"/>
              <p:nvPr/>
            </p:nvSpPr>
            <p:spPr>
              <a:xfrm>
                <a:off x="2027695" y="3591092"/>
                <a:ext cx="819028" cy="9643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 b="1">
                    <a:solidFill>
                      <a:schemeClr val="tx2"/>
                    </a:solidFill>
                    <a:cs typeface="+mn-ea"/>
                    <a:sym typeface="+mn-lt"/>
                    <a:latin typeface="微软雅黑"/>
                  </a:rPr>
                  <a:t>03</a:t>
                </a:r>
                <a:endParaRPr lang="zh-CN" altLang="en-US" sz="410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6848962" y="2212393"/>
            <a:ext cx="1901678" cy="2143139"/>
            <a:chOff x="9004950" y="2842447"/>
            <a:chExt cx="2535570" cy="2857519"/>
          </a:xfrm>
        </p:grpSpPr>
        <p:grpSp>
          <p:nvGrpSpPr>
            <p:cNvPr id="89" name="组合 88"/>
            <p:cNvGrpSpPr/>
            <p:nvPr/>
          </p:nvGrpSpPr>
          <p:grpSpPr>
            <a:xfrm>
              <a:off x="9004950" y="2842447"/>
              <a:ext cx="2535570" cy="2857519"/>
              <a:chOff x="1183290" y="2842447"/>
              <a:chExt cx="2535570" cy="2857519"/>
            </a:xfrm>
          </p:grpSpPr>
          <p:sp>
            <p:nvSpPr>
              <p:cNvPr id="90" name="矩形 89"/>
              <p:cNvSpPr/>
              <p:nvPr/>
            </p:nvSpPr>
            <p:spPr>
              <a:xfrm>
                <a:off x="1183290" y="2842447"/>
                <a:ext cx="2535570" cy="2857519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1296665" y="2954952"/>
                <a:ext cx="2308821" cy="2632508"/>
              </a:xfrm>
              <a:prstGeom prst="rect">
                <a:avLst/>
              </a:prstGeom>
              <a:noFill/>
              <a:ln w="3175"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9709333" y="3273592"/>
              <a:ext cx="1126804" cy="1848357"/>
              <a:chOff x="1873808" y="3591092"/>
              <a:chExt cx="1126804" cy="1848357"/>
            </a:xfrm>
          </p:grpSpPr>
          <p:grpSp>
            <p:nvGrpSpPr>
              <p:cNvPr id="75" name="组合 74"/>
              <p:cNvGrpSpPr/>
              <p:nvPr/>
            </p:nvGrpSpPr>
            <p:grpSpPr>
              <a:xfrm>
                <a:off x="1903732" y="4776086"/>
                <a:ext cx="1066959" cy="663363"/>
                <a:chOff x="1916432" y="4268086"/>
                <a:chExt cx="1066959" cy="663363"/>
              </a:xfrm>
            </p:grpSpPr>
            <p:grpSp>
              <p:nvGrpSpPr>
                <p:cNvPr id="77" name="组合 76"/>
                <p:cNvGrpSpPr/>
                <p:nvPr/>
              </p:nvGrpSpPr>
              <p:grpSpPr>
                <a:xfrm>
                  <a:off x="1916432" y="4268086"/>
                  <a:ext cx="1066959" cy="513473"/>
                  <a:chOff x="1302075" y="-259563"/>
                  <a:chExt cx="1066959" cy="513473"/>
                </a:xfrm>
              </p:grpSpPr>
              <p:sp>
                <p:nvSpPr>
                  <p:cNvPr id="79" name="矩形 78"/>
                  <p:cNvSpPr/>
                  <p:nvPr/>
                </p:nvSpPr>
                <p:spPr>
                  <a:xfrm>
                    <a:off x="1302075" y="-259563"/>
                    <a:ext cx="2286000" cy="45720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zh-CN" altLang="en-US" sz="1100" dirty="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异常自动落盘</a:t>
                    </a:r>
                    <a:endPara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矩形 79"/>
                  <p:cNvSpPr/>
                  <p:nvPr/>
                </p:nvSpPr>
                <p:spPr>
                  <a:xfrm>
                    <a:off x="1352303" y="28207"/>
                    <a:ext cx="2286000" cy="105156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zh-CN" altLang="en-US" sz="8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认证失败写入事件文件，为通知与追溯提供入口</a:t>
                    </a:r>
                  </a:p>
                </p:txBody>
              </p:sp>
            </p:grpSp>
            <p:cxnSp>
              <p:nvCxnSpPr>
                <p:cNvPr id="78" name="直接连接符 77"/>
                <p:cNvCxnSpPr/>
                <p:nvPr/>
              </p:nvCxnSpPr>
              <p:spPr>
                <a:xfrm>
                  <a:off x="2325220" y="4931449"/>
                  <a:ext cx="249382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6" name="文本框 75"/>
              <p:cNvSpPr txBox="1"/>
              <p:nvPr/>
            </p:nvSpPr>
            <p:spPr>
              <a:xfrm>
                <a:off x="1873808" y="3591092"/>
                <a:ext cx="1126804" cy="9643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 b="1">
                    <a:solidFill>
                      <a:schemeClr val="tx2"/>
                    </a:solidFill>
                    <a:cs typeface="+mn-ea"/>
                    <a:sym typeface="+mn-lt"/>
                    <a:latin typeface="微软雅黑"/>
                  </a:rPr>
                  <a:t>04</a:t>
                </a:r>
                <a:endParaRPr lang="zh-CN" altLang="en-US" sz="410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0DBD9623-4C6E-4668-BDD1-5AFA6A756D3C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5CB548B8-D14A-4AD3-9114-22D3EB6807C2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0C8D1851-A493-45FE-B58C-A9E5789719B6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四个目标，四条边界</a:t>
                </a:r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7D034C46-9910-4529-9DF0-94D41F8D3DDA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OBJECTIVES</a:t>
                </a:r>
              </a:p>
            </p:txBody>
          </p:sp>
        </p:grp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78B8792E-0D48-4BA8-A950-3D6B11797A7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742950" y="805815"/>
            <a:ext cx="3531870" cy="353187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79144" y="1576808"/>
            <a:ext cx="3939064" cy="8079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200000"/>
              </a:lnSpc>
            </a:pPr>
            <a:r>
              <a:rPr lang="zh-CN" altLang="en-US" sz="900" dirty="0">
                <a:solidFill>
                  <a:srgbClr val="0A1428"/>
                </a:solidFill>
                <a:cs typeface="+mn-ea"/>
                <a:sym typeface="+mn-lt"/>
                <a:latin typeface="微软雅黑"/>
              </a:rPr>
              <a:t>硬件采集、多模态识别与融合判定；本地 ASR/TTS 与 Pipecat 流水线；一次性凭证、工具网关、异常服务与最终执行器。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579144" y="1213430"/>
            <a:ext cx="2757964" cy="2908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300" b="1" dirty="0">
                <a:solidFill>
                  <a:srgbClr val="0A1428"/>
                </a:solidFill>
                <a:cs typeface="+mn-ea"/>
                <a:sym typeface="+mn-lt"/>
                <a:latin typeface="微软雅黑"/>
              </a:rPr>
              <a:t>Jetson 边缘端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9144" y="3115151"/>
            <a:ext cx="3939064" cy="8079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200000"/>
              </a:lnSpc>
            </a:pPr>
            <a:r>
              <a:rPr lang="zh-CN" altLang="en-US" sz="900">
                <a:solidFill>
                  <a:srgbClr val="0A1428"/>
                </a:solidFill>
                <a:cs typeface="+mn-ea"/>
                <a:sym typeface="+mn-lt"/>
                <a:latin typeface="微软雅黑"/>
              </a:rPr>
              <a:t>FastGPT 工作流、DeepSeek 调用、SSH 隧道与部署管理。DeepSeek 不接触摄像头特征、声纹 embedding 或真实执行器。</a:t>
            </a:r>
            <a:endParaRPr lang="zh-CN" altLang="en-US" sz="800" dirty="0">
              <a:solidFill>
                <a:srgbClr val="0A1428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9144" y="2751773"/>
            <a:ext cx="2757964" cy="2908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300" b="1" dirty="0">
                <a:solidFill>
                  <a:srgbClr val="0A1428"/>
                </a:solidFill>
                <a:cs typeface="+mn-ea"/>
                <a:sym typeface="+mn-lt"/>
                <a:latin typeface="微软雅黑"/>
              </a:rPr>
              <a:t>Windows / WSL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AF64CD7-D890-4631-A305-598B85956535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F52E97E-E474-4CC7-B64A-370347CAC0A1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49D794F-F135-4630-81E7-9A0CACA4C442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总体部署架构</a:t>
                </a: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CBCE04E-EE70-4F75-A59D-270B05556AF6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ARCHITECTURE</a:t>
                </a:r>
              </a:p>
            </p:txBody>
          </p: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3584DA7-4CC0-4F5A-9338-93FF3914FAC6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728478"/>
            <a:ext cx="3529584" cy="16819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4" grpId="0"/>
      <p:bldP spid="24" grpId="1"/>
      <p:bldP spid="25" grpId="0"/>
      <p:bldP spid="4" grpId="0"/>
      <p:bldP spid="4" grpId="1"/>
      <p:bldP spid="5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Oval 45"/>
          <p:cNvSpPr>
            <a:spLocks noChangeAspect="1"/>
          </p:cNvSpPr>
          <p:nvPr/>
        </p:nvSpPr>
        <p:spPr bwMode="auto">
          <a:xfrm>
            <a:off x="4984571" y="1518357"/>
            <a:ext cx="135000" cy="135000"/>
          </a:xfrm>
          <a:prstGeom prst="ellipse">
            <a:avLst/>
          </a:prstGeom>
          <a:noFill/>
          <a:ln w="25400" cap="flat">
            <a:solidFill>
              <a:schemeClr val="accent1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Oval 45"/>
          <p:cNvSpPr>
            <a:spLocks noChangeAspect="1"/>
          </p:cNvSpPr>
          <p:nvPr/>
        </p:nvSpPr>
        <p:spPr bwMode="auto">
          <a:xfrm>
            <a:off x="4984571" y="1991333"/>
            <a:ext cx="135000" cy="135000"/>
          </a:xfrm>
          <a:prstGeom prst="ellipse">
            <a:avLst/>
          </a:prstGeom>
          <a:noFill/>
          <a:ln w="25400" cap="flat">
            <a:solidFill>
              <a:schemeClr val="accent2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Oval 45"/>
          <p:cNvSpPr>
            <a:spLocks noChangeAspect="1"/>
          </p:cNvSpPr>
          <p:nvPr/>
        </p:nvSpPr>
        <p:spPr bwMode="auto">
          <a:xfrm>
            <a:off x="4984571" y="2449814"/>
            <a:ext cx="135000" cy="135000"/>
          </a:xfrm>
          <a:prstGeom prst="ellipse">
            <a:avLst/>
          </a:prstGeom>
          <a:noFill/>
          <a:ln w="25400" cap="flat">
            <a:solidFill>
              <a:schemeClr val="accent3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Oval 45"/>
          <p:cNvSpPr>
            <a:spLocks noChangeAspect="1"/>
          </p:cNvSpPr>
          <p:nvPr/>
        </p:nvSpPr>
        <p:spPr bwMode="auto">
          <a:xfrm>
            <a:off x="4989064" y="2905674"/>
            <a:ext cx="135000" cy="135000"/>
          </a:xfrm>
          <a:prstGeom prst="ellipse">
            <a:avLst/>
          </a:prstGeom>
          <a:noFill/>
          <a:ln w="25400" cap="flat">
            <a:solidFill>
              <a:schemeClr val="accent4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Oval 45"/>
          <p:cNvSpPr>
            <a:spLocks noChangeAspect="1"/>
          </p:cNvSpPr>
          <p:nvPr/>
        </p:nvSpPr>
        <p:spPr bwMode="auto">
          <a:xfrm>
            <a:off x="4989064" y="3378650"/>
            <a:ext cx="135000" cy="135000"/>
          </a:xfrm>
          <a:prstGeom prst="ellipse">
            <a:avLst/>
          </a:prstGeom>
          <a:noFill/>
          <a:ln w="25400" cap="flat">
            <a:solidFill>
              <a:schemeClr val="accent5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152227" y="1431342"/>
            <a:ext cx="2944693" cy="484729"/>
            <a:chOff x="5207179" y="1643291"/>
            <a:chExt cx="3037229" cy="646305"/>
          </a:xfrm>
        </p:grpSpPr>
        <p:sp>
          <p:nvSpPr>
            <p:cNvPr id="12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人体靠近，唤醒摄像头</a:t>
              </a:r>
            </a:p>
          </p:txBody>
        </p:sp>
        <p:sp>
          <p:nvSpPr>
            <p:cNvPr id="13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红外触发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152227" y="1899541"/>
            <a:ext cx="2944693" cy="484729"/>
            <a:chOff x="5207179" y="1643291"/>
            <a:chExt cx="3037229" cy="646305"/>
          </a:xfrm>
        </p:grpSpPr>
        <p:sp>
          <p:nvSpPr>
            <p:cNvPr id="15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InsightFace / ArcFace 身份判定</a:t>
              </a:r>
            </a:p>
          </p:txBody>
        </p:sp>
        <p:sp>
          <p:nvSpPr>
            <p:cNvPr id="16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人脸识别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161897" y="2359315"/>
            <a:ext cx="2944693" cy="484729"/>
            <a:chOff x="5207179" y="1643291"/>
            <a:chExt cx="3037229" cy="646305"/>
          </a:xfrm>
        </p:grpSpPr>
        <p:sp>
          <p:nvSpPr>
            <p:cNvPr id="18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眨眼一次 + 左右转头</a:t>
              </a:r>
            </a:p>
          </p:txBody>
        </p:sp>
        <p:sp>
          <p:nvSpPr>
            <p:cNvPr id="19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活体检测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166732" y="2829974"/>
            <a:ext cx="2944693" cy="484729"/>
            <a:chOff x="5207179" y="1643291"/>
            <a:chExt cx="3037229" cy="646305"/>
          </a:xfrm>
        </p:grpSpPr>
        <p:sp>
          <p:nvSpPr>
            <p:cNvPr id="21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自然说话，无需固定口令</a:t>
              </a:r>
            </a:p>
          </p:txBody>
        </p:sp>
        <p:sp>
          <p:nvSpPr>
            <p:cNvPr id="22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声纹识别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177618" y="3298769"/>
            <a:ext cx="2944693" cy="484729"/>
            <a:chOff x="5207179" y="1643291"/>
            <a:chExt cx="3037229" cy="646305"/>
          </a:xfrm>
        </p:grpSpPr>
        <p:sp>
          <p:nvSpPr>
            <p:cNvPr id="24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加权总分 ≥ 0.78 视为通过</a:t>
              </a:r>
            </a:p>
          </p:txBody>
        </p:sp>
        <p:sp>
          <p:nvSpPr>
            <p:cNvPr id="25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融合判定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84ADCE-B762-43DB-9703-3591651AB94B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6651C9F-4A25-4101-8CF6-442478A46D06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7F8E3ED-96E1-441F-B43C-E762F2A6CD3F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硬件多模态认证</a:t>
                </a: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21DCC738-C364-4FB4-AE04-D66E47D40B53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MULTIMODAL AUTH</a:t>
                </a:r>
              </a:p>
            </p:txBody>
          </p:sp>
        </p:grp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AE57239-83B2-4AF7-987C-522AF108BD32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/>
          <p:cNvSpPr txBox="1"/>
          <p:nvPr/>
        </p:nvSpPr>
        <p:spPr>
          <a:xfrm>
            <a:off x="749808" y="1417320"/>
            <a:ext cx="3895344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微软雅黑"/>
              </a:rPr>
              <a:t>认证链路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" y="1828800"/>
            <a:ext cx="3895344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红外触发 → InsightFace 人脸识别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→ MediaPipe 眨眼 / 转头活体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→ SpeechBrain ECAPA 声纹（文本无关）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→ 人脸 / 声纹身份一致性校验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→ 本地加权融合判定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融合阈值 0.78，默认 require_all=false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声纹阈值 0.70，最短有效语音 2 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018949" y="3169444"/>
            <a:ext cx="5356384" cy="12511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240000"/>
              </a:lnSpc>
              <a:spcAft>
                <a:spcPts val="900"/>
              </a:spcAft>
            </a:pPr>
            <a:r>
              <a:rPr lang="zh-CN" altLang="en-US" sz="95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  <a:latin typeface="微软雅黑"/>
              </a:rPr>
              <a:t>融合通过后不立即开锁，Jetson 写入一次性凭证：含签发时间、fusion_passed 与 consumed，有效期 300 秒，只能消费一次。用户说「开门」后，Agent 必须先调用 current_auth_context，仅当凭证可用、新鲜、已授权且未消费时才调用 request_unlock；本地网关再次校验后执行。lock.flow=immediate 可恢复原直开流程。</a:t>
            </a:r>
          </a:p>
        </p:txBody>
      </p:sp>
      <p:sp>
        <p:nvSpPr>
          <p:cNvPr id="3" name="矩形 2"/>
          <p:cNvSpPr/>
          <p:nvPr/>
        </p:nvSpPr>
        <p:spPr>
          <a:xfrm>
            <a:off x="639465" y="3169571"/>
            <a:ext cx="1882140" cy="99155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1100" dirty="0" b="1">
                <a:solidFill>
                  <a:schemeClr val="tx2"/>
                </a:solidFill>
                <a:cs typeface="+mn-ea"/>
                <a:sym typeface="+mn-lt"/>
                <a:latin typeface="微软雅黑"/>
              </a:rPr>
              <a:t>阶段一 · 硬件认证</a:t>
            </a:r>
            <a:endParaRPr lang="en-US" altLang="zh-CN" sz="3300" dirty="0">
              <a:solidFill>
                <a:schemeClr val="tx2"/>
              </a:solidFill>
              <a:cs typeface="+mn-ea"/>
              <a:sym typeface="+mn-lt"/>
            </a:endParaRPr>
          </a:p>
          <a:p>
            <a:r>
              <a:rPr lang="zh-CN" altLang="en-US" sz="1100" dirty="0" b="1">
                <a:solidFill>
                  <a:schemeClr val="tx2"/>
                </a:solidFill>
                <a:cs typeface="+mn-ea"/>
                <a:sym typeface="+mn-lt"/>
                <a:latin typeface="微软雅黑"/>
              </a:rPr>
              <a:t>PHASE 1 · HARDWARE</a:t>
            </a:r>
            <a:endParaRPr lang="en-US" altLang="zh-CN" sz="3300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pic>
        <p:nvPicPr>
          <p:cNvPr id="2" name="图片 1" descr="0b7a4aa3ac78177b96979b36adeac15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t="14840"/>
          <a:stretch>
            <a:fillRect/>
          </a:stretch>
        </p:blipFill>
        <p:spPr>
          <a:xfrm>
            <a:off x="14287" y="156219"/>
            <a:ext cx="9129713" cy="206690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2487168"/>
            <a:ext cx="548640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 b="1">
                <a:solidFill>
                  <a:srgbClr val="333333"/>
                </a:solidFill>
                <a:latin typeface="微软雅黑"/>
              </a:rPr>
              <a:t>两阶段受控开门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Oval 45"/>
          <p:cNvSpPr>
            <a:spLocks noChangeAspect="1"/>
          </p:cNvSpPr>
          <p:nvPr/>
        </p:nvSpPr>
        <p:spPr bwMode="auto">
          <a:xfrm>
            <a:off x="4984571" y="1518357"/>
            <a:ext cx="135000" cy="135000"/>
          </a:xfrm>
          <a:prstGeom prst="ellipse">
            <a:avLst/>
          </a:prstGeom>
          <a:noFill/>
          <a:ln w="25400" cap="flat">
            <a:solidFill>
              <a:schemeClr val="accent1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Oval 45"/>
          <p:cNvSpPr>
            <a:spLocks noChangeAspect="1"/>
          </p:cNvSpPr>
          <p:nvPr/>
        </p:nvSpPr>
        <p:spPr bwMode="auto">
          <a:xfrm>
            <a:off x="4984571" y="1991333"/>
            <a:ext cx="135000" cy="135000"/>
          </a:xfrm>
          <a:prstGeom prst="ellipse">
            <a:avLst/>
          </a:prstGeom>
          <a:noFill/>
          <a:ln w="25400" cap="flat">
            <a:solidFill>
              <a:schemeClr val="accent2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Oval 45"/>
          <p:cNvSpPr>
            <a:spLocks noChangeAspect="1"/>
          </p:cNvSpPr>
          <p:nvPr/>
        </p:nvSpPr>
        <p:spPr bwMode="auto">
          <a:xfrm>
            <a:off x="4984571" y="2449814"/>
            <a:ext cx="135000" cy="135000"/>
          </a:xfrm>
          <a:prstGeom prst="ellipse">
            <a:avLst/>
          </a:prstGeom>
          <a:noFill/>
          <a:ln w="25400" cap="flat">
            <a:solidFill>
              <a:schemeClr val="accent3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Oval 45"/>
          <p:cNvSpPr>
            <a:spLocks noChangeAspect="1"/>
          </p:cNvSpPr>
          <p:nvPr/>
        </p:nvSpPr>
        <p:spPr bwMode="auto">
          <a:xfrm>
            <a:off x="4989064" y="2905674"/>
            <a:ext cx="135000" cy="135000"/>
          </a:xfrm>
          <a:prstGeom prst="ellipse">
            <a:avLst/>
          </a:prstGeom>
          <a:noFill/>
          <a:ln w="25400" cap="flat">
            <a:solidFill>
              <a:schemeClr val="accent4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Oval 45"/>
          <p:cNvSpPr>
            <a:spLocks noChangeAspect="1"/>
          </p:cNvSpPr>
          <p:nvPr/>
        </p:nvSpPr>
        <p:spPr bwMode="auto">
          <a:xfrm>
            <a:off x="4989064" y="3378650"/>
            <a:ext cx="135000" cy="135000"/>
          </a:xfrm>
          <a:prstGeom prst="ellipse">
            <a:avLst/>
          </a:prstGeom>
          <a:noFill/>
          <a:ln w="25400" cap="flat">
            <a:solidFill>
              <a:schemeClr val="accent5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152227" y="1431342"/>
            <a:ext cx="2944693" cy="484729"/>
            <a:chOff x="5207179" y="1643291"/>
            <a:chExt cx="3037229" cy="646305"/>
          </a:xfrm>
        </p:grpSpPr>
        <p:sp>
          <p:nvSpPr>
            <p:cNvPr id="12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sounddevice / PortAudio 16kHz</a:t>
              </a:r>
            </a:p>
          </p:txBody>
        </p:sp>
        <p:sp>
          <p:nvSpPr>
            <p:cNvPr id="13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采集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152227" y="1899541"/>
            <a:ext cx="2944693" cy="484729"/>
            <a:chOff x="5207179" y="1643291"/>
            <a:chExt cx="3037229" cy="646305"/>
          </a:xfrm>
        </p:grpSpPr>
        <p:sp>
          <p:nvSpPr>
            <p:cNvPr id="15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Silero VAD 与打断处理</a:t>
              </a:r>
            </a:p>
          </p:txBody>
        </p:sp>
        <p:sp>
          <p:nvSpPr>
            <p:cNvPr id="16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分段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161897" y="2359315"/>
            <a:ext cx="2944693" cy="484729"/>
            <a:chOff x="5207179" y="1643291"/>
            <a:chExt cx="3037229" cy="646305"/>
          </a:xfrm>
        </p:grpSpPr>
        <p:sp>
          <p:nvSpPr>
            <p:cNvPr id="18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本地 SenseVoice / FunASR</a:t>
              </a:r>
            </a:p>
          </p:txBody>
        </p:sp>
        <p:sp>
          <p:nvSpPr>
            <p:cNvPr id="19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识别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166732" y="2829974"/>
            <a:ext cx="2944693" cy="484729"/>
            <a:chOff x="5207179" y="1643291"/>
            <a:chExt cx="3037229" cy="646305"/>
          </a:xfrm>
        </p:grpSpPr>
        <p:sp>
          <p:nvSpPr>
            <p:cNvPr id="21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FastGPT + DeepSeek</a:t>
              </a:r>
            </a:p>
          </p:txBody>
        </p:sp>
        <p:sp>
          <p:nvSpPr>
            <p:cNvPr id="22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决策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177618" y="3298769"/>
            <a:ext cx="2944693" cy="484729"/>
            <a:chOff x="5207179" y="1643291"/>
            <a:chExt cx="3037229" cy="646305"/>
          </a:xfrm>
        </p:grpSpPr>
        <p:sp>
          <p:nvSpPr>
            <p:cNvPr id="24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sherpa-onnx → aplay</a:t>
              </a:r>
            </a:p>
          </p:txBody>
        </p:sp>
        <p:sp>
          <p:nvSpPr>
            <p:cNvPr id="25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合成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84ADCE-B762-43DB-9703-3591651AB94B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6651C9F-4A25-4101-8CF6-442478A46D06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7F8E3ED-96E1-441F-B43C-E762F2A6CD3F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低延迟语音 Agent 流水线</a:t>
                </a: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21DCC738-C364-4FB4-AE04-D66E47D40B53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VOICE PIPELINE</a:t>
                </a:r>
              </a:p>
            </p:txBody>
          </p:sp>
        </p:grp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AE57239-83B2-4AF7-987C-522AF108BD32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/>
          <p:cNvSpPr txBox="1"/>
          <p:nvPr/>
        </p:nvSpPr>
        <p:spPr>
          <a:xfrm>
            <a:off x="749808" y="1417320"/>
            <a:ext cx="3895344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微软雅黑"/>
              </a:rPr>
              <a:t>音频链路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" y="1828800"/>
            <a:ext cx="3895344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麦克风：16 kHz 单声道，PortAudio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Pipecat + Silero VAD：轮流说话与打断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本地 ASR：SenseVoice / FunASR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Agent：FastGPT 工作流 + DeepSeek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本地 TTS：sherpa-onnx 优先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输出：ALSA aplay，16 kHz S16_LE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1990725" y="1292066"/>
            <a:ext cx="5596414" cy="37242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ES" altLang="zh-CN" sz="1200" b="1" kern="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  <a:latin typeface="微软雅黑"/>
              </a:rPr>
              <a:t>即使模型误解或提示词失效，本地安全闸门仍能拒绝无凭证请求。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9498" y="2212393"/>
            <a:ext cx="1901678" cy="2143139"/>
            <a:chOff x="1183290" y="2842447"/>
            <a:chExt cx="2535570" cy="2857519"/>
          </a:xfrm>
        </p:grpSpPr>
        <p:grpSp>
          <p:nvGrpSpPr>
            <p:cNvPr id="12" name="组合 11"/>
            <p:cNvGrpSpPr/>
            <p:nvPr/>
          </p:nvGrpSpPr>
          <p:grpSpPr>
            <a:xfrm>
              <a:off x="1183290" y="2842447"/>
              <a:ext cx="2535570" cy="2857519"/>
              <a:chOff x="1183290" y="2842447"/>
              <a:chExt cx="2535570" cy="2857519"/>
            </a:xfrm>
          </p:grpSpPr>
          <p:sp>
            <p:nvSpPr>
              <p:cNvPr id="81" name="矩形 80"/>
              <p:cNvSpPr/>
              <p:nvPr/>
            </p:nvSpPr>
            <p:spPr>
              <a:xfrm>
                <a:off x="1183290" y="2842447"/>
                <a:ext cx="2535570" cy="2857519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1296665" y="2954952"/>
                <a:ext cx="2308821" cy="2632508"/>
              </a:xfrm>
              <a:prstGeom prst="rect">
                <a:avLst/>
              </a:prstGeom>
              <a:noFill/>
              <a:ln w="3175"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1824621" y="3347028"/>
              <a:ext cx="1252908" cy="1848357"/>
              <a:chOff x="1810756" y="3591092"/>
              <a:chExt cx="1252908" cy="1848357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1903732" y="4776086"/>
                <a:ext cx="1066959" cy="663363"/>
                <a:chOff x="1916432" y="4268086"/>
                <a:chExt cx="1066959" cy="663363"/>
              </a:xfrm>
            </p:grpSpPr>
            <p:grpSp>
              <p:nvGrpSpPr>
                <p:cNvPr id="33" name="组合 32"/>
                <p:cNvGrpSpPr/>
                <p:nvPr/>
              </p:nvGrpSpPr>
              <p:grpSpPr>
                <a:xfrm>
                  <a:off x="1916432" y="4268086"/>
                  <a:ext cx="1066959" cy="513473"/>
                  <a:chOff x="1302075" y="-259563"/>
                  <a:chExt cx="1066959" cy="513473"/>
                </a:xfrm>
              </p:grpSpPr>
              <p:sp>
                <p:nvSpPr>
                  <p:cNvPr id="48" name="矩形 47"/>
                  <p:cNvSpPr/>
                  <p:nvPr/>
                </p:nvSpPr>
                <p:spPr>
                  <a:xfrm>
                    <a:off x="1302075" y="-259563"/>
                    <a:ext cx="2286000" cy="45720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zh-CN" altLang="en-US" sz="1100" dirty="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融合层</a:t>
                    </a:r>
                    <a:endPara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" name="矩形 48"/>
                  <p:cNvSpPr/>
                  <p:nvPr/>
                </p:nvSpPr>
                <p:spPr>
                  <a:xfrm>
                    <a:off x="1352303" y="28207"/>
                    <a:ext cx="2286000" cy="105156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zh-CN" altLang="en-US" sz="8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只有 Jetson 本地 FusionEngine 能产出认证结果</a:t>
                    </a:r>
                  </a:p>
                </p:txBody>
              </p:sp>
            </p:grpSp>
            <p:cxnSp>
              <p:nvCxnSpPr>
                <p:cNvPr id="47" name="直接连接符 46"/>
                <p:cNvCxnSpPr/>
                <p:nvPr/>
              </p:nvCxnSpPr>
              <p:spPr>
                <a:xfrm>
                  <a:off x="2325220" y="4931449"/>
                  <a:ext cx="249382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" name="文本框 2"/>
              <p:cNvSpPr txBox="1"/>
              <p:nvPr/>
            </p:nvSpPr>
            <p:spPr>
              <a:xfrm>
                <a:off x="1810756" y="3591092"/>
                <a:ext cx="1252908" cy="9643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 b="1">
                    <a:solidFill>
                      <a:schemeClr val="tx2"/>
                    </a:solidFill>
                    <a:cs typeface="+mn-ea"/>
                    <a:sym typeface="+mn-lt"/>
                    <a:latin typeface="微软雅黑"/>
                  </a:rPr>
                  <a:t>01</a:t>
                </a:r>
                <a:endParaRPr lang="zh-CN" altLang="en-US" sz="410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2575987" y="2212393"/>
            <a:ext cx="1901678" cy="2143139"/>
            <a:chOff x="3909040" y="2842447"/>
            <a:chExt cx="2535570" cy="2857519"/>
          </a:xfrm>
        </p:grpSpPr>
        <p:grpSp>
          <p:nvGrpSpPr>
            <p:cNvPr id="83" name="组合 82"/>
            <p:cNvGrpSpPr/>
            <p:nvPr/>
          </p:nvGrpSpPr>
          <p:grpSpPr>
            <a:xfrm>
              <a:off x="3909040" y="2842447"/>
              <a:ext cx="2535570" cy="2857519"/>
              <a:chOff x="1183290" y="2842447"/>
              <a:chExt cx="2535570" cy="2857519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1183290" y="2842447"/>
                <a:ext cx="2535570" cy="285751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1296665" y="2954952"/>
                <a:ext cx="2308821" cy="2632508"/>
              </a:xfrm>
              <a:prstGeom prst="rect">
                <a:avLst/>
              </a:prstGeom>
              <a:noFill/>
              <a:ln w="3175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4643347" y="3273592"/>
              <a:ext cx="1066959" cy="1848357"/>
              <a:chOff x="1903732" y="3591092"/>
              <a:chExt cx="1066959" cy="1848357"/>
            </a:xfrm>
          </p:grpSpPr>
          <p:grpSp>
            <p:nvGrpSpPr>
              <p:cNvPr id="61" name="组合 60"/>
              <p:cNvGrpSpPr/>
              <p:nvPr/>
            </p:nvGrpSpPr>
            <p:grpSpPr>
              <a:xfrm>
                <a:off x="1903732" y="4776086"/>
                <a:ext cx="1066959" cy="663363"/>
                <a:chOff x="1916432" y="4268086"/>
                <a:chExt cx="1066959" cy="663363"/>
              </a:xfrm>
            </p:grpSpPr>
            <p:grpSp>
              <p:nvGrpSpPr>
                <p:cNvPr id="63" name="组合 62"/>
                <p:cNvGrpSpPr/>
                <p:nvPr/>
              </p:nvGrpSpPr>
              <p:grpSpPr>
                <a:xfrm>
                  <a:off x="1916432" y="4268086"/>
                  <a:ext cx="1066959" cy="513473"/>
                  <a:chOff x="1302075" y="-259563"/>
                  <a:chExt cx="1066959" cy="513473"/>
                </a:xfrm>
              </p:grpSpPr>
              <p:sp>
                <p:nvSpPr>
                  <p:cNvPr id="65" name="矩形 64"/>
                  <p:cNvSpPr/>
                  <p:nvPr/>
                </p:nvSpPr>
                <p:spPr>
                  <a:xfrm>
                    <a:off x="1302075" y="-259563"/>
                    <a:ext cx="2286000" cy="457200"/>
                  </a:xfrm>
                  <a:prstGeom prst="rect">
                    <a:avLst/>
                  </a:prstGeom>
                  <a:ln>
                    <a:solidFill>
                      <a:schemeClr val="bg1"/>
                    </a:solidFill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zh-CN" altLang="en-US" sz="1100" dirty="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凭证层</a:t>
                    </a:r>
                    <a:endPara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矩形 65"/>
                  <p:cNvSpPr/>
                  <p:nvPr/>
                </p:nvSpPr>
                <p:spPr>
                  <a:xfrm>
                    <a:off x="1352303" y="28207"/>
                    <a:ext cx="2286000" cy="1051560"/>
                  </a:xfrm>
                  <a:prstGeom prst="rect">
                    <a:avLst/>
                  </a:prstGeom>
                  <a:ln>
                    <a:solidFill>
                      <a:schemeClr val="bg1"/>
                    </a:solidFill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zh-CN" altLang="en-US" sz="8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短时、一次性，过期与重复消费均拒绝</a:t>
                    </a:r>
                  </a:p>
                </p:txBody>
              </p:sp>
            </p:grpSp>
            <p:cxnSp>
              <p:nvCxnSpPr>
                <p:cNvPr id="64" name="直接连接符 63"/>
                <p:cNvCxnSpPr/>
                <p:nvPr/>
              </p:nvCxnSpPr>
              <p:spPr>
                <a:xfrm>
                  <a:off x="2325220" y="4931449"/>
                  <a:ext cx="249382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2" name="文本框 61"/>
              <p:cNvSpPr txBox="1"/>
              <p:nvPr/>
            </p:nvSpPr>
            <p:spPr>
              <a:xfrm>
                <a:off x="2035175" y="3591092"/>
                <a:ext cx="804067" cy="96436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 b="1">
                    <a:solidFill>
                      <a:schemeClr val="tx2"/>
                    </a:solidFill>
                    <a:cs typeface="+mn-ea"/>
                    <a:sym typeface="+mn-lt"/>
                    <a:latin typeface="微软雅黑"/>
                  </a:rPr>
                  <a:t>02</a:t>
                </a:r>
                <a:endParaRPr lang="zh-CN" altLang="en-US" sz="410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4712475" y="2212393"/>
            <a:ext cx="1901678" cy="2143139"/>
            <a:chOff x="6434325" y="2842447"/>
            <a:chExt cx="2535570" cy="2857519"/>
          </a:xfrm>
        </p:grpSpPr>
        <p:grpSp>
          <p:nvGrpSpPr>
            <p:cNvPr id="86" name="组合 85"/>
            <p:cNvGrpSpPr/>
            <p:nvPr/>
          </p:nvGrpSpPr>
          <p:grpSpPr>
            <a:xfrm>
              <a:off x="6434325" y="2842447"/>
              <a:ext cx="2535570" cy="2857519"/>
              <a:chOff x="1183290" y="2842447"/>
              <a:chExt cx="2535570" cy="2857519"/>
            </a:xfrm>
          </p:grpSpPr>
          <p:sp>
            <p:nvSpPr>
              <p:cNvPr id="87" name="矩形 86"/>
              <p:cNvSpPr/>
              <p:nvPr/>
            </p:nvSpPr>
            <p:spPr>
              <a:xfrm>
                <a:off x="1183290" y="2842447"/>
                <a:ext cx="2535570" cy="2857519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1296665" y="2954952"/>
                <a:ext cx="2308821" cy="2632508"/>
              </a:xfrm>
              <a:prstGeom prst="rect">
                <a:avLst/>
              </a:prstGeom>
              <a:noFill/>
              <a:ln w="3175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7168632" y="3273592"/>
              <a:ext cx="1066959" cy="1848357"/>
              <a:chOff x="1903732" y="3591092"/>
              <a:chExt cx="1066959" cy="1848357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1903732" y="4776086"/>
                <a:ext cx="1066959" cy="663363"/>
                <a:chOff x="1916432" y="4268086"/>
                <a:chExt cx="1066959" cy="663363"/>
              </a:xfrm>
            </p:grpSpPr>
            <p:grpSp>
              <p:nvGrpSpPr>
                <p:cNvPr id="70" name="组合 69"/>
                <p:cNvGrpSpPr/>
                <p:nvPr/>
              </p:nvGrpSpPr>
              <p:grpSpPr>
                <a:xfrm>
                  <a:off x="1916432" y="4268086"/>
                  <a:ext cx="1066959" cy="513473"/>
                  <a:chOff x="1302075" y="-259563"/>
                  <a:chExt cx="1066959" cy="513473"/>
                </a:xfrm>
              </p:grpSpPr>
              <p:sp>
                <p:nvSpPr>
                  <p:cNvPr id="72" name="矩形 71"/>
                  <p:cNvSpPr/>
                  <p:nvPr/>
                </p:nvSpPr>
                <p:spPr>
                  <a:xfrm>
                    <a:off x="1302075" y="-259563"/>
                    <a:ext cx="2286000" cy="45720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zh-CN" altLang="en-US" sz="1100" dirty="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Agent 层</a:t>
                    </a:r>
                    <a:endPara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矩形 72"/>
                  <p:cNvSpPr/>
                  <p:nvPr/>
                </p:nvSpPr>
                <p:spPr>
                  <a:xfrm>
                    <a:off x="1352303" y="28207"/>
                    <a:ext cx="2286000" cy="105156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zh-CN" altLang="en-US" sz="8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只注册 current_auth_context 与 request_unlock</a:t>
                    </a:r>
                  </a:p>
                </p:txBody>
              </p:sp>
            </p:grpSp>
            <p:cxnSp>
              <p:nvCxnSpPr>
                <p:cNvPr id="71" name="直接连接符 70"/>
                <p:cNvCxnSpPr/>
                <p:nvPr/>
              </p:nvCxnSpPr>
              <p:spPr>
                <a:xfrm>
                  <a:off x="2325220" y="4931449"/>
                  <a:ext cx="249382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文本框 68"/>
              <p:cNvSpPr txBox="1"/>
              <p:nvPr/>
            </p:nvSpPr>
            <p:spPr>
              <a:xfrm>
                <a:off x="2027695" y="3591092"/>
                <a:ext cx="819028" cy="9643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 b="1">
                    <a:solidFill>
                      <a:schemeClr val="tx2"/>
                    </a:solidFill>
                    <a:cs typeface="+mn-ea"/>
                    <a:sym typeface="+mn-lt"/>
                    <a:latin typeface="微软雅黑"/>
                  </a:rPr>
                  <a:t>03</a:t>
                </a:r>
                <a:endParaRPr lang="zh-CN" altLang="en-US" sz="410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6848962" y="2212393"/>
            <a:ext cx="1901678" cy="2143139"/>
            <a:chOff x="9004950" y="2842447"/>
            <a:chExt cx="2535570" cy="2857519"/>
          </a:xfrm>
        </p:grpSpPr>
        <p:grpSp>
          <p:nvGrpSpPr>
            <p:cNvPr id="89" name="组合 88"/>
            <p:cNvGrpSpPr/>
            <p:nvPr/>
          </p:nvGrpSpPr>
          <p:grpSpPr>
            <a:xfrm>
              <a:off x="9004950" y="2842447"/>
              <a:ext cx="2535570" cy="2857519"/>
              <a:chOff x="1183290" y="2842447"/>
              <a:chExt cx="2535570" cy="2857519"/>
            </a:xfrm>
          </p:grpSpPr>
          <p:sp>
            <p:nvSpPr>
              <p:cNvPr id="90" name="矩形 89"/>
              <p:cNvSpPr/>
              <p:nvPr/>
            </p:nvSpPr>
            <p:spPr>
              <a:xfrm>
                <a:off x="1183290" y="2842447"/>
                <a:ext cx="2535570" cy="2857519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1296665" y="2954952"/>
                <a:ext cx="2308821" cy="2632508"/>
              </a:xfrm>
              <a:prstGeom prst="rect">
                <a:avLst/>
              </a:prstGeom>
              <a:noFill/>
              <a:ln w="3175"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9709333" y="3273592"/>
              <a:ext cx="1126804" cy="1848357"/>
              <a:chOff x="1873808" y="3591092"/>
              <a:chExt cx="1126804" cy="1848357"/>
            </a:xfrm>
          </p:grpSpPr>
          <p:grpSp>
            <p:nvGrpSpPr>
              <p:cNvPr id="75" name="组合 74"/>
              <p:cNvGrpSpPr/>
              <p:nvPr/>
            </p:nvGrpSpPr>
            <p:grpSpPr>
              <a:xfrm>
                <a:off x="1903732" y="4776086"/>
                <a:ext cx="1066959" cy="663363"/>
                <a:chOff x="1916432" y="4268086"/>
                <a:chExt cx="1066959" cy="663363"/>
              </a:xfrm>
            </p:grpSpPr>
            <p:grpSp>
              <p:nvGrpSpPr>
                <p:cNvPr id="77" name="组合 76"/>
                <p:cNvGrpSpPr/>
                <p:nvPr/>
              </p:nvGrpSpPr>
              <p:grpSpPr>
                <a:xfrm>
                  <a:off x="1916432" y="4268086"/>
                  <a:ext cx="1066959" cy="513473"/>
                  <a:chOff x="1302075" y="-259563"/>
                  <a:chExt cx="1066959" cy="513473"/>
                </a:xfrm>
              </p:grpSpPr>
              <p:sp>
                <p:nvSpPr>
                  <p:cNvPr id="79" name="矩形 78"/>
                  <p:cNvSpPr/>
                  <p:nvPr/>
                </p:nvSpPr>
                <p:spPr>
                  <a:xfrm>
                    <a:off x="1302075" y="-259563"/>
                    <a:ext cx="2286000" cy="45720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zh-CN" altLang="en-US" sz="1100" dirty="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执行层</a:t>
                    </a:r>
                    <a:endPara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矩形 79"/>
                  <p:cNvSpPr/>
                  <p:nvPr/>
                </p:nvSpPr>
                <p:spPr>
                  <a:xfrm>
                    <a:off x="1352303" y="28207"/>
                    <a:ext cx="2286000" cy="105156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zh-CN" altLang="en-US" sz="8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  <a:latin typeface="微软雅黑"/>
                      </a:rPr>
                      <a:t>Bearer Token + NO_UNLOCK 双重闸门</a:t>
                    </a:r>
                  </a:p>
                </p:txBody>
              </p:sp>
            </p:grpSp>
            <p:cxnSp>
              <p:nvCxnSpPr>
                <p:cNvPr id="78" name="直接连接符 77"/>
                <p:cNvCxnSpPr/>
                <p:nvPr/>
              </p:nvCxnSpPr>
              <p:spPr>
                <a:xfrm>
                  <a:off x="2325220" y="4931449"/>
                  <a:ext cx="249382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6" name="文本框 75"/>
              <p:cNvSpPr txBox="1"/>
              <p:nvPr/>
            </p:nvSpPr>
            <p:spPr>
              <a:xfrm>
                <a:off x="1873808" y="3591092"/>
                <a:ext cx="1126804" cy="9643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 b="1">
                    <a:solidFill>
                      <a:schemeClr val="tx2"/>
                    </a:solidFill>
                    <a:cs typeface="+mn-ea"/>
                    <a:sym typeface="+mn-lt"/>
                    <a:latin typeface="微软雅黑"/>
                  </a:rPr>
                  <a:t>04</a:t>
                </a:r>
                <a:endParaRPr lang="zh-CN" altLang="en-US" sz="410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0DBD9623-4C6E-4668-BDD1-5AFA6A756D3C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5CB548B8-D14A-4AD3-9114-22D3EB6807C2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0C8D1851-A493-45FE-B58C-A9E5789719B6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四层安全约束</a:t>
                </a:r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7D034C46-9910-4529-9DF0-94D41F8D3DDA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SECURITY LAYERS</a:t>
                </a:r>
              </a:p>
            </p:txBody>
          </p:sp>
        </p:grp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78B8792E-0D48-4BA8-A950-3D6B11797A7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742950" y="805815"/>
            <a:ext cx="3531870" cy="353187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79144" y="1576808"/>
            <a:ext cx="3939064" cy="8079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200000"/>
              </a:lnSpc>
            </a:pPr>
            <a:r>
              <a:rPr lang="zh-CN" altLang="en-US" sz="900" dirty="0">
                <a:solidFill>
                  <a:srgbClr val="0A1428"/>
                </a:solidFill>
                <a:cs typeface="+mn-ea"/>
                <a:sym typeface="+mn-lt"/>
                <a:latin typeface="微软雅黑"/>
              </a:rPr>
              <a:t>工具调用：current_auth_context → request_unlock；干运行阻止真实动作。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579144" y="1213430"/>
            <a:ext cx="2757964" cy="2908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0A1428"/>
                </a:solidFill>
                <a:cs typeface="+mn-ea"/>
                <a:sym typeface="+mn-lt"/>
                <a:latin typeface="微软雅黑"/>
              </a:rPr>
              <a:t>有效凭证 +「请开门」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9144" y="3115151"/>
            <a:ext cx="3939064" cy="8079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200000"/>
              </a:lnSpc>
            </a:pPr>
            <a:r>
              <a:rPr lang="zh-CN" altLang="en-US" sz="900">
                <a:solidFill>
                  <a:srgbClr val="0A1428"/>
                </a:solidFill>
                <a:cs typeface="+mn-ea"/>
                <a:sym typeface="+mn-lt"/>
                <a:latin typeface="微软雅黑"/>
              </a:rPr>
              <a:t>工具调用：仅 current_auth_context；不调用开锁工具。</a:t>
            </a:r>
            <a:endParaRPr lang="zh-CN" altLang="en-US" sz="800" dirty="0">
              <a:solidFill>
                <a:srgbClr val="0A1428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9144" y="2751773"/>
            <a:ext cx="2757964" cy="2908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0A1428"/>
                </a:solidFill>
                <a:cs typeface="+mn-ea"/>
                <a:sym typeface="+mn-lt"/>
                <a:latin typeface="微软雅黑"/>
              </a:rPr>
              <a:t>无效凭证 +「请开门」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AF64CD7-D890-4631-A305-598B85956535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F52E97E-E474-4CC7-B64A-370347CAC0A1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49D794F-F135-4630-81E7-9A0CACA4C442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安全验证：两个真实场景</a:t>
                </a: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CBCE04E-EE70-4F75-A59D-270B05556AF6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VALIDATION</a:t>
                </a:r>
              </a:p>
            </p:txBody>
          </p: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3584DA7-4CC0-4F5A-9338-93FF3914FAC6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868680" y="1280160"/>
            <a:ext cx="329184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  <a:latin typeface="微软雅黑"/>
              </a:rPr>
              <a:t>结论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两个场景均已完成真实工具调用测试。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Agent 无法在无凭证时触发开锁动作，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安全判定始终由 Jetson 本地完成。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4" grpId="0"/>
      <p:bldP spid="24" grpId="1"/>
      <p:bldP spid="25" grpId="0"/>
      <p:bldP spid="4" grpId="0"/>
      <p:bldP spid="4" grpId="1"/>
      <p:bldP spid="5" grpId="0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" name="Picture Placeholder 6"/>
          <p:cNvPicPr>
            <a:picLocks noGrp="1" noChangeAspect="1"/>
          </p:cNvPicPr>
          <p:nvPr>
            <p:ph type="pic" sz="quarter" idx="16"/>
          </p:nvPr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" r="30"/>
          <a:stretch>
            <a:fillRect/>
          </a:stretch>
        </p:blipFill>
        <p:spPr/>
      </p:pic>
      <p:sp>
        <p:nvSpPr>
          <p:cNvPr id="11" name="TextBox 10"/>
          <p:cNvSpPr txBox="1"/>
          <p:nvPr/>
        </p:nvSpPr>
        <p:spPr>
          <a:xfrm>
            <a:off x="786111" y="931931"/>
            <a:ext cx="2295227" cy="32813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ts val="2025"/>
              </a:lnSpc>
            </a:pPr>
            <a:r>
              <a:rPr lang="zh-CN" altLang="en-US" sz="1400" b="1" dirty="0">
                <a:cs typeface="+mn-ea"/>
                <a:sym typeface="+mn-lt"/>
                <a:latin typeface="微软雅黑"/>
              </a:rPr>
              <a:t>异常事件闭环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153" y="1685095"/>
            <a:ext cx="2971800" cy="1325880"/>
          </a:xfrm>
          <a:prstGeom prst="rect">
            <a:avLst/>
          </a:prstGeom>
          <a:noFill/>
        </p:spPr>
        <p:txBody>
          <a:bodyPr wrap="square" lIns="68580" tIns="34290" rIns="68580" bIns="34290" numCol="1" spcCol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50" b="1" dirty="0">
                <a:solidFill>
                  <a:schemeClr val="bg2"/>
                </a:solidFill>
                <a:cs typeface="+mn-ea"/>
                <a:sym typeface="+mn-lt"/>
                <a:latin typeface="微软雅黑"/>
              </a:rPr>
              <a:t>链路：认证失败 → localhost:8790/event → 原子写入 latest_event.json → SCP 同步 → WorkBuddy 定时读取 → Bot 通知 → 标记 processed=true。同一次停留只写一次，离开超过 5 秒重新布防；服务异常只记日志并重试，不改变认证或开锁结果。</a:t>
            </a:r>
          </a:p>
        </p:txBody>
      </p:sp>
      <p:pic>
        <p:nvPicPr>
          <p:cNvPr id="3" name="图片占位符 2" descr="C:\Users\Administrator\Desktop\背景素材\背景图片\photo-1491975474562-1f4e30bc9468.jpgphoto-1491975474562-1f4e30bc9468"/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l="16874" t="4914"/>
          <a:stretch>
            <a:fillRect/>
          </a:stretch>
        </p:blipFill>
        <p:spPr>
          <a:xfrm>
            <a:off x="3896677" y="865346"/>
            <a:ext cx="1696403" cy="2994660"/>
          </a:xfrm>
          <a:prstGeom prst="rect">
            <a:avLst/>
          </a:prstGeom>
        </p:spPr>
      </p:pic>
      <p:sp>
        <p:nvSpPr>
          <p:cNvPr id="2" name="TextBox 10"/>
          <p:cNvSpPr txBox="1"/>
          <p:nvPr/>
        </p:nvSpPr>
        <p:spPr>
          <a:xfrm>
            <a:off x="786111" y="1351030"/>
            <a:ext cx="2295227" cy="109517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ts val="2025"/>
              </a:lnSpc>
            </a:pPr>
            <a:r>
              <a:rPr lang="es-ES" altLang="zh-CN" sz="950" b="1" kern="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  <a:latin typeface="微软雅黑"/>
              </a:rPr>
              <a:t>触发条件：① 红外持续检测到人员但超过 3 秒仍无法识别人脸；② 完整认证进入融合阶段后失败（活体 / 声纹 / 身份一致性未通过）。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Oval 45"/>
          <p:cNvSpPr>
            <a:spLocks noChangeAspect="1"/>
          </p:cNvSpPr>
          <p:nvPr/>
        </p:nvSpPr>
        <p:spPr bwMode="auto">
          <a:xfrm>
            <a:off x="4984571" y="1518357"/>
            <a:ext cx="135000" cy="135000"/>
          </a:xfrm>
          <a:prstGeom prst="ellipse">
            <a:avLst/>
          </a:prstGeom>
          <a:noFill/>
          <a:ln w="25400" cap="flat">
            <a:solidFill>
              <a:schemeClr val="accent1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Oval 45"/>
          <p:cNvSpPr>
            <a:spLocks noChangeAspect="1"/>
          </p:cNvSpPr>
          <p:nvPr/>
        </p:nvSpPr>
        <p:spPr bwMode="auto">
          <a:xfrm>
            <a:off x="4984571" y="1991333"/>
            <a:ext cx="135000" cy="135000"/>
          </a:xfrm>
          <a:prstGeom prst="ellipse">
            <a:avLst/>
          </a:prstGeom>
          <a:noFill/>
          <a:ln w="25400" cap="flat">
            <a:solidFill>
              <a:schemeClr val="accent2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Oval 45"/>
          <p:cNvSpPr>
            <a:spLocks noChangeAspect="1"/>
          </p:cNvSpPr>
          <p:nvPr/>
        </p:nvSpPr>
        <p:spPr bwMode="auto">
          <a:xfrm>
            <a:off x="4984571" y="2449814"/>
            <a:ext cx="135000" cy="135000"/>
          </a:xfrm>
          <a:prstGeom prst="ellipse">
            <a:avLst/>
          </a:prstGeom>
          <a:noFill/>
          <a:ln w="25400" cap="flat">
            <a:solidFill>
              <a:schemeClr val="accent3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Oval 45"/>
          <p:cNvSpPr>
            <a:spLocks noChangeAspect="1"/>
          </p:cNvSpPr>
          <p:nvPr/>
        </p:nvSpPr>
        <p:spPr bwMode="auto">
          <a:xfrm>
            <a:off x="4989064" y="2905674"/>
            <a:ext cx="135000" cy="135000"/>
          </a:xfrm>
          <a:prstGeom prst="ellipse">
            <a:avLst/>
          </a:prstGeom>
          <a:noFill/>
          <a:ln w="25400" cap="flat">
            <a:solidFill>
              <a:schemeClr val="accent4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Oval 45"/>
          <p:cNvSpPr>
            <a:spLocks noChangeAspect="1"/>
          </p:cNvSpPr>
          <p:nvPr/>
        </p:nvSpPr>
        <p:spPr bwMode="auto">
          <a:xfrm>
            <a:off x="4989064" y="3378650"/>
            <a:ext cx="135000" cy="135000"/>
          </a:xfrm>
          <a:prstGeom prst="ellipse">
            <a:avLst/>
          </a:prstGeom>
          <a:noFill/>
          <a:ln w="25400" cap="flat">
            <a:solidFill>
              <a:schemeClr val="accent5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152227" y="1431342"/>
            <a:ext cx="2944693" cy="484729"/>
            <a:chOff x="5207179" y="1643291"/>
            <a:chExt cx="3037229" cy="646305"/>
          </a:xfrm>
        </p:grpSpPr>
        <p:sp>
          <p:nvSpPr>
            <p:cNvPr id="12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FastGPT 工作流与 DeepSeek 调用入口</a:t>
              </a:r>
            </a:p>
          </p:txBody>
        </p:sp>
        <p:sp>
          <p:nvSpPr>
            <p:cNvPr id="13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3300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152227" y="1899541"/>
            <a:ext cx="2944693" cy="484729"/>
            <a:chOff x="5207179" y="1643291"/>
            <a:chExt cx="3037229" cy="646305"/>
          </a:xfrm>
        </p:grpSpPr>
        <p:sp>
          <p:nvSpPr>
            <p:cNvPr id="15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门锁工具网关：两个受控工具</a:t>
              </a:r>
            </a:p>
          </p:txBody>
        </p:sp>
        <p:sp>
          <p:nvSpPr>
            <p:cNvPr id="16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8787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161897" y="2359315"/>
            <a:ext cx="2944693" cy="484729"/>
            <a:chOff x="5207179" y="1643291"/>
            <a:chExt cx="3037229" cy="646305"/>
          </a:xfrm>
        </p:grpSpPr>
        <p:sp>
          <p:nvSpPr>
            <p:cNvPr id="18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异常事件服务：仅监听本机</a:t>
              </a:r>
            </a:p>
          </p:txBody>
        </p:sp>
        <p:sp>
          <p:nvSpPr>
            <p:cNvPr id="19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8790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166732" y="2829974"/>
            <a:ext cx="2944693" cy="484729"/>
            <a:chOff x="5207179" y="1643291"/>
            <a:chExt cx="3037229" cy="646305"/>
          </a:xfrm>
        </p:grpSpPr>
        <p:sp>
          <p:nvSpPr>
            <p:cNvPr id="21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run_smart_lock.sh start|stop</a:t>
              </a:r>
            </a:p>
          </p:txBody>
        </p:sp>
        <p:sp>
          <p:nvSpPr>
            <p:cNvPr id="22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一键管理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177618" y="3298769"/>
            <a:ext cx="2944693" cy="484729"/>
            <a:chOff x="5207179" y="1643291"/>
            <a:chExt cx="3037229" cy="646305"/>
          </a:xfrm>
        </p:grpSpPr>
        <p:sp>
          <p:nvSpPr>
            <p:cNvPr id="24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850" dirty="0">
                  <a:cs typeface="+mn-ea"/>
                  <a:sym typeface="+mn-lt"/>
                  <a:latin typeface="微软雅黑"/>
                </a:rPr>
                <a:t>异常退出自动拉起，清理 PID</a:t>
              </a:r>
            </a:p>
          </p:txBody>
        </p:sp>
        <p:sp>
          <p:nvSpPr>
            <p:cNvPr id="25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微软雅黑"/>
                  <a:ea typeface="+mn-ea"/>
                  <a:cs typeface="+mn-ea"/>
                  <a:sym typeface="+mn-lt"/>
                </a:rPr>
                <a:t>进程监督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84ADCE-B762-43DB-9703-3591651AB94B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6651C9F-4A25-4101-8CF6-442478A46D06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7F8E3ED-96E1-441F-B43C-E762F2A6CD3F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部署、端口与进程治理</a:t>
                </a: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21DCC738-C364-4FB4-AE04-D66E47D40B53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DEPLOYMENT</a:t>
                </a:r>
              </a:p>
            </p:txBody>
          </p:sp>
        </p:grp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AE57239-83B2-4AF7-987C-522AF108BD32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/>
          <p:cNvSpPr txBox="1"/>
          <p:nvPr/>
        </p:nvSpPr>
        <p:spPr>
          <a:xfrm>
            <a:off x="749808" y="1417320"/>
            <a:ext cx="3895344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微软雅黑"/>
              </a:rPr>
              <a:t>端口分工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" y="1828800"/>
            <a:ext cx="3895344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3300   FastGPT · Windows/WSL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8787   门锁工具网关 · Jetson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8790   异常事件服务 · 本机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配置入口：FASTGPT_PORT、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LOCK_TOOL_GATEWAY_PORT、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</a:rPr>
              <a:t>LOCK_EVENT_SERVICE_PORT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850" b="1" dirty="0">
                <a:cs typeface="+mn-ea"/>
                <a:sym typeface="+mn-lt"/>
                <a:latin typeface="微软雅黑"/>
              </a:rPr>
              <a:t>资源观察</a:t>
            </a:r>
          </a:p>
          <a:p>
            <a:pPr algn="just">
              <a:lnSpc>
                <a:spcPct val="150000"/>
              </a:lnSpc>
              <a:defRPr/>
            </a:pPr>
            <a:r>
              <a:rPr lang="id-ID" sz="850" b="1" dirty="0">
                <a:cs typeface="+mn-ea"/>
                <a:sym typeface="+mn-lt"/>
                <a:latin typeface="微软雅黑"/>
              </a:rPr>
              <a:t/>
            </a:r>
          </a:p>
          <a:p>
            <a:pPr algn="just">
              <a:lnSpc>
                <a:spcPct val="150000"/>
              </a:lnSpc>
              <a:defRPr/>
            </a:pPr>
            <a:r>
              <a:rPr lang="id-ID" sz="850" b="1" dirty="0">
                <a:cs typeface="+mn-ea"/>
                <a:sym typeface="+mn-lt"/>
                <a:latin typeface="微软雅黑"/>
              </a:rPr>
              <a:t>整机约 5.5 GiB</a:t>
            </a:r>
          </a:p>
          <a:p>
            <a:pPr algn="just">
              <a:lnSpc>
                <a:spcPct val="150000"/>
              </a:lnSpc>
              <a:defRPr/>
            </a:pPr>
            <a:r>
              <a:rPr lang="id-ID" sz="850" b="1" dirty="0">
                <a:cs typeface="+mn-ea"/>
                <a:sym typeface="+mn-lt"/>
                <a:latin typeface="微软雅黑"/>
              </a:rPr>
              <a:t>剩余约 1.6 GiB</a:t>
            </a:r>
          </a:p>
          <a:p>
            <a:pPr algn="just">
              <a:lnSpc>
                <a:spcPct val="150000"/>
              </a:lnSpc>
              <a:defRPr/>
            </a:pPr>
            <a:r>
              <a:rPr lang="id-ID" sz="850" b="1" dirty="0">
                <a:cs typeface="+mn-ea"/>
                <a:sym typeface="+mn-lt"/>
                <a:latin typeface="微软雅黑"/>
              </a:rPr>
              <a:t/>
            </a:r>
          </a:p>
          <a:p>
            <a:pPr algn="just">
              <a:lnSpc>
                <a:spcPct val="150000"/>
              </a:lnSpc>
              <a:defRPr/>
            </a:pPr>
            <a:r>
              <a:rPr lang="id-ID" sz="850" b="1" dirty="0">
                <a:cs typeface="+mn-ea"/>
                <a:sym typeface="+mn-lt"/>
                <a:latin typeface="微软雅黑"/>
              </a:rPr>
              <a:t>适用 Orin NX 级设备</a:t>
            </a:r>
          </a:p>
          <a:p>
            <a:pPr algn="just">
              <a:lnSpc>
                <a:spcPct val="150000"/>
              </a:lnSpc>
              <a:defRPr/>
            </a:pPr>
            <a:r>
              <a:rPr lang="id-ID" sz="850" b="1" dirty="0">
                <a:cs typeface="+mn-ea"/>
                <a:sym typeface="+mn-lt"/>
                <a:latin typeface="微软雅黑"/>
              </a:rPr>
              <a:t>不等同于 Nano 4GB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测试与验证结果</a:t>
                </a: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TEST RESULTS</a:t>
                </a:r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0" name="Table 129"/>
          <p:cNvGraphicFramePr>
            <a:graphicFrameLocks noGrp="1"/>
          </p:cNvGraphicFramePr>
          <p:nvPr/>
        </p:nvGraphicFramePr>
        <p:xfrm>
          <a:off x="950976" y="1051560"/>
          <a:ext cx="527608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75688"/>
              </a:tblGrid>
              <a:tr h="422910">
                <a:tc>
                  <a:txBody>
                    <a:bodyPr wrap="square"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测试项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结果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 wrap="square" lIns="54864" rIns="54864" tIns="18288" bIns="18288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原硬件五步认证流程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开发板已跑通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 wrap="square" lIns="54864" rIns="54864" tIns="18288" bIns="18288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FastGPT Web localhost:3300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返回 200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 wrap="square" lIns="54864" rIns="54864" tIns="18288" bIns="18288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Agent 有效 / 无效凭证调用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两场景均通过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 wrap="square" lIns="54864" rIns="54864" tIns="18288" bIns="18288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工具网关生命周期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含 crash / recovery 通过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 wrap="square" lIns="54864" rIns="54864" tIns="18288" bIns="18288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异常服务生命周期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含 crash / recovery 通过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 wrap="square" lIns="54864" rIns="54864" tIns="18288" bIns="18288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Pipecat 单元与文件语音链路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通过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 wrap="square" lIns="54864" rIns="54864" tIns="18288" bIns="18288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最新异常触发与 aplay 改动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待板端复测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850" b="1" dirty="0">
                <a:cs typeface="+mn-ea"/>
                <a:sym typeface="+mn-lt"/>
                <a:latin typeface="微软雅黑"/>
              </a:rPr>
              <a:t>工程原则</a:t>
            </a:r>
          </a:p>
          <a:p>
            <a:pPr algn="just">
              <a:lnSpc>
                <a:spcPct val="150000"/>
              </a:lnSpc>
              <a:defRPr/>
            </a:pPr>
            <a:r>
              <a:rPr lang="id-ID" sz="850" b="1" dirty="0">
                <a:cs typeface="+mn-ea"/>
                <a:sym typeface="+mn-lt"/>
                <a:latin typeface="微软雅黑"/>
              </a:rPr>
              <a:t/>
            </a:r>
          </a:p>
          <a:p>
            <a:pPr algn="just">
              <a:lnSpc>
                <a:spcPct val="150000"/>
              </a:lnSpc>
              <a:defRPr/>
            </a:pPr>
            <a:r>
              <a:rPr lang="id-ID" sz="850" b="1" dirty="0">
                <a:cs typeface="+mn-ea"/>
                <a:sym typeface="+mn-lt"/>
                <a:latin typeface="微软雅黑"/>
              </a:rPr>
              <a:t>认证归硬件</a:t>
            </a:r>
          </a:p>
          <a:p>
            <a:pPr algn="just">
              <a:lnSpc>
                <a:spcPct val="150000"/>
              </a:lnSpc>
              <a:defRPr/>
            </a:pPr>
            <a:r>
              <a:rPr lang="id-ID" sz="850" b="1" dirty="0">
                <a:cs typeface="+mn-ea"/>
                <a:sym typeface="+mn-lt"/>
                <a:latin typeface="微软雅黑"/>
              </a:rPr>
              <a:t>交互归 Agent</a:t>
            </a:r>
          </a:p>
          <a:p>
            <a:pPr algn="just">
              <a:lnSpc>
                <a:spcPct val="150000"/>
              </a:lnSpc>
              <a:defRPr/>
            </a:pPr>
            <a:r>
              <a:rPr lang="id-ID" sz="850" b="1" dirty="0">
                <a:cs typeface="+mn-ea"/>
                <a:sym typeface="+mn-lt"/>
                <a:latin typeface="微软雅黑"/>
              </a:rPr>
              <a:t>执行归网关</a:t>
            </a:r>
          </a:p>
          <a:p>
            <a:pPr algn="just">
              <a:lnSpc>
                <a:spcPct val="150000"/>
              </a:lnSpc>
              <a:defRPr/>
            </a:pPr>
            <a:r>
              <a:rPr lang="id-ID" sz="850" b="1" dirty="0">
                <a:cs typeface="+mn-ea"/>
                <a:sym typeface="+mn-lt"/>
                <a:latin typeface="微软雅黑"/>
              </a:rPr>
              <a:t/>
            </a:r>
          </a:p>
          <a:p>
            <a:pPr algn="just">
              <a:lnSpc>
                <a:spcPct val="150000"/>
              </a:lnSpc>
              <a:defRPr/>
            </a:pPr>
            <a:r>
              <a:rPr lang="id-ID" sz="850" b="1" dirty="0">
                <a:cs typeface="+mn-ea"/>
                <a:sym typeface="+mn-lt"/>
                <a:latin typeface="微软雅黑"/>
              </a:rPr>
              <a:t>问题不改变架构结论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关键工程问题与解法</a:t>
                </a: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ENGINEERING</a:t>
                </a:r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0" name="Table 129"/>
          <p:cNvGraphicFramePr>
            <a:graphicFrameLocks noGrp="1"/>
          </p:cNvGraphicFramePr>
          <p:nvPr/>
        </p:nvGraphicFramePr>
        <p:xfrm>
          <a:off x="950976" y="1051560"/>
          <a:ext cx="527608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761488"/>
              </a:tblGrid>
              <a:tr h="375920">
                <a:tc>
                  <a:txBody>
                    <a:bodyPr wrap="square"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问题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解决方案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红外持续为 true 重复播报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上升沿触发 + 状态保持 + 离开重置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模型首次使用延迟高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GUI 与 FunASR 启动时预加载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GUI 声纹与 Agent 抢麦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Agent 先等待硬件凭证再开麦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Agent 可能绕过认证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一次性凭证 + 本地工具网关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FastGPT 无法访问 Jetson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SSH 本地 / 反向隧道 3300·8787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服务异常退出污染端口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PID 监督与信号清理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异常情况没有记录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独立事件服务 + 原子写入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音频路径不统一</a:t>
                      </a:r>
                    </a:p>
                  </a:txBody>
                  <a:tcPr/>
                </a:tc>
                <a:tc>
                  <a:txBody>
                    <a:bodyPr wrap="square" lIns="54864" rIns="54864" tIns="18288" bIns="18288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输入 PortAudio，输出 ALSA aplay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文本框 86"/>
          <p:cNvSpPr txBox="1"/>
          <p:nvPr/>
        </p:nvSpPr>
        <p:spPr>
          <a:xfrm>
            <a:off x="44404" y="954127"/>
            <a:ext cx="9099596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95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  <a:latin typeface="微软雅黑"/>
              </a:rPr>
              <a:t>这些是下一阶段工程工作，不影响已完成的架构验证结论。</a:t>
            </a:r>
            <a:endParaRPr lang="zh-CN" altLang="en-US" sz="1200" dirty="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154574" y="1148694"/>
            <a:ext cx="6879257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  <a:latin typeface="微软雅黑"/>
              </a:rPr>
              <a:t/>
            </a:r>
          </a:p>
        </p:txBody>
      </p:sp>
      <p:sp>
        <p:nvSpPr>
          <p:cNvPr id="107" name="矩形 106"/>
          <p:cNvSpPr/>
          <p:nvPr/>
        </p:nvSpPr>
        <p:spPr>
          <a:xfrm>
            <a:off x="2651760" y="1773667"/>
            <a:ext cx="3840480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b="1" dirty="0" sz="1500">
                <a:solidFill>
                  <a:srgbClr val="404040"/>
                </a:solidFill>
                <a:cs typeface="+mn-ea"/>
                <a:sym typeface="+mn-lt"/>
                <a:latin typeface="微软雅黑"/>
              </a:rPr>
              <a:t>当前边界与风险</a:t>
            </a:r>
          </a:p>
        </p:txBody>
      </p:sp>
      <p:grpSp>
        <p:nvGrpSpPr>
          <p:cNvPr id="108" name="组合 107"/>
          <p:cNvGrpSpPr/>
          <p:nvPr/>
        </p:nvGrpSpPr>
        <p:grpSpPr>
          <a:xfrm>
            <a:off x="4451168" y="2089923"/>
            <a:ext cx="286068" cy="82626"/>
            <a:chOff x="5905288" y="3385219"/>
            <a:chExt cx="381424" cy="110168"/>
          </a:xfrm>
          <a:solidFill>
            <a:schemeClr val="accent1"/>
          </a:solidFill>
        </p:grpSpPr>
        <p:sp>
          <p:nvSpPr>
            <p:cNvPr id="109" name="椭圆 108"/>
            <p:cNvSpPr/>
            <p:nvPr/>
          </p:nvSpPr>
          <p:spPr>
            <a:xfrm>
              <a:off x="5905288" y="3385219"/>
              <a:ext cx="110168" cy="1101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6040916" y="3385219"/>
              <a:ext cx="110168" cy="1101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6176544" y="3385219"/>
              <a:ext cx="110168" cy="1101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786445" y="2437330"/>
            <a:ext cx="1751468" cy="1735373"/>
            <a:chOff x="772501" y="3721210"/>
            <a:chExt cx="2335290" cy="2313831"/>
          </a:xfrm>
        </p:grpSpPr>
        <p:sp>
          <p:nvSpPr>
            <p:cNvPr id="113" name="矩形 112"/>
            <p:cNvSpPr/>
            <p:nvPr/>
          </p:nvSpPr>
          <p:spPr>
            <a:xfrm>
              <a:off x="772501" y="3721210"/>
              <a:ext cx="2335290" cy="136355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772501" y="5077199"/>
              <a:ext cx="2335290" cy="957842"/>
            </a:xfrm>
            <a:prstGeom prst="rect">
              <a:avLst/>
            </a:prstGeom>
            <a:solidFill>
              <a:srgbClr val="E4E4E4">
                <a:alpha val="4500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5" name="Freeform 132"/>
            <p:cNvSpPr>
              <a:spLocks noEditPoints="1"/>
            </p:cNvSpPr>
            <p:nvPr/>
          </p:nvSpPr>
          <p:spPr bwMode="auto">
            <a:xfrm>
              <a:off x="1679736" y="4219279"/>
              <a:ext cx="441310" cy="400036"/>
            </a:xfrm>
            <a:custGeom>
              <a:avLst/>
              <a:gdLst>
                <a:gd name="T0" fmla="*/ 4 w 66"/>
                <a:gd name="T1" fmla="*/ 17 h 60"/>
                <a:gd name="T2" fmla="*/ 28 w 66"/>
                <a:gd name="T3" fmla="*/ 15 h 60"/>
                <a:gd name="T4" fmla="*/ 32 w 66"/>
                <a:gd name="T5" fmla="*/ 3 h 60"/>
                <a:gd name="T6" fmla="*/ 63 w 66"/>
                <a:gd name="T7" fmla="*/ 3 h 60"/>
                <a:gd name="T8" fmla="*/ 51 w 66"/>
                <a:gd name="T9" fmla="*/ 60 h 60"/>
                <a:gd name="T10" fmla="*/ 38 w 66"/>
                <a:gd name="T11" fmla="*/ 8 h 60"/>
                <a:gd name="T12" fmla="*/ 28 w 66"/>
                <a:gd name="T13" fmla="*/ 60 h 60"/>
                <a:gd name="T14" fmla="*/ 20 w 66"/>
                <a:gd name="T15" fmla="*/ 20 h 60"/>
                <a:gd name="T16" fmla="*/ 6 w 66"/>
                <a:gd name="T17" fmla="*/ 60 h 60"/>
                <a:gd name="T18" fmla="*/ 44 w 66"/>
                <a:gd name="T19" fmla="*/ 20 h 60"/>
                <a:gd name="T20" fmla="*/ 45 w 66"/>
                <a:gd name="T21" fmla="*/ 16 h 60"/>
                <a:gd name="T22" fmla="*/ 45 w 66"/>
                <a:gd name="T23" fmla="*/ 13 h 60"/>
                <a:gd name="T24" fmla="*/ 44 w 66"/>
                <a:gd name="T25" fmla="*/ 9 h 60"/>
                <a:gd name="T26" fmla="*/ 46 w 66"/>
                <a:gd name="T27" fmla="*/ 27 h 60"/>
                <a:gd name="T28" fmla="*/ 44 w 66"/>
                <a:gd name="T29" fmla="*/ 30 h 60"/>
                <a:gd name="T30" fmla="*/ 46 w 66"/>
                <a:gd name="T31" fmla="*/ 30 h 60"/>
                <a:gd name="T32" fmla="*/ 44 w 66"/>
                <a:gd name="T33" fmla="*/ 41 h 60"/>
                <a:gd name="T34" fmla="*/ 45 w 66"/>
                <a:gd name="T35" fmla="*/ 37 h 60"/>
                <a:gd name="T36" fmla="*/ 41 w 66"/>
                <a:gd name="T37" fmla="*/ 21 h 60"/>
                <a:gd name="T38" fmla="*/ 39 w 66"/>
                <a:gd name="T39" fmla="*/ 17 h 60"/>
                <a:gd name="T40" fmla="*/ 42 w 66"/>
                <a:gd name="T41" fmla="*/ 13 h 60"/>
                <a:gd name="T42" fmla="*/ 39 w 66"/>
                <a:gd name="T43" fmla="*/ 24 h 60"/>
                <a:gd name="T44" fmla="*/ 42 w 66"/>
                <a:gd name="T45" fmla="*/ 23 h 60"/>
                <a:gd name="T46" fmla="*/ 39 w 66"/>
                <a:gd name="T47" fmla="*/ 35 h 60"/>
                <a:gd name="T48" fmla="*/ 41 w 66"/>
                <a:gd name="T49" fmla="*/ 31 h 60"/>
                <a:gd name="T50" fmla="*/ 41 w 66"/>
                <a:gd name="T51" fmla="*/ 41 h 60"/>
                <a:gd name="T52" fmla="*/ 39 w 66"/>
                <a:gd name="T53" fmla="*/ 38 h 60"/>
                <a:gd name="T54" fmla="*/ 46 w 66"/>
                <a:gd name="T55" fmla="*/ 48 h 60"/>
                <a:gd name="T56" fmla="*/ 39 w 66"/>
                <a:gd name="T57" fmla="*/ 45 h 60"/>
                <a:gd name="T58" fmla="*/ 42 w 66"/>
                <a:gd name="T59" fmla="*/ 44 h 60"/>
                <a:gd name="T60" fmla="*/ 11 w 66"/>
                <a:gd name="T61" fmla="*/ 34 h 60"/>
                <a:gd name="T62" fmla="*/ 12 w 66"/>
                <a:gd name="T63" fmla="*/ 30 h 60"/>
                <a:gd name="T64" fmla="*/ 17 w 66"/>
                <a:gd name="T65" fmla="*/ 33 h 60"/>
                <a:gd name="T66" fmla="*/ 15 w 66"/>
                <a:gd name="T67" fmla="*/ 30 h 60"/>
                <a:gd name="T68" fmla="*/ 18 w 66"/>
                <a:gd name="T69" fmla="*/ 26 h 60"/>
                <a:gd name="T70" fmla="*/ 15 w 66"/>
                <a:gd name="T71" fmla="*/ 37 h 60"/>
                <a:gd name="T72" fmla="*/ 18 w 66"/>
                <a:gd name="T73" fmla="*/ 36 h 60"/>
                <a:gd name="T74" fmla="*/ 15 w 66"/>
                <a:gd name="T75" fmla="*/ 48 h 60"/>
                <a:gd name="T76" fmla="*/ 17 w 66"/>
                <a:gd name="T77" fmla="*/ 44 h 60"/>
                <a:gd name="T78" fmla="*/ 17 w 66"/>
                <a:gd name="T79" fmla="*/ 55 h 60"/>
                <a:gd name="T80" fmla="*/ 15 w 66"/>
                <a:gd name="T81" fmla="*/ 51 h 60"/>
                <a:gd name="T82" fmla="*/ 13 w 66"/>
                <a:gd name="T83" fmla="*/ 27 h 60"/>
                <a:gd name="T84" fmla="*/ 11 w 66"/>
                <a:gd name="T85" fmla="*/ 37 h 60"/>
                <a:gd name="T86" fmla="*/ 13 w 66"/>
                <a:gd name="T87" fmla="*/ 37 h 60"/>
                <a:gd name="T88" fmla="*/ 11 w 66"/>
                <a:gd name="T89" fmla="*/ 48 h 60"/>
                <a:gd name="T90" fmla="*/ 12 w 66"/>
                <a:gd name="T91" fmla="*/ 44 h 60"/>
                <a:gd name="T92" fmla="*/ 12 w 66"/>
                <a:gd name="T93" fmla="*/ 55 h 60"/>
                <a:gd name="T94" fmla="*/ 11 w 66"/>
                <a:gd name="T95" fmla="*/ 5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6" h="60">
                  <a:moveTo>
                    <a:pt x="0" y="55"/>
                  </a:moveTo>
                  <a:cubicBezTo>
                    <a:pt x="4" y="55"/>
                    <a:pt x="4" y="55"/>
                    <a:pt x="4" y="55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3" y="55"/>
                    <a:pt x="63" y="55"/>
                    <a:pt x="63" y="55"/>
                  </a:cubicBezTo>
                  <a:cubicBezTo>
                    <a:pt x="66" y="55"/>
                    <a:pt x="66" y="55"/>
                    <a:pt x="66" y="55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49" y="60"/>
                    <a:pt x="49" y="60"/>
                    <a:pt x="49" y="60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5"/>
                    <a:pt x="0" y="55"/>
                    <a:pt x="0" y="55"/>
                  </a:cubicBezTo>
                  <a:close/>
                  <a:moveTo>
                    <a:pt x="44" y="16"/>
                  </a:moveTo>
                  <a:cubicBezTo>
                    <a:pt x="44" y="18"/>
                    <a:pt x="44" y="19"/>
                    <a:pt x="44" y="20"/>
                  </a:cubicBezTo>
                  <a:cubicBezTo>
                    <a:pt x="44" y="20"/>
                    <a:pt x="45" y="20"/>
                    <a:pt x="45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6" y="17"/>
                    <a:pt x="46" y="16"/>
                  </a:cubicBezTo>
                  <a:cubicBezTo>
                    <a:pt x="46" y="16"/>
                    <a:pt x="46" y="16"/>
                    <a:pt x="45" y="16"/>
                  </a:cubicBezTo>
                  <a:cubicBezTo>
                    <a:pt x="45" y="16"/>
                    <a:pt x="44" y="16"/>
                    <a:pt x="44" y="16"/>
                  </a:cubicBezTo>
                  <a:close/>
                  <a:moveTo>
                    <a:pt x="44" y="9"/>
                  </a:moveTo>
                  <a:cubicBezTo>
                    <a:pt x="44" y="11"/>
                    <a:pt x="44" y="12"/>
                    <a:pt x="44" y="13"/>
                  </a:cubicBezTo>
                  <a:cubicBezTo>
                    <a:pt x="44" y="13"/>
                    <a:pt x="45" y="13"/>
                    <a:pt x="45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6" y="12"/>
                    <a:pt x="46" y="10"/>
                    <a:pt x="46" y="9"/>
                  </a:cubicBezTo>
                  <a:cubicBezTo>
                    <a:pt x="46" y="9"/>
                    <a:pt x="46" y="9"/>
                    <a:pt x="45" y="9"/>
                  </a:cubicBezTo>
                  <a:cubicBezTo>
                    <a:pt x="45" y="9"/>
                    <a:pt x="44" y="9"/>
                    <a:pt x="44" y="9"/>
                  </a:cubicBezTo>
                  <a:close/>
                  <a:moveTo>
                    <a:pt x="44" y="23"/>
                  </a:moveTo>
                  <a:cubicBezTo>
                    <a:pt x="44" y="25"/>
                    <a:pt x="44" y="26"/>
                    <a:pt x="44" y="27"/>
                  </a:cubicBezTo>
                  <a:cubicBezTo>
                    <a:pt x="44" y="27"/>
                    <a:pt x="45" y="27"/>
                    <a:pt x="45" y="27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4"/>
                    <a:pt x="46" y="23"/>
                  </a:cubicBezTo>
                  <a:cubicBezTo>
                    <a:pt x="46" y="23"/>
                    <a:pt x="46" y="23"/>
                    <a:pt x="45" y="23"/>
                  </a:cubicBezTo>
                  <a:cubicBezTo>
                    <a:pt x="45" y="23"/>
                    <a:pt x="44" y="23"/>
                    <a:pt x="44" y="23"/>
                  </a:cubicBezTo>
                  <a:close/>
                  <a:moveTo>
                    <a:pt x="44" y="30"/>
                  </a:moveTo>
                  <a:cubicBezTo>
                    <a:pt x="44" y="32"/>
                    <a:pt x="44" y="33"/>
                    <a:pt x="44" y="34"/>
                  </a:cubicBezTo>
                  <a:cubicBezTo>
                    <a:pt x="44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6" y="33"/>
                    <a:pt x="46" y="32"/>
                    <a:pt x="46" y="30"/>
                  </a:cubicBezTo>
                  <a:cubicBezTo>
                    <a:pt x="46" y="30"/>
                    <a:pt x="46" y="30"/>
                    <a:pt x="45" y="30"/>
                  </a:cubicBezTo>
                  <a:cubicBezTo>
                    <a:pt x="45" y="30"/>
                    <a:pt x="44" y="30"/>
                    <a:pt x="44" y="30"/>
                  </a:cubicBezTo>
                  <a:close/>
                  <a:moveTo>
                    <a:pt x="44" y="37"/>
                  </a:moveTo>
                  <a:cubicBezTo>
                    <a:pt x="44" y="39"/>
                    <a:pt x="44" y="40"/>
                    <a:pt x="44" y="41"/>
                  </a:cubicBezTo>
                  <a:cubicBezTo>
                    <a:pt x="44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0"/>
                    <a:pt x="46" y="39"/>
                    <a:pt x="46" y="37"/>
                  </a:cubicBezTo>
                  <a:cubicBezTo>
                    <a:pt x="46" y="37"/>
                    <a:pt x="46" y="37"/>
                    <a:pt x="45" y="37"/>
                  </a:cubicBezTo>
                  <a:cubicBezTo>
                    <a:pt x="45" y="37"/>
                    <a:pt x="44" y="37"/>
                    <a:pt x="44" y="37"/>
                  </a:cubicBezTo>
                  <a:close/>
                  <a:moveTo>
                    <a:pt x="39" y="17"/>
                  </a:moveTo>
                  <a:cubicBezTo>
                    <a:pt x="39" y="18"/>
                    <a:pt x="39" y="19"/>
                    <a:pt x="39" y="21"/>
                  </a:cubicBezTo>
                  <a:cubicBezTo>
                    <a:pt x="40" y="21"/>
                    <a:pt x="40" y="21"/>
                    <a:pt x="41" y="21"/>
                  </a:cubicBezTo>
                  <a:cubicBezTo>
                    <a:pt x="41" y="21"/>
                    <a:pt x="41" y="21"/>
                    <a:pt x="42" y="20"/>
                  </a:cubicBezTo>
                  <a:cubicBezTo>
                    <a:pt x="42" y="19"/>
                    <a:pt x="42" y="18"/>
                    <a:pt x="42" y="1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0" y="17"/>
                    <a:pt x="40" y="17"/>
                    <a:pt x="39" y="17"/>
                  </a:cubicBezTo>
                  <a:close/>
                  <a:moveTo>
                    <a:pt x="39" y="10"/>
                  </a:moveTo>
                  <a:cubicBezTo>
                    <a:pt x="39" y="11"/>
                    <a:pt x="39" y="12"/>
                    <a:pt x="39" y="14"/>
                  </a:cubicBezTo>
                  <a:cubicBezTo>
                    <a:pt x="40" y="14"/>
                    <a:pt x="40" y="14"/>
                    <a:pt x="41" y="14"/>
                  </a:cubicBezTo>
                  <a:cubicBezTo>
                    <a:pt x="41" y="14"/>
                    <a:pt x="41" y="14"/>
                    <a:pt x="42" y="13"/>
                  </a:cubicBezTo>
                  <a:cubicBezTo>
                    <a:pt x="42" y="12"/>
                    <a:pt x="42" y="11"/>
                    <a:pt x="42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0" y="10"/>
                    <a:pt x="40" y="10"/>
                    <a:pt x="39" y="10"/>
                  </a:cubicBezTo>
                  <a:close/>
                  <a:moveTo>
                    <a:pt x="39" y="24"/>
                  </a:moveTo>
                  <a:cubicBezTo>
                    <a:pt x="39" y="25"/>
                    <a:pt x="39" y="26"/>
                    <a:pt x="39" y="28"/>
                  </a:cubicBezTo>
                  <a:cubicBezTo>
                    <a:pt x="40" y="28"/>
                    <a:pt x="40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2" y="26"/>
                    <a:pt x="42" y="25"/>
                    <a:pt x="42" y="23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4"/>
                    <a:pt x="40" y="24"/>
                    <a:pt x="39" y="24"/>
                  </a:cubicBezTo>
                  <a:close/>
                  <a:moveTo>
                    <a:pt x="39" y="31"/>
                  </a:moveTo>
                  <a:cubicBezTo>
                    <a:pt x="39" y="32"/>
                    <a:pt x="39" y="33"/>
                    <a:pt x="39" y="35"/>
                  </a:cubicBezTo>
                  <a:cubicBezTo>
                    <a:pt x="40" y="35"/>
                    <a:pt x="40" y="34"/>
                    <a:pt x="41" y="34"/>
                  </a:cubicBezTo>
                  <a:cubicBezTo>
                    <a:pt x="41" y="34"/>
                    <a:pt x="41" y="34"/>
                    <a:pt x="42" y="34"/>
                  </a:cubicBezTo>
                  <a:cubicBezTo>
                    <a:pt x="42" y="33"/>
                    <a:pt x="42" y="32"/>
                    <a:pt x="42" y="30"/>
                  </a:cubicBezTo>
                  <a:cubicBezTo>
                    <a:pt x="41" y="30"/>
                    <a:pt x="41" y="30"/>
                    <a:pt x="41" y="31"/>
                  </a:cubicBezTo>
                  <a:cubicBezTo>
                    <a:pt x="40" y="31"/>
                    <a:pt x="40" y="31"/>
                    <a:pt x="39" y="31"/>
                  </a:cubicBezTo>
                  <a:close/>
                  <a:moveTo>
                    <a:pt x="39" y="38"/>
                  </a:moveTo>
                  <a:cubicBezTo>
                    <a:pt x="39" y="39"/>
                    <a:pt x="39" y="40"/>
                    <a:pt x="39" y="41"/>
                  </a:cubicBezTo>
                  <a:cubicBezTo>
                    <a:pt x="40" y="41"/>
                    <a:pt x="40" y="41"/>
                    <a:pt x="41" y="41"/>
                  </a:cubicBezTo>
                  <a:cubicBezTo>
                    <a:pt x="41" y="41"/>
                    <a:pt x="41" y="41"/>
                    <a:pt x="42" y="41"/>
                  </a:cubicBezTo>
                  <a:cubicBezTo>
                    <a:pt x="42" y="40"/>
                    <a:pt x="42" y="39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0" y="37"/>
                    <a:pt x="40" y="37"/>
                    <a:pt x="39" y="38"/>
                  </a:cubicBezTo>
                  <a:close/>
                  <a:moveTo>
                    <a:pt x="44" y="44"/>
                  </a:moveTo>
                  <a:cubicBezTo>
                    <a:pt x="44" y="46"/>
                    <a:pt x="44" y="47"/>
                    <a:pt x="44" y="48"/>
                  </a:cubicBezTo>
                  <a:cubicBezTo>
                    <a:pt x="44" y="48"/>
                    <a:pt x="45" y="48"/>
                    <a:pt x="45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7"/>
                    <a:pt x="46" y="46"/>
                    <a:pt x="46" y="44"/>
                  </a:cubicBezTo>
                  <a:cubicBezTo>
                    <a:pt x="46" y="44"/>
                    <a:pt x="46" y="44"/>
                    <a:pt x="45" y="44"/>
                  </a:cubicBezTo>
                  <a:cubicBezTo>
                    <a:pt x="45" y="44"/>
                    <a:pt x="44" y="44"/>
                    <a:pt x="44" y="44"/>
                  </a:cubicBezTo>
                  <a:close/>
                  <a:moveTo>
                    <a:pt x="39" y="45"/>
                  </a:moveTo>
                  <a:cubicBezTo>
                    <a:pt x="39" y="46"/>
                    <a:pt x="39" y="47"/>
                    <a:pt x="39" y="48"/>
                  </a:cubicBezTo>
                  <a:cubicBezTo>
                    <a:pt x="40" y="48"/>
                    <a:pt x="40" y="48"/>
                    <a:pt x="41" y="48"/>
                  </a:cubicBezTo>
                  <a:cubicBezTo>
                    <a:pt x="41" y="48"/>
                    <a:pt x="41" y="48"/>
                    <a:pt x="42" y="48"/>
                  </a:cubicBezTo>
                  <a:cubicBezTo>
                    <a:pt x="42" y="47"/>
                    <a:pt x="42" y="46"/>
                    <a:pt x="42" y="44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40" y="44"/>
                    <a:pt x="40" y="44"/>
                    <a:pt x="39" y="45"/>
                  </a:cubicBezTo>
                  <a:close/>
                  <a:moveTo>
                    <a:pt x="11" y="30"/>
                  </a:moveTo>
                  <a:cubicBezTo>
                    <a:pt x="11" y="31"/>
                    <a:pt x="11" y="33"/>
                    <a:pt x="11" y="34"/>
                  </a:cubicBezTo>
                  <a:cubicBezTo>
                    <a:pt x="11" y="34"/>
                    <a:pt x="12" y="34"/>
                    <a:pt x="12" y="34"/>
                  </a:cubicBezTo>
                  <a:cubicBezTo>
                    <a:pt x="12" y="34"/>
                    <a:pt x="13" y="34"/>
                    <a:pt x="13" y="34"/>
                  </a:cubicBezTo>
                  <a:cubicBezTo>
                    <a:pt x="13" y="32"/>
                    <a:pt x="13" y="31"/>
                    <a:pt x="13" y="30"/>
                  </a:cubicBezTo>
                  <a:cubicBezTo>
                    <a:pt x="13" y="30"/>
                    <a:pt x="12" y="30"/>
                    <a:pt x="12" y="30"/>
                  </a:cubicBezTo>
                  <a:cubicBezTo>
                    <a:pt x="12" y="30"/>
                    <a:pt x="11" y="30"/>
                    <a:pt x="11" y="30"/>
                  </a:cubicBezTo>
                  <a:close/>
                  <a:moveTo>
                    <a:pt x="15" y="30"/>
                  </a:moveTo>
                  <a:cubicBezTo>
                    <a:pt x="15" y="31"/>
                    <a:pt x="15" y="32"/>
                    <a:pt x="15" y="34"/>
                  </a:cubicBezTo>
                  <a:cubicBezTo>
                    <a:pt x="16" y="34"/>
                    <a:pt x="16" y="34"/>
                    <a:pt x="17" y="33"/>
                  </a:cubicBezTo>
                  <a:cubicBezTo>
                    <a:pt x="17" y="33"/>
                    <a:pt x="17" y="33"/>
                    <a:pt x="18" y="33"/>
                  </a:cubicBezTo>
                  <a:cubicBezTo>
                    <a:pt x="18" y="32"/>
                    <a:pt x="18" y="31"/>
                    <a:pt x="18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6" y="30"/>
                    <a:pt x="16" y="30"/>
                    <a:pt x="15" y="30"/>
                  </a:cubicBezTo>
                  <a:close/>
                  <a:moveTo>
                    <a:pt x="15" y="23"/>
                  </a:moveTo>
                  <a:cubicBezTo>
                    <a:pt x="15" y="24"/>
                    <a:pt x="15" y="25"/>
                    <a:pt x="15" y="27"/>
                  </a:cubicBezTo>
                  <a:cubicBezTo>
                    <a:pt x="16" y="27"/>
                    <a:pt x="16" y="26"/>
                    <a:pt x="17" y="26"/>
                  </a:cubicBezTo>
                  <a:cubicBezTo>
                    <a:pt x="17" y="26"/>
                    <a:pt x="17" y="26"/>
                    <a:pt x="18" y="26"/>
                  </a:cubicBezTo>
                  <a:cubicBezTo>
                    <a:pt x="18" y="25"/>
                    <a:pt x="18" y="24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5" y="23"/>
                  </a:cubicBezTo>
                  <a:close/>
                  <a:moveTo>
                    <a:pt x="15" y="37"/>
                  </a:moveTo>
                  <a:cubicBezTo>
                    <a:pt x="15" y="38"/>
                    <a:pt x="15" y="39"/>
                    <a:pt x="15" y="41"/>
                  </a:cubicBezTo>
                  <a:cubicBezTo>
                    <a:pt x="16" y="41"/>
                    <a:pt x="16" y="41"/>
                    <a:pt x="17" y="41"/>
                  </a:cubicBezTo>
                  <a:cubicBezTo>
                    <a:pt x="17" y="41"/>
                    <a:pt x="17" y="41"/>
                    <a:pt x="18" y="40"/>
                  </a:cubicBezTo>
                  <a:cubicBezTo>
                    <a:pt x="18" y="39"/>
                    <a:pt x="18" y="38"/>
                    <a:pt x="18" y="36"/>
                  </a:cubicBezTo>
                  <a:cubicBezTo>
                    <a:pt x="17" y="36"/>
                    <a:pt x="17" y="37"/>
                    <a:pt x="17" y="37"/>
                  </a:cubicBezTo>
                  <a:cubicBezTo>
                    <a:pt x="16" y="37"/>
                    <a:pt x="16" y="37"/>
                    <a:pt x="15" y="37"/>
                  </a:cubicBezTo>
                  <a:close/>
                  <a:moveTo>
                    <a:pt x="15" y="44"/>
                  </a:moveTo>
                  <a:cubicBezTo>
                    <a:pt x="15" y="45"/>
                    <a:pt x="15" y="46"/>
                    <a:pt x="15" y="48"/>
                  </a:cubicBezTo>
                  <a:cubicBezTo>
                    <a:pt x="16" y="48"/>
                    <a:pt x="16" y="48"/>
                    <a:pt x="17" y="48"/>
                  </a:cubicBezTo>
                  <a:cubicBezTo>
                    <a:pt x="17" y="48"/>
                    <a:pt x="17" y="48"/>
                    <a:pt x="18" y="48"/>
                  </a:cubicBezTo>
                  <a:cubicBezTo>
                    <a:pt x="18" y="46"/>
                    <a:pt x="18" y="45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5" y="44"/>
                  </a:cubicBezTo>
                  <a:close/>
                  <a:moveTo>
                    <a:pt x="15" y="51"/>
                  </a:moveTo>
                  <a:cubicBezTo>
                    <a:pt x="15" y="52"/>
                    <a:pt x="15" y="53"/>
                    <a:pt x="15" y="55"/>
                  </a:cubicBezTo>
                  <a:cubicBezTo>
                    <a:pt x="16" y="55"/>
                    <a:pt x="16" y="55"/>
                    <a:pt x="17" y="55"/>
                  </a:cubicBezTo>
                  <a:cubicBezTo>
                    <a:pt x="17" y="55"/>
                    <a:pt x="17" y="55"/>
                    <a:pt x="18" y="55"/>
                  </a:cubicBezTo>
                  <a:cubicBezTo>
                    <a:pt x="18" y="53"/>
                    <a:pt x="18" y="52"/>
                    <a:pt x="18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5" y="51"/>
                  </a:cubicBezTo>
                  <a:close/>
                  <a:moveTo>
                    <a:pt x="11" y="23"/>
                  </a:moveTo>
                  <a:cubicBezTo>
                    <a:pt x="11" y="24"/>
                    <a:pt x="11" y="26"/>
                    <a:pt x="11" y="27"/>
                  </a:cubicBezTo>
                  <a:cubicBezTo>
                    <a:pt x="11" y="27"/>
                    <a:pt x="12" y="27"/>
                    <a:pt x="12" y="27"/>
                  </a:cubicBezTo>
                  <a:cubicBezTo>
                    <a:pt x="12" y="27"/>
                    <a:pt x="13" y="27"/>
                    <a:pt x="13" y="27"/>
                  </a:cubicBezTo>
                  <a:cubicBezTo>
                    <a:pt x="13" y="25"/>
                    <a:pt x="13" y="24"/>
                    <a:pt x="13" y="23"/>
                  </a:cubicBezTo>
                  <a:cubicBezTo>
                    <a:pt x="13" y="23"/>
                    <a:pt x="12" y="23"/>
                    <a:pt x="12" y="23"/>
                  </a:cubicBezTo>
                  <a:cubicBezTo>
                    <a:pt x="12" y="23"/>
                    <a:pt x="11" y="23"/>
                    <a:pt x="11" y="23"/>
                  </a:cubicBezTo>
                  <a:close/>
                  <a:moveTo>
                    <a:pt x="11" y="37"/>
                  </a:moveTo>
                  <a:cubicBezTo>
                    <a:pt x="11" y="38"/>
                    <a:pt x="11" y="40"/>
                    <a:pt x="11" y="41"/>
                  </a:cubicBezTo>
                  <a:cubicBezTo>
                    <a:pt x="11" y="41"/>
                    <a:pt x="12" y="41"/>
                    <a:pt x="12" y="41"/>
                  </a:cubicBezTo>
                  <a:cubicBezTo>
                    <a:pt x="12" y="41"/>
                    <a:pt x="13" y="41"/>
                    <a:pt x="13" y="41"/>
                  </a:cubicBezTo>
                  <a:cubicBezTo>
                    <a:pt x="13" y="39"/>
                    <a:pt x="13" y="38"/>
                    <a:pt x="13" y="37"/>
                  </a:cubicBezTo>
                  <a:cubicBezTo>
                    <a:pt x="13" y="37"/>
                    <a:pt x="12" y="37"/>
                    <a:pt x="12" y="37"/>
                  </a:cubicBezTo>
                  <a:cubicBezTo>
                    <a:pt x="12" y="37"/>
                    <a:pt x="11" y="37"/>
                    <a:pt x="11" y="37"/>
                  </a:cubicBezTo>
                  <a:close/>
                  <a:moveTo>
                    <a:pt x="11" y="44"/>
                  </a:moveTo>
                  <a:cubicBezTo>
                    <a:pt x="11" y="45"/>
                    <a:pt x="11" y="46"/>
                    <a:pt x="11" y="48"/>
                  </a:cubicBezTo>
                  <a:cubicBezTo>
                    <a:pt x="11" y="48"/>
                    <a:pt x="12" y="48"/>
                    <a:pt x="12" y="48"/>
                  </a:cubicBezTo>
                  <a:cubicBezTo>
                    <a:pt x="12" y="48"/>
                    <a:pt x="13" y="48"/>
                    <a:pt x="13" y="48"/>
                  </a:cubicBezTo>
                  <a:cubicBezTo>
                    <a:pt x="13" y="46"/>
                    <a:pt x="13" y="45"/>
                    <a:pt x="13" y="44"/>
                  </a:cubicBezTo>
                  <a:cubicBezTo>
                    <a:pt x="13" y="44"/>
                    <a:pt x="12" y="44"/>
                    <a:pt x="12" y="44"/>
                  </a:cubicBezTo>
                  <a:cubicBezTo>
                    <a:pt x="12" y="44"/>
                    <a:pt x="11" y="44"/>
                    <a:pt x="11" y="44"/>
                  </a:cubicBezTo>
                  <a:close/>
                  <a:moveTo>
                    <a:pt x="11" y="51"/>
                  </a:moveTo>
                  <a:cubicBezTo>
                    <a:pt x="11" y="52"/>
                    <a:pt x="11" y="53"/>
                    <a:pt x="11" y="55"/>
                  </a:cubicBezTo>
                  <a:cubicBezTo>
                    <a:pt x="11" y="55"/>
                    <a:pt x="12" y="55"/>
                    <a:pt x="12" y="55"/>
                  </a:cubicBezTo>
                  <a:cubicBezTo>
                    <a:pt x="12" y="55"/>
                    <a:pt x="13" y="55"/>
                    <a:pt x="13" y="55"/>
                  </a:cubicBezTo>
                  <a:cubicBezTo>
                    <a:pt x="13" y="53"/>
                    <a:pt x="13" y="52"/>
                    <a:pt x="13" y="51"/>
                  </a:cubicBezTo>
                  <a:cubicBezTo>
                    <a:pt x="13" y="51"/>
                    <a:pt x="12" y="51"/>
                    <a:pt x="12" y="51"/>
                  </a:cubicBezTo>
                  <a:cubicBezTo>
                    <a:pt x="12" y="51"/>
                    <a:pt x="11" y="51"/>
                    <a:pt x="11" y="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TextBox 14"/>
            <p:cNvSpPr txBox="1"/>
            <p:nvPr/>
          </p:nvSpPr>
          <p:spPr>
            <a:xfrm>
              <a:off x="818652" y="5486400"/>
              <a:ext cx="2289139" cy="451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id-ID" sz="900" dirty="0">
                  <a:solidFill>
                    <a:prstClr val="black">
                      <a:lumMod val="50000"/>
                      <a:lumOff val="50000"/>
                    </a:prstClr>
                  </a:solidFill>
                  <a:cs typeface="+mn-ea"/>
                  <a:sym typeface="+mn-lt"/>
                  <a:latin typeface="微软雅黑"/>
                </a:rPr>
                <a:t>开发板 SSH 在密钥交换阶段断开，最新改动尚未同步复测。</a:t>
              </a:r>
              <a:endParaRPr lang="en-US" sz="800" b="1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endParaRPr>
            </a:p>
          </p:txBody>
        </p:sp>
        <p:sp>
          <p:nvSpPr>
            <p:cNvPr id="117" name="TextBox 15"/>
            <p:cNvSpPr txBox="1"/>
            <p:nvPr/>
          </p:nvSpPr>
          <p:spPr>
            <a:xfrm>
              <a:off x="818652" y="5226130"/>
              <a:ext cx="2032894" cy="507889"/>
            </a:xfrm>
            <a:prstGeom prst="rect">
              <a:avLst/>
            </a:prstGeom>
            <a:noFill/>
          </p:spPr>
          <p:txBody>
            <a:bodyPr wrap="none"/>
            <a:lstStyle/>
            <a:p>
              <a:pPr>
                <a:defRPr/>
              </a:pPr>
              <a:r>
                <a:rPr lang="id-ID" sz="1200" b="1" dirty="0">
                  <a:solidFill>
                    <a:srgbClr val="413C42"/>
                  </a:solidFill>
                  <a:cs typeface="+mn-ea"/>
                  <a:sym typeface="+mn-lt"/>
                  <a:latin typeface="微软雅黑"/>
                </a:rPr>
                <a:t>板端同步未完成</a:t>
              </a:r>
            </a:p>
          </p:txBody>
        </p:sp>
      </p:grpSp>
      <p:cxnSp>
        <p:nvCxnSpPr>
          <p:cNvPr id="118" name="直接连接符 117"/>
          <p:cNvCxnSpPr/>
          <p:nvPr/>
        </p:nvCxnSpPr>
        <p:spPr>
          <a:xfrm>
            <a:off x="793669" y="1626848"/>
            <a:ext cx="7601069" cy="0"/>
          </a:xfrm>
          <a:prstGeom prst="line">
            <a:avLst/>
          </a:prstGeom>
          <a:noFill/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9" name="组合 118"/>
          <p:cNvGrpSpPr/>
          <p:nvPr/>
        </p:nvGrpSpPr>
        <p:grpSpPr>
          <a:xfrm>
            <a:off x="2738720" y="2437330"/>
            <a:ext cx="1751468" cy="1735373"/>
            <a:chOff x="3581323" y="3721210"/>
            <a:chExt cx="2335290" cy="2313831"/>
          </a:xfrm>
        </p:grpSpPr>
        <p:grpSp>
          <p:nvGrpSpPr>
            <p:cNvPr id="120" name="组合 119"/>
            <p:cNvGrpSpPr/>
            <p:nvPr/>
          </p:nvGrpSpPr>
          <p:grpSpPr>
            <a:xfrm>
              <a:off x="3581323" y="3721210"/>
              <a:ext cx="2335290" cy="2313831"/>
              <a:chOff x="772501" y="3721210"/>
              <a:chExt cx="2335290" cy="2313831"/>
            </a:xfrm>
          </p:grpSpPr>
          <p:sp>
            <p:nvSpPr>
              <p:cNvPr id="122" name="矩形 121"/>
              <p:cNvSpPr/>
              <p:nvPr/>
            </p:nvSpPr>
            <p:spPr>
              <a:xfrm>
                <a:off x="772501" y="3721210"/>
                <a:ext cx="2335290" cy="136355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72501" y="5077199"/>
                <a:ext cx="2335290" cy="957842"/>
              </a:xfrm>
              <a:prstGeom prst="rect">
                <a:avLst/>
              </a:prstGeom>
              <a:solidFill>
                <a:srgbClr val="E4E4E4">
                  <a:alpha val="45000"/>
                </a:srgb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TextBox 14"/>
              <p:cNvSpPr txBox="1"/>
              <p:nvPr/>
            </p:nvSpPr>
            <p:spPr>
              <a:xfrm>
                <a:off x="818652" y="5486400"/>
                <a:ext cx="2289139" cy="451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id-ID" sz="9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cs typeface="+mn-ea"/>
                    <a:sym typeface="+mn-lt"/>
                    <a:latin typeface="微软雅黑"/>
                  </a:rPr>
                  <a:t>当前用串口风扇模拟开锁，真实继电器需有人看护并可断电。</a:t>
                </a:r>
                <a:endParaRPr lang="en-US" sz="800" b="1" dirty="0">
                  <a:solidFill>
                    <a:prstClr val="black">
                      <a:lumMod val="50000"/>
                      <a:lumOff val="50000"/>
                    </a:prst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5" name="TextBox 15"/>
              <p:cNvSpPr txBox="1"/>
              <p:nvPr/>
            </p:nvSpPr>
            <p:spPr>
              <a:xfrm>
                <a:off x="818652" y="5226130"/>
                <a:ext cx="2032894" cy="507889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>
                  <a:defRPr/>
                </a:pPr>
                <a:r>
                  <a:rPr lang="id-ID" sz="1200" b="1" dirty="0">
                    <a:solidFill>
                      <a:srgbClr val="413C42"/>
                    </a:solidFill>
                    <a:cs typeface="+mn-ea"/>
                    <a:sym typeface="+mn-lt"/>
                    <a:latin typeface="微软雅黑"/>
                  </a:rPr>
                  <a:t>执行器仍为模拟</a:t>
                </a:r>
              </a:p>
            </p:txBody>
          </p:sp>
        </p:grpSp>
        <p:sp>
          <p:nvSpPr>
            <p:cNvPr id="121" name="Freeform 176"/>
            <p:cNvSpPr>
              <a:spLocks noEditPoints="1"/>
            </p:cNvSpPr>
            <p:nvPr/>
          </p:nvSpPr>
          <p:spPr bwMode="auto">
            <a:xfrm>
              <a:off x="4562860" y="4282887"/>
              <a:ext cx="381517" cy="312964"/>
            </a:xfrm>
            <a:custGeom>
              <a:avLst/>
              <a:gdLst>
                <a:gd name="T0" fmla="*/ 112 w 128"/>
                <a:gd name="T1" fmla="*/ 2 h 105"/>
                <a:gd name="T2" fmla="*/ 107 w 128"/>
                <a:gd name="T3" fmla="*/ 23 h 105"/>
                <a:gd name="T4" fmla="*/ 99 w 128"/>
                <a:gd name="T5" fmla="*/ 2 h 105"/>
                <a:gd name="T6" fmla="*/ 112 w 128"/>
                <a:gd name="T7" fmla="*/ 46 h 105"/>
                <a:gd name="T8" fmla="*/ 99 w 128"/>
                <a:gd name="T9" fmla="*/ 105 h 105"/>
                <a:gd name="T10" fmla="*/ 107 w 128"/>
                <a:gd name="T11" fmla="*/ 42 h 105"/>
                <a:gd name="T12" fmla="*/ 112 w 128"/>
                <a:gd name="T13" fmla="*/ 46 h 105"/>
                <a:gd name="T14" fmla="*/ 128 w 128"/>
                <a:gd name="T15" fmla="*/ 0 h 105"/>
                <a:gd name="T16" fmla="*/ 114 w 128"/>
                <a:gd name="T17" fmla="*/ 105 h 105"/>
                <a:gd name="T18" fmla="*/ 118 w 128"/>
                <a:gd name="T19" fmla="*/ 33 h 105"/>
                <a:gd name="T20" fmla="*/ 114 w 128"/>
                <a:gd name="T21" fmla="*/ 21 h 105"/>
                <a:gd name="T22" fmla="*/ 114 w 128"/>
                <a:gd name="T23" fmla="*/ 0 h 105"/>
                <a:gd name="T24" fmla="*/ 95 w 128"/>
                <a:gd name="T25" fmla="*/ 15 h 105"/>
                <a:gd name="T26" fmla="*/ 93 w 128"/>
                <a:gd name="T27" fmla="*/ 27 h 105"/>
                <a:gd name="T28" fmla="*/ 95 w 128"/>
                <a:gd name="T29" fmla="*/ 38 h 105"/>
                <a:gd name="T30" fmla="*/ 82 w 128"/>
                <a:gd name="T31" fmla="*/ 15 h 105"/>
                <a:gd name="T32" fmla="*/ 95 w 128"/>
                <a:gd name="T33" fmla="*/ 57 h 105"/>
                <a:gd name="T34" fmla="*/ 82 w 128"/>
                <a:gd name="T35" fmla="*/ 105 h 105"/>
                <a:gd name="T36" fmla="*/ 95 w 128"/>
                <a:gd name="T37" fmla="*/ 57 h 105"/>
                <a:gd name="T38" fmla="*/ 65 w 128"/>
                <a:gd name="T39" fmla="*/ 23 h 105"/>
                <a:gd name="T40" fmla="*/ 80 w 128"/>
                <a:gd name="T41" fmla="*/ 54 h 105"/>
                <a:gd name="T42" fmla="*/ 72 w 128"/>
                <a:gd name="T43" fmla="*/ 57 h 105"/>
                <a:gd name="T44" fmla="*/ 65 w 128"/>
                <a:gd name="T45" fmla="*/ 52 h 105"/>
                <a:gd name="T46" fmla="*/ 65 w 128"/>
                <a:gd name="T47" fmla="*/ 23 h 105"/>
                <a:gd name="T48" fmla="*/ 80 w 128"/>
                <a:gd name="T49" fmla="*/ 105 h 105"/>
                <a:gd name="T50" fmla="*/ 65 w 128"/>
                <a:gd name="T51" fmla="*/ 71 h 105"/>
                <a:gd name="T52" fmla="*/ 72 w 128"/>
                <a:gd name="T53" fmla="*/ 80 h 105"/>
                <a:gd name="T54" fmla="*/ 80 w 128"/>
                <a:gd name="T55" fmla="*/ 73 h 105"/>
                <a:gd name="T56" fmla="*/ 49 w 128"/>
                <a:gd name="T57" fmla="*/ 33 h 105"/>
                <a:gd name="T58" fmla="*/ 63 w 128"/>
                <a:gd name="T59" fmla="*/ 54 h 105"/>
                <a:gd name="T60" fmla="*/ 49 w 128"/>
                <a:gd name="T61" fmla="*/ 63 h 105"/>
                <a:gd name="T62" fmla="*/ 49 w 128"/>
                <a:gd name="T63" fmla="*/ 33 h 105"/>
                <a:gd name="T64" fmla="*/ 63 w 128"/>
                <a:gd name="T65" fmla="*/ 105 h 105"/>
                <a:gd name="T66" fmla="*/ 49 w 128"/>
                <a:gd name="T67" fmla="*/ 78 h 105"/>
                <a:gd name="T68" fmla="*/ 63 w 128"/>
                <a:gd name="T69" fmla="*/ 69 h 105"/>
                <a:gd name="T70" fmla="*/ 47 w 128"/>
                <a:gd name="T71" fmla="*/ 42 h 105"/>
                <a:gd name="T72" fmla="*/ 38 w 128"/>
                <a:gd name="T73" fmla="*/ 71 h 105"/>
                <a:gd name="T74" fmla="*/ 34 w 128"/>
                <a:gd name="T75" fmla="*/ 42 h 105"/>
                <a:gd name="T76" fmla="*/ 47 w 128"/>
                <a:gd name="T77" fmla="*/ 80 h 105"/>
                <a:gd name="T78" fmla="*/ 34 w 128"/>
                <a:gd name="T79" fmla="*/ 105 h 105"/>
                <a:gd name="T80" fmla="*/ 36 w 128"/>
                <a:gd name="T81" fmla="*/ 86 h 105"/>
                <a:gd name="T82" fmla="*/ 47 w 128"/>
                <a:gd name="T83" fmla="*/ 80 h 105"/>
                <a:gd name="T84" fmla="*/ 17 w 128"/>
                <a:gd name="T85" fmla="*/ 36 h 105"/>
                <a:gd name="T86" fmla="*/ 32 w 128"/>
                <a:gd name="T87" fmla="*/ 63 h 105"/>
                <a:gd name="T88" fmla="*/ 28 w 128"/>
                <a:gd name="T89" fmla="*/ 61 h 105"/>
                <a:gd name="T90" fmla="*/ 17 w 128"/>
                <a:gd name="T91" fmla="*/ 65 h 105"/>
                <a:gd name="T92" fmla="*/ 17 w 128"/>
                <a:gd name="T93" fmla="*/ 36 h 105"/>
                <a:gd name="T94" fmla="*/ 32 w 128"/>
                <a:gd name="T95" fmla="*/ 105 h 105"/>
                <a:gd name="T96" fmla="*/ 17 w 128"/>
                <a:gd name="T97" fmla="*/ 80 h 105"/>
                <a:gd name="T98" fmla="*/ 32 w 128"/>
                <a:gd name="T99" fmla="*/ 82 h 105"/>
                <a:gd name="T100" fmla="*/ 0 w 128"/>
                <a:gd name="T101" fmla="*/ 48 h 105"/>
                <a:gd name="T102" fmla="*/ 15 w 128"/>
                <a:gd name="T103" fmla="*/ 67 h 105"/>
                <a:gd name="T104" fmla="*/ 13 w 128"/>
                <a:gd name="T105" fmla="*/ 84 h 105"/>
                <a:gd name="T106" fmla="*/ 15 w 128"/>
                <a:gd name="T107" fmla="*/ 105 h 105"/>
                <a:gd name="T108" fmla="*/ 0 w 128"/>
                <a:gd name="T109" fmla="*/ 48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8" h="105">
                  <a:moveTo>
                    <a:pt x="99" y="2"/>
                  </a:moveTo>
                  <a:lnTo>
                    <a:pt x="112" y="2"/>
                  </a:lnTo>
                  <a:lnTo>
                    <a:pt x="112" y="21"/>
                  </a:lnTo>
                  <a:lnTo>
                    <a:pt x="107" y="23"/>
                  </a:lnTo>
                  <a:lnTo>
                    <a:pt x="99" y="25"/>
                  </a:lnTo>
                  <a:lnTo>
                    <a:pt x="99" y="2"/>
                  </a:lnTo>
                  <a:lnTo>
                    <a:pt x="99" y="2"/>
                  </a:lnTo>
                  <a:close/>
                  <a:moveTo>
                    <a:pt x="112" y="46"/>
                  </a:moveTo>
                  <a:lnTo>
                    <a:pt x="112" y="105"/>
                  </a:lnTo>
                  <a:lnTo>
                    <a:pt x="99" y="105"/>
                  </a:lnTo>
                  <a:lnTo>
                    <a:pt x="99" y="52"/>
                  </a:lnTo>
                  <a:lnTo>
                    <a:pt x="107" y="42"/>
                  </a:lnTo>
                  <a:lnTo>
                    <a:pt x="112" y="46"/>
                  </a:lnTo>
                  <a:lnTo>
                    <a:pt x="112" y="46"/>
                  </a:lnTo>
                  <a:close/>
                  <a:moveTo>
                    <a:pt x="114" y="0"/>
                  </a:moveTo>
                  <a:lnTo>
                    <a:pt x="128" y="0"/>
                  </a:lnTo>
                  <a:lnTo>
                    <a:pt x="128" y="105"/>
                  </a:lnTo>
                  <a:lnTo>
                    <a:pt x="114" y="105"/>
                  </a:lnTo>
                  <a:lnTo>
                    <a:pt x="114" y="44"/>
                  </a:lnTo>
                  <a:lnTo>
                    <a:pt x="118" y="33"/>
                  </a:lnTo>
                  <a:lnTo>
                    <a:pt x="120" y="19"/>
                  </a:lnTo>
                  <a:lnTo>
                    <a:pt x="114" y="21"/>
                  </a:lnTo>
                  <a:lnTo>
                    <a:pt x="114" y="0"/>
                  </a:lnTo>
                  <a:lnTo>
                    <a:pt x="114" y="0"/>
                  </a:lnTo>
                  <a:close/>
                  <a:moveTo>
                    <a:pt x="82" y="15"/>
                  </a:moveTo>
                  <a:lnTo>
                    <a:pt x="95" y="15"/>
                  </a:lnTo>
                  <a:lnTo>
                    <a:pt x="95" y="27"/>
                  </a:lnTo>
                  <a:lnTo>
                    <a:pt x="93" y="27"/>
                  </a:lnTo>
                  <a:lnTo>
                    <a:pt x="95" y="31"/>
                  </a:lnTo>
                  <a:lnTo>
                    <a:pt x="95" y="38"/>
                  </a:lnTo>
                  <a:lnTo>
                    <a:pt x="82" y="50"/>
                  </a:lnTo>
                  <a:lnTo>
                    <a:pt x="82" y="15"/>
                  </a:lnTo>
                  <a:lnTo>
                    <a:pt x="82" y="15"/>
                  </a:lnTo>
                  <a:close/>
                  <a:moveTo>
                    <a:pt x="95" y="57"/>
                  </a:moveTo>
                  <a:lnTo>
                    <a:pt x="95" y="105"/>
                  </a:lnTo>
                  <a:lnTo>
                    <a:pt x="82" y="105"/>
                  </a:lnTo>
                  <a:lnTo>
                    <a:pt x="82" y="69"/>
                  </a:lnTo>
                  <a:lnTo>
                    <a:pt x="95" y="57"/>
                  </a:lnTo>
                  <a:lnTo>
                    <a:pt x="95" y="57"/>
                  </a:lnTo>
                  <a:close/>
                  <a:moveTo>
                    <a:pt x="65" y="23"/>
                  </a:moveTo>
                  <a:lnTo>
                    <a:pt x="80" y="23"/>
                  </a:lnTo>
                  <a:lnTo>
                    <a:pt x="80" y="54"/>
                  </a:lnTo>
                  <a:lnTo>
                    <a:pt x="74" y="61"/>
                  </a:lnTo>
                  <a:lnTo>
                    <a:pt x="72" y="57"/>
                  </a:lnTo>
                  <a:lnTo>
                    <a:pt x="68" y="52"/>
                  </a:lnTo>
                  <a:lnTo>
                    <a:pt x="65" y="52"/>
                  </a:lnTo>
                  <a:lnTo>
                    <a:pt x="65" y="23"/>
                  </a:lnTo>
                  <a:lnTo>
                    <a:pt x="65" y="23"/>
                  </a:lnTo>
                  <a:close/>
                  <a:moveTo>
                    <a:pt x="80" y="73"/>
                  </a:moveTo>
                  <a:lnTo>
                    <a:pt x="80" y="105"/>
                  </a:lnTo>
                  <a:lnTo>
                    <a:pt x="65" y="105"/>
                  </a:lnTo>
                  <a:lnTo>
                    <a:pt x="65" y="71"/>
                  </a:lnTo>
                  <a:lnTo>
                    <a:pt x="68" y="73"/>
                  </a:lnTo>
                  <a:lnTo>
                    <a:pt x="72" y="80"/>
                  </a:lnTo>
                  <a:lnTo>
                    <a:pt x="78" y="73"/>
                  </a:lnTo>
                  <a:lnTo>
                    <a:pt x="80" y="73"/>
                  </a:lnTo>
                  <a:lnTo>
                    <a:pt x="80" y="73"/>
                  </a:lnTo>
                  <a:close/>
                  <a:moveTo>
                    <a:pt x="49" y="33"/>
                  </a:moveTo>
                  <a:lnTo>
                    <a:pt x="63" y="33"/>
                  </a:lnTo>
                  <a:lnTo>
                    <a:pt x="63" y="54"/>
                  </a:lnTo>
                  <a:lnTo>
                    <a:pt x="61" y="54"/>
                  </a:lnTo>
                  <a:lnTo>
                    <a:pt x="49" y="63"/>
                  </a:lnTo>
                  <a:lnTo>
                    <a:pt x="49" y="33"/>
                  </a:lnTo>
                  <a:lnTo>
                    <a:pt x="49" y="33"/>
                  </a:lnTo>
                  <a:close/>
                  <a:moveTo>
                    <a:pt x="63" y="69"/>
                  </a:moveTo>
                  <a:lnTo>
                    <a:pt x="63" y="105"/>
                  </a:lnTo>
                  <a:lnTo>
                    <a:pt x="49" y="105"/>
                  </a:lnTo>
                  <a:lnTo>
                    <a:pt x="49" y="78"/>
                  </a:lnTo>
                  <a:lnTo>
                    <a:pt x="63" y="69"/>
                  </a:lnTo>
                  <a:lnTo>
                    <a:pt x="63" y="69"/>
                  </a:lnTo>
                  <a:close/>
                  <a:moveTo>
                    <a:pt x="34" y="42"/>
                  </a:moveTo>
                  <a:lnTo>
                    <a:pt x="47" y="42"/>
                  </a:lnTo>
                  <a:lnTo>
                    <a:pt x="47" y="65"/>
                  </a:lnTo>
                  <a:lnTo>
                    <a:pt x="38" y="71"/>
                  </a:lnTo>
                  <a:lnTo>
                    <a:pt x="34" y="67"/>
                  </a:lnTo>
                  <a:lnTo>
                    <a:pt x="34" y="42"/>
                  </a:lnTo>
                  <a:lnTo>
                    <a:pt x="34" y="42"/>
                  </a:lnTo>
                  <a:close/>
                  <a:moveTo>
                    <a:pt x="47" y="80"/>
                  </a:moveTo>
                  <a:lnTo>
                    <a:pt x="47" y="105"/>
                  </a:lnTo>
                  <a:lnTo>
                    <a:pt x="34" y="105"/>
                  </a:lnTo>
                  <a:lnTo>
                    <a:pt x="34" y="84"/>
                  </a:lnTo>
                  <a:lnTo>
                    <a:pt x="36" y="86"/>
                  </a:lnTo>
                  <a:lnTo>
                    <a:pt x="40" y="84"/>
                  </a:lnTo>
                  <a:lnTo>
                    <a:pt x="47" y="80"/>
                  </a:lnTo>
                  <a:lnTo>
                    <a:pt x="47" y="80"/>
                  </a:lnTo>
                  <a:close/>
                  <a:moveTo>
                    <a:pt x="17" y="36"/>
                  </a:moveTo>
                  <a:lnTo>
                    <a:pt x="32" y="36"/>
                  </a:lnTo>
                  <a:lnTo>
                    <a:pt x="32" y="63"/>
                  </a:lnTo>
                  <a:lnTo>
                    <a:pt x="30" y="63"/>
                  </a:lnTo>
                  <a:lnTo>
                    <a:pt x="28" y="61"/>
                  </a:lnTo>
                  <a:lnTo>
                    <a:pt x="23" y="63"/>
                  </a:lnTo>
                  <a:lnTo>
                    <a:pt x="17" y="65"/>
                  </a:lnTo>
                  <a:lnTo>
                    <a:pt x="17" y="36"/>
                  </a:lnTo>
                  <a:lnTo>
                    <a:pt x="17" y="36"/>
                  </a:lnTo>
                  <a:close/>
                  <a:moveTo>
                    <a:pt x="32" y="82"/>
                  </a:moveTo>
                  <a:lnTo>
                    <a:pt x="32" y="105"/>
                  </a:lnTo>
                  <a:lnTo>
                    <a:pt x="17" y="105"/>
                  </a:lnTo>
                  <a:lnTo>
                    <a:pt x="17" y="80"/>
                  </a:lnTo>
                  <a:lnTo>
                    <a:pt x="26" y="75"/>
                  </a:lnTo>
                  <a:lnTo>
                    <a:pt x="32" y="82"/>
                  </a:lnTo>
                  <a:lnTo>
                    <a:pt x="32" y="82"/>
                  </a:lnTo>
                  <a:close/>
                  <a:moveTo>
                    <a:pt x="0" y="48"/>
                  </a:moveTo>
                  <a:lnTo>
                    <a:pt x="15" y="48"/>
                  </a:lnTo>
                  <a:lnTo>
                    <a:pt x="15" y="67"/>
                  </a:lnTo>
                  <a:lnTo>
                    <a:pt x="7" y="71"/>
                  </a:lnTo>
                  <a:lnTo>
                    <a:pt x="13" y="84"/>
                  </a:lnTo>
                  <a:lnTo>
                    <a:pt x="15" y="82"/>
                  </a:lnTo>
                  <a:lnTo>
                    <a:pt x="15" y="105"/>
                  </a:lnTo>
                  <a:lnTo>
                    <a:pt x="0" y="105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4690995" y="2437330"/>
            <a:ext cx="1751468" cy="1735373"/>
            <a:chOff x="6192089" y="3721210"/>
            <a:chExt cx="2335290" cy="2313831"/>
          </a:xfrm>
        </p:grpSpPr>
        <p:sp>
          <p:nvSpPr>
            <p:cNvPr id="127" name="矩形 126"/>
            <p:cNvSpPr/>
            <p:nvPr/>
          </p:nvSpPr>
          <p:spPr>
            <a:xfrm>
              <a:off x="6192089" y="3721210"/>
              <a:ext cx="2335290" cy="1363554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6192089" y="5077199"/>
              <a:ext cx="2335290" cy="957842"/>
            </a:xfrm>
            <a:prstGeom prst="rect">
              <a:avLst/>
            </a:prstGeom>
            <a:solidFill>
              <a:srgbClr val="E4E4E4">
                <a:alpha val="4500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9" name="TextBox 14"/>
            <p:cNvSpPr txBox="1"/>
            <p:nvPr/>
          </p:nvSpPr>
          <p:spPr>
            <a:xfrm>
              <a:off x="6238240" y="5486400"/>
              <a:ext cx="2289139" cy="451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id-ID" sz="900" dirty="0">
                  <a:solidFill>
                    <a:prstClr val="black">
                      <a:lumMod val="50000"/>
                      <a:lumOff val="50000"/>
                    </a:prstClr>
                  </a:solidFill>
                  <a:cs typeface="+mn-ea"/>
                  <a:sym typeface="+mn-lt"/>
                  <a:latin typeface="微软雅黑"/>
                </a:rPr>
                <a:t>断网时硬件认证可运行，agent_confirm 对话开门不可用。</a:t>
              </a:r>
              <a:endParaRPr lang="en-US" sz="800" b="1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endParaRPr>
            </a:p>
          </p:txBody>
        </p:sp>
        <p:sp>
          <p:nvSpPr>
            <p:cNvPr id="130" name="TextBox 15"/>
            <p:cNvSpPr txBox="1"/>
            <p:nvPr/>
          </p:nvSpPr>
          <p:spPr>
            <a:xfrm>
              <a:off x="6238240" y="5226130"/>
              <a:ext cx="2032894" cy="507889"/>
            </a:xfrm>
            <a:prstGeom prst="rect">
              <a:avLst/>
            </a:prstGeom>
            <a:noFill/>
          </p:spPr>
          <p:txBody>
            <a:bodyPr wrap="none"/>
            <a:lstStyle/>
            <a:p>
              <a:pPr>
                <a:defRPr/>
              </a:pPr>
              <a:r>
                <a:rPr lang="id-ID" sz="1200" b="1" dirty="0">
                  <a:solidFill>
                    <a:srgbClr val="413C42"/>
                  </a:solidFill>
                  <a:cs typeface="+mn-ea"/>
                  <a:sym typeface="+mn-lt"/>
                  <a:latin typeface="微软雅黑"/>
                </a:rPr>
                <a:t>DeepSeek 依赖网络</a:t>
              </a:r>
            </a:p>
          </p:txBody>
        </p:sp>
        <p:sp>
          <p:nvSpPr>
            <p:cNvPr id="131" name="Freeform 105"/>
            <p:cNvSpPr>
              <a:spLocks noEditPoints="1"/>
            </p:cNvSpPr>
            <p:nvPr/>
          </p:nvSpPr>
          <p:spPr bwMode="auto">
            <a:xfrm>
              <a:off x="7119816" y="4304750"/>
              <a:ext cx="479836" cy="282761"/>
            </a:xfrm>
            <a:custGeom>
              <a:avLst/>
              <a:gdLst>
                <a:gd name="T0" fmla="*/ 58 w 80"/>
                <a:gd name="T1" fmla="*/ 7 h 47"/>
                <a:gd name="T2" fmla="*/ 61 w 80"/>
                <a:gd name="T3" fmla="*/ 6 h 47"/>
                <a:gd name="T4" fmla="*/ 66 w 80"/>
                <a:gd name="T5" fmla="*/ 14 h 47"/>
                <a:gd name="T6" fmla="*/ 74 w 80"/>
                <a:gd name="T7" fmla="*/ 19 h 47"/>
                <a:gd name="T8" fmla="*/ 73 w 80"/>
                <a:gd name="T9" fmla="*/ 22 h 47"/>
                <a:gd name="T10" fmla="*/ 80 w 80"/>
                <a:gd name="T11" fmla="*/ 39 h 47"/>
                <a:gd name="T12" fmla="*/ 77 w 80"/>
                <a:gd name="T13" fmla="*/ 41 h 47"/>
                <a:gd name="T14" fmla="*/ 71 w 80"/>
                <a:gd name="T15" fmla="*/ 41 h 47"/>
                <a:gd name="T16" fmla="*/ 73 w 80"/>
                <a:gd name="T17" fmla="*/ 39 h 47"/>
                <a:gd name="T18" fmla="*/ 67 w 80"/>
                <a:gd name="T19" fmla="*/ 25 h 47"/>
                <a:gd name="T20" fmla="*/ 59 w 80"/>
                <a:gd name="T21" fmla="*/ 39 h 47"/>
                <a:gd name="T22" fmla="*/ 67 w 80"/>
                <a:gd name="T23" fmla="*/ 25 h 47"/>
                <a:gd name="T24" fmla="*/ 68 w 80"/>
                <a:gd name="T25" fmla="*/ 23 h 47"/>
                <a:gd name="T26" fmla="*/ 57 w 80"/>
                <a:gd name="T27" fmla="*/ 12 h 47"/>
                <a:gd name="T28" fmla="*/ 62 w 80"/>
                <a:gd name="T29" fmla="*/ 18 h 47"/>
                <a:gd name="T30" fmla="*/ 56 w 80"/>
                <a:gd name="T31" fmla="*/ 29 h 47"/>
                <a:gd name="T32" fmla="*/ 50 w 80"/>
                <a:gd name="T33" fmla="*/ 24 h 47"/>
                <a:gd name="T34" fmla="*/ 55 w 80"/>
                <a:gd name="T35" fmla="*/ 13 h 47"/>
                <a:gd name="T36" fmla="*/ 41 w 80"/>
                <a:gd name="T37" fmla="*/ 7 h 47"/>
                <a:gd name="T38" fmla="*/ 39 w 80"/>
                <a:gd name="T39" fmla="*/ 9 h 47"/>
                <a:gd name="T40" fmla="*/ 24 w 80"/>
                <a:gd name="T41" fmla="*/ 11 h 47"/>
                <a:gd name="T42" fmla="*/ 39 w 80"/>
                <a:gd name="T43" fmla="*/ 9 h 47"/>
                <a:gd name="T44" fmla="*/ 31 w 80"/>
                <a:gd name="T45" fmla="*/ 23 h 47"/>
                <a:gd name="T46" fmla="*/ 24 w 80"/>
                <a:gd name="T47" fmla="*/ 14 h 47"/>
                <a:gd name="T48" fmla="*/ 17 w 80"/>
                <a:gd name="T49" fmla="*/ 17 h 47"/>
                <a:gd name="T50" fmla="*/ 14 w 80"/>
                <a:gd name="T51" fmla="*/ 24 h 47"/>
                <a:gd name="T52" fmla="*/ 24 w 80"/>
                <a:gd name="T53" fmla="*/ 14 h 47"/>
                <a:gd name="T54" fmla="*/ 28 w 80"/>
                <a:gd name="T55" fmla="*/ 25 h 47"/>
                <a:gd name="T56" fmla="*/ 20 w 80"/>
                <a:gd name="T57" fmla="*/ 22 h 47"/>
                <a:gd name="T58" fmla="*/ 23 w 80"/>
                <a:gd name="T59" fmla="*/ 29 h 47"/>
                <a:gd name="T60" fmla="*/ 13 w 80"/>
                <a:gd name="T61" fmla="*/ 25 h 47"/>
                <a:gd name="T62" fmla="*/ 7 w 80"/>
                <a:gd name="T63" fmla="*/ 39 h 47"/>
                <a:gd name="T64" fmla="*/ 9 w 80"/>
                <a:gd name="T65" fmla="*/ 41 h 47"/>
                <a:gd name="T66" fmla="*/ 3 w 80"/>
                <a:gd name="T67" fmla="*/ 41 h 47"/>
                <a:gd name="T68" fmla="*/ 0 w 80"/>
                <a:gd name="T69" fmla="*/ 39 h 47"/>
                <a:gd name="T70" fmla="*/ 7 w 80"/>
                <a:gd name="T71" fmla="*/ 22 h 47"/>
                <a:gd name="T72" fmla="*/ 6 w 80"/>
                <a:gd name="T73" fmla="*/ 19 h 47"/>
                <a:gd name="T74" fmla="*/ 14 w 80"/>
                <a:gd name="T75" fmla="*/ 14 h 47"/>
                <a:gd name="T76" fmla="*/ 19 w 80"/>
                <a:gd name="T77" fmla="*/ 6 h 47"/>
                <a:gd name="T78" fmla="*/ 22 w 80"/>
                <a:gd name="T79" fmla="*/ 7 h 47"/>
                <a:gd name="T80" fmla="*/ 39 w 80"/>
                <a:gd name="T81" fmla="*/ 0 h 47"/>
                <a:gd name="T82" fmla="*/ 41 w 80"/>
                <a:gd name="T83" fmla="*/ 3 h 47"/>
                <a:gd name="T84" fmla="*/ 33 w 80"/>
                <a:gd name="T85" fmla="*/ 40 h 47"/>
                <a:gd name="T86" fmla="*/ 40 w 80"/>
                <a:gd name="T87" fmla="*/ 47 h 47"/>
                <a:gd name="T88" fmla="*/ 45 w 80"/>
                <a:gd name="T89" fmla="*/ 45 h 47"/>
                <a:gd name="T90" fmla="*/ 47 w 80"/>
                <a:gd name="T91" fmla="*/ 39 h 47"/>
                <a:gd name="T92" fmla="*/ 45 w 80"/>
                <a:gd name="T93" fmla="*/ 34 h 47"/>
                <a:gd name="T94" fmla="*/ 39 w 80"/>
                <a:gd name="T95" fmla="*/ 33 h 47"/>
                <a:gd name="T96" fmla="*/ 24 w 80"/>
                <a:gd name="T97" fmla="*/ 23 h 47"/>
                <a:gd name="T98" fmla="*/ 22 w 80"/>
                <a:gd name="T99" fmla="*/ 26 h 47"/>
                <a:gd name="T100" fmla="*/ 40 w 80"/>
                <a:gd name="T101" fmla="*/ 37 h 47"/>
                <a:gd name="T102" fmla="*/ 37 w 80"/>
                <a:gd name="T103" fmla="*/ 40 h 47"/>
                <a:gd name="T104" fmla="*/ 40 w 80"/>
                <a:gd name="T105" fmla="*/ 43 h 47"/>
                <a:gd name="T106" fmla="*/ 42 w 80"/>
                <a:gd name="T107" fmla="*/ 42 h 47"/>
                <a:gd name="T108" fmla="*/ 43 w 80"/>
                <a:gd name="T109" fmla="*/ 40 h 47"/>
                <a:gd name="T110" fmla="*/ 40 w 80"/>
                <a:gd name="T111" fmla="*/ 37 h 47"/>
                <a:gd name="T112" fmla="*/ 41 w 80"/>
                <a:gd name="T113" fmla="*/ 9 h 47"/>
                <a:gd name="T114" fmla="*/ 49 w 80"/>
                <a:gd name="T115" fmla="*/ 23 h 47"/>
                <a:gd name="T116" fmla="*/ 41 w 80"/>
                <a:gd name="T117" fmla="*/ 9 h 47"/>
                <a:gd name="T118" fmla="*/ 13 w 80"/>
                <a:gd name="T119" fmla="*/ 25 h 47"/>
                <a:gd name="T120" fmla="*/ 21 w 80"/>
                <a:gd name="T121" fmla="*/ 3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0" h="47">
                  <a:moveTo>
                    <a:pt x="41" y="3"/>
                  </a:moveTo>
                  <a:cubicBezTo>
                    <a:pt x="47" y="3"/>
                    <a:pt x="53" y="5"/>
                    <a:pt x="58" y="7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2" y="10"/>
                    <a:pt x="64" y="12"/>
                    <a:pt x="66" y="14"/>
                  </a:cubicBezTo>
                  <a:cubicBezTo>
                    <a:pt x="68" y="16"/>
                    <a:pt x="70" y="18"/>
                    <a:pt x="72" y="20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5" y="27"/>
                    <a:pt x="77" y="33"/>
                    <a:pt x="77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77" y="41"/>
                    <a:pt x="77" y="41"/>
                    <a:pt x="77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34"/>
                    <a:pt x="71" y="29"/>
                    <a:pt x="69" y="24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9" y="29"/>
                    <a:pt x="71" y="34"/>
                    <a:pt x="71" y="39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59" y="36"/>
                    <a:pt x="58" y="33"/>
                    <a:pt x="57" y="31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7" y="20"/>
                    <a:pt x="65" y="18"/>
                    <a:pt x="63" y="17"/>
                  </a:cubicBezTo>
                  <a:cubicBezTo>
                    <a:pt x="61" y="15"/>
                    <a:pt x="59" y="13"/>
                    <a:pt x="57" y="12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58" y="15"/>
                    <a:pt x="60" y="16"/>
                    <a:pt x="62" y="18"/>
                  </a:cubicBezTo>
                  <a:cubicBezTo>
                    <a:pt x="63" y="20"/>
                    <a:pt x="65" y="22"/>
                    <a:pt x="66" y="24"/>
                  </a:cubicBezTo>
                  <a:cubicBezTo>
                    <a:pt x="56" y="29"/>
                    <a:pt x="56" y="29"/>
                    <a:pt x="56" y="29"/>
                  </a:cubicBezTo>
                  <a:cubicBezTo>
                    <a:pt x="55" y="28"/>
                    <a:pt x="55" y="27"/>
                    <a:pt x="54" y="26"/>
                  </a:cubicBezTo>
                  <a:cubicBezTo>
                    <a:pt x="53" y="25"/>
                    <a:pt x="52" y="24"/>
                    <a:pt x="50" y="24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1" y="8"/>
                    <a:pt x="46" y="7"/>
                    <a:pt x="41" y="7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4" y="7"/>
                    <a:pt x="29" y="8"/>
                    <a:pt x="24" y="11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9" y="11"/>
                    <a:pt x="34" y="9"/>
                    <a:pt x="39" y="9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6" y="21"/>
                    <a:pt x="34" y="21"/>
                    <a:pt x="31" y="2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1" y="13"/>
                    <a:pt x="19" y="15"/>
                    <a:pt x="17" y="17"/>
                  </a:cubicBezTo>
                  <a:cubicBezTo>
                    <a:pt x="15" y="18"/>
                    <a:pt x="13" y="20"/>
                    <a:pt x="12" y="23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2"/>
                    <a:pt x="17" y="20"/>
                    <a:pt x="18" y="18"/>
                  </a:cubicBezTo>
                  <a:cubicBezTo>
                    <a:pt x="20" y="16"/>
                    <a:pt x="22" y="15"/>
                    <a:pt x="24" y="14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29" y="24"/>
                    <a:pt x="29" y="24"/>
                    <a:pt x="28" y="25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9" y="29"/>
                    <a:pt x="7" y="34"/>
                    <a:pt x="7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3"/>
                    <a:pt x="5" y="27"/>
                    <a:pt x="7" y="2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0" y="18"/>
                    <a:pt x="12" y="16"/>
                    <a:pt x="14" y="14"/>
                  </a:cubicBezTo>
                  <a:cubicBezTo>
                    <a:pt x="16" y="12"/>
                    <a:pt x="18" y="10"/>
                    <a:pt x="21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7" y="5"/>
                    <a:pt x="33" y="3"/>
                    <a:pt x="39" y="3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lose/>
                  <a:moveTo>
                    <a:pt x="33" y="39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2"/>
                    <a:pt x="34" y="44"/>
                    <a:pt x="35" y="45"/>
                  </a:cubicBezTo>
                  <a:cubicBezTo>
                    <a:pt x="37" y="47"/>
                    <a:pt x="39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2" y="47"/>
                    <a:pt x="44" y="46"/>
                    <a:pt x="45" y="45"/>
                  </a:cubicBezTo>
                  <a:cubicBezTo>
                    <a:pt x="47" y="43"/>
                    <a:pt x="47" y="41"/>
                    <a:pt x="47" y="39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37"/>
                    <a:pt x="46" y="36"/>
                    <a:pt x="45" y="34"/>
                  </a:cubicBezTo>
                  <a:cubicBezTo>
                    <a:pt x="43" y="33"/>
                    <a:pt x="41" y="32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33" y="39"/>
                    <a:pt x="33" y="39"/>
                    <a:pt x="33" y="39"/>
                  </a:cubicBezTo>
                  <a:close/>
                  <a:moveTo>
                    <a:pt x="40" y="37"/>
                  </a:moveTo>
                  <a:cubicBezTo>
                    <a:pt x="39" y="37"/>
                    <a:pt x="38" y="37"/>
                    <a:pt x="38" y="38"/>
                  </a:cubicBezTo>
                  <a:cubicBezTo>
                    <a:pt x="37" y="38"/>
                    <a:pt x="37" y="39"/>
                    <a:pt x="37" y="40"/>
                  </a:cubicBezTo>
                  <a:cubicBezTo>
                    <a:pt x="37" y="41"/>
                    <a:pt x="37" y="42"/>
                    <a:pt x="38" y="42"/>
                  </a:cubicBezTo>
                  <a:cubicBezTo>
                    <a:pt x="39" y="43"/>
                    <a:pt x="39" y="43"/>
                    <a:pt x="40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1" y="43"/>
                    <a:pt x="42" y="42"/>
                    <a:pt x="42" y="42"/>
                  </a:cubicBezTo>
                  <a:cubicBezTo>
                    <a:pt x="43" y="41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39"/>
                    <a:pt x="43" y="38"/>
                    <a:pt x="42" y="37"/>
                  </a:cubicBezTo>
                  <a:cubicBezTo>
                    <a:pt x="41" y="37"/>
                    <a:pt x="41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lose/>
                  <a:moveTo>
                    <a:pt x="41" y="9"/>
                  </a:moveTo>
                  <a:cubicBezTo>
                    <a:pt x="41" y="21"/>
                    <a:pt x="41" y="21"/>
                    <a:pt x="41" y="21"/>
                  </a:cubicBezTo>
                  <a:cubicBezTo>
                    <a:pt x="44" y="21"/>
                    <a:pt x="46" y="21"/>
                    <a:pt x="49" y="23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0" y="11"/>
                    <a:pt x="46" y="9"/>
                    <a:pt x="41" y="9"/>
                  </a:cubicBezTo>
                  <a:close/>
                  <a:moveTo>
                    <a:pt x="23" y="31"/>
                  </a:moveTo>
                  <a:cubicBezTo>
                    <a:pt x="13" y="25"/>
                    <a:pt x="13" y="25"/>
                    <a:pt x="13" y="25"/>
                  </a:cubicBezTo>
                  <a:cubicBezTo>
                    <a:pt x="11" y="29"/>
                    <a:pt x="9" y="34"/>
                    <a:pt x="9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6"/>
                    <a:pt x="22" y="33"/>
                    <a:pt x="23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6643270" y="2437330"/>
            <a:ext cx="1751468" cy="1735373"/>
            <a:chOff x="8828090" y="3721210"/>
            <a:chExt cx="2335290" cy="2313831"/>
          </a:xfrm>
        </p:grpSpPr>
        <p:sp>
          <p:nvSpPr>
            <p:cNvPr id="133" name="矩形 132"/>
            <p:cNvSpPr/>
            <p:nvPr/>
          </p:nvSpPr>
          <p:spPr>
            <a:xfrm>
              <a:off x="8828090" y="3721210"/>
              <a:ext cx="2335290" cy="1363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34" name="矩形 133"/>
            <p:cNvSpPr/>
            <p:nvPr/>
          </p:nvSpPr>
          <p:spPr>
            <a:xfrm>
              <a:off x="8828090" y="5077199"/>
              <a:ext cx="2335290" cy="957842"/>
            </a:xfrm>
            <a:prstGeom prst="rect">
              <a:avLst/>
            </a:prstGeom>
            <a:solidFill>
              <a:srgbClr val="E4E4E4">
                <a:alpha val="4500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5" name="TextBox 14"/>
            <p:cNvSpPr txBox="1"/>
            <p:nvPr/>
          </p:nvSpPr>
          <p:spPr>
            <a:xfrm>
              <a:off x="8874241" y="5486400"/>
              <a:ext cx="2289139" cy="451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id-ID" sz="900" dirty="0">
                  <a:solidFill>
                    <a:prstClr val="black">
                      <a:lumMod val="50000"/>
                      <a:lumOff val="50000"/>
                    </a:prstClr>
                  </a:solidFill>
                  <a:cs typeface="+mn-ea"/>
                  <a:sym typeface="+mn-lt"/>
                  <a:latin typeface="微软雅黑"/>
                </a:rPr>
                <a:t>回声消除、长时间打断与端到端延迟尚无正式测量数据。</a:t>
              </a:r>
              <a:endParaRPr lang="en-US" sz="800" b="1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endParaRPr>
            </a:p>
          </p:txBody>
        </p:sp>
        <p:sp>
          <p:nvSpPr>
            <p:cNvPr id="136" name="TextBox 15"/>
            <p:cNvSpPr txBox="1"/>
            <p:nvPr/>
          </p:nvSpPr>
          <p:spPr>
            <a:xfrm>
              <a:off x="8874241" y="5226130"/>
              <a:ext cx="2032894" cy="507889"/>
            </a:xfrm>
            <a:prstGeom prst="rect">
              <a:avLst/>
            </a:prstGeom>
            <a:noFill/>
          </p:spPr>
          <p:txBody>
            <a:bodyPr wrap="none"/>
            <a:lstStyle/>
            <a:p>
              <a:pPr>
                <a:defRPr/>
              </a:pPr>
              <a:r>
                <a:rPr lang="id-ID" sz="1200" b="1" dirty="0">
                  <a:solidFill>
                    <a:srgbClr val="413C42"/>
                  </a:solidFill>
                  <a:cs typeface="+mn-ea"/>
                  <a:sym typeface="+mn-lt"/>
                  <a:latin typeface="微软雅黑"/>
                </a:rPr>
                <a:t>稳定性数据缺失</a:t>
              </a:r>
            </a:p>
          </p:txBody>
        </p:sp>
        <p:sp>
          <p:nvSpPr>
            <p:cNvPr id="137" name="Freeform 139"/>
            <p:cNvSpPr>
              <a:spLocks noEditPoints="1"/>
            </p:cNvSpPr>
            <p:nvPr/>
          </p:nvSpPr>
          <p:spPr bwMode="auto">
            <a:xfrm>
              <a:off x="9810274" y="4219279"/>
              <a:ext cx="370923" cy="403829"/>
            </a:xfrm>
            <a:custGeom>
              <a:avLst/>
              <a:gdLst>
                <a:gd name="T0" fmla="*/ 29 w 59"/>
                <a:gd name="T1" fmla="*/ 0 h 64"/>
                <a:gd name="T2" fmla="*/ 59 w 59"/>
                <a:gd name="T3" fmla="*/ 29 h 64"/>
                <a:gd name="T4" fmla="*/ 49 w 59"/>
                <a:gd name="T5" fmla="*/ 51 h 64"/>
                <a:gd name="T6" fmla="*/ 56 w 59"/>
                <a:gd name="T7" fmla="*/ 34 h 64"/>
                <a:gd name="T8" fmla="*/ 29 w 59"/>
                <a:gd name="T9" fmla="*/ 7 h 64"/>
                <a:gd name="T10" fmla="*/ 3 w 59"/>
                <a:gd name="T11" fmla="*/ 34 h 64"/>
                <a:gd name="T12" fmla="*/ 9 w 59"/>
                <a:gd name="T13" fmla="*/ 51 h 64"/>
                <a:gd name="T14" fmla="*/ 0 w 59"/>
                <a:gd name="T15" fmla="*/ 29 h 64"/>
                <a:gd name="T16" fmla="*/ 29 w 59"/>
                <a:gd name="T17" fmla="*/ 0 h 64"/>
                <a:gd name="T18" fmla="*/ 35 w 59"/>
                <a:gd name="T19" fmla="*/ 47 h 64"/>
                <a:gd name="T20" fmla="*/ 41 w 59"/>
                <a:gd name="T21" fmla="*/ 37 h 64"/>
                <a:gd name="T22" fmla="*/ 29 w 59"/>
                <a:gd name="T23" fmla="*/ 25 h 64"/>
                <a:gd name="T24" fmla="*/ 17 w 59"/>
                <a:gd name="T25" fmla="*/ 37 h 64"/>
                <a:gd name="T26" fmla="*/ 23 w 59"/>
                <a:gd name="T27" fmla="*/ 47 h 64"/>
                <a:gd name="T28" fmla="*/ 23 w 59"/>
                <a:gd name="T29" fmla="*/ 64 h 64"/>
                <a:gd name="T30" fmla="*/ 35 w 59"/>
                <a:gd name="T31" fmla="*/ 64 h 64"/>
                <a:gd name="T32" fmla="*/ 35 w 59"/>
                <a:gd name="T33" fmla="*/ 47 h 64"/>
                <a:gd name="T34" fmla="*/ 29 w 59"/>
                <a:gd name="T35" fmla="*/ 14 h 64"/>
                <a:gd name="T36" fmla="*/ 9 w 59"/>
                <a:gd name="T37" fmla="*/ 34 h 64"/>
                <a:gd name="T38" fmla="*/ 18 w 59"/>
                <a:gd name="T39" fmla="*/ 51 h 64"/>
                <a:gd name="T40" fmla="*/ 11 w 59"/>
                <a:gd name="T41" fmla="*/ 37 h 64"/>
                <a:gd name="T42" fmla="*/ 29 w 59"/>
                <a:gd name="T43" fmla="*/ 20 h 64"/>
                <a:gd name="T44" fmla="*/ 47 w 59"/>
                <a:gd name="T45" fmla="*/ 37 h 64"/>
                <a:gd name="T46" fmla="*/ 41 w 59"/>
                <a:gd name="T47" fmla="*/ 51 h 64"/>
                <a:gd name="T48" fmla="*/ 50 w 59"/>
                <a:gd name="T49" fmla="*/ 34 h 64"/>
                <a:gd name="T50" fmla="*/ 29 w 59"/>
                <a:gd name="T51" fmla="*/ 1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64">
                  <a:moveTo>
                    <a:pt x="29" y="0"/>
                  </a:moveTo>
                  <a:cubicBezTo>
                    <a:pt x="46" y="0"/>
                    <a:pt x="59" y="13"/>
                    <a:pt x="59" y="29"/>
                  </a:cubicBezTo>
                  <a:cubicBezTo>
                    <a:pt x="59" y="38"/>
                    <a:pt x="55" y="46"/>
                    <a:pt x="49" y="51"/>
                  </a:cubicBezTo>
                  <a:cubicBezTo>
                    <a:pt x="53" y="46"/>
                    <a:pt x="56" y="40"/>
                    <a:pt x="56" y="34"/>
                  </a:cubicBezTo>
                  <a:cubicBezTo>
                    <a:pt x="56" y="19"/>
                    <a:pt x="44" y="7"/>
                    <a:pt x="29" y="7"/>
                  </a:cubicBezTo>
                  <a:cubicBezTo>
                    <a:pt x="15" y="7"/>
                    <a:pt x="3" y="19"/>
                    <a:pt x="3" y="34"/>
                  </a:cubicBezTo>
                  <a:cubicBezTo>
                    <a:pt x="3" y="40"/>
                    <a:pt x="5" y="46"/>
                    <a:pt x="9" y="51"/>
                  </a:cubicBezTo>
                  <a:cubicBezTo>
                    <a:pt x="3" y="46"/>
                    <a:pt x="0" y="38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lose/>
                  <a:moveTo>
                    <a:pt x="35" y="47"/>
                  </a:moveTo>
                  <a:cubicBezTo>
                    <a:pt x="39" y="45"/>
                    <a:pt x="41" y="41"/>
                    <a:pt x="41" y="37"/>
                  </a:cubicBezTo>
                  <a:cubicBezTo>
                    <a:pt x="41" y="31"/>
                    <a:pt x="36" y="25"/>
                    <a:pt x="29" y="25"/>
                  </a:cubicBezTo>
                  <a:cubicBezTo>
                    <a:pt x="23" y="25"/>
                    <a:pt x="17" y="31"/>
                    <a:pt x="17" y="37"/>
                  </a:cubicBezTo>
                  <a:cubicBezTo>
                    <a:pt x="17" y="41"/>
                    <a:pt x="20" y="45"/>
                    <a:pt x="23" y="47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47"/>
                    <a:pt x="35" y="47"/>
                    <a:pt x="35" y="47"/>
                  </a:cubicBezTo>
                  <a:close/>
                  <a:moveTo>
                    <a:pt x="29" y="14"/>
                  </a:moveTo>
                  <a:cubicBezTo>
                    <a:pt x="18" y="14"/>
                    <a:pt x="9" y="23"/>
                    <a:pt x="9" y="34"/>
                  </a:cubicBezTo>
                  <a:cubicBezTo>
                    <a:pt x="9" y="41"/>
                    <a:pt x="12" y="47"/>
                    <a:pt x="18" y="51"/>
                  </a:cubicBezTo>
                  <a:cubicBezTo>
                    <a:pt x="14" y="48"/>
                    <a:pt x="11" y="43"/>
                    <a:pt x="11" y="37"/>
                  </a:cubicBezTo>
                  <a:cubicBezTo>
                    <a:pt x="11" y="27"/>
                    <a:pt x="19" y="20"/>
                    <a:pt x="29" y="20"/>
                  </a:cubicBezTo>
                  <a:cubicBezTo>
                    <a:pt x="39" y="20"/>
                    <a:pt x="47" y="27"/>
                    <a:pt x="47" y="37"/>
                  </a:cubicBezTo>
                  <a:cubicBezTo>
                    <a:pt x="47" y="43"/>
                    <a:pt x="45" y="48"/>
                    <a:pt x="41" y="51"/>
                  </a:cubicBezTo>
                  <a:cubicBezTo>
                    <a:pt x="46" y="47"/>
                    <a:pt x="50" y="41"/>
                    <a:pt x="50" y="34"/>
                  </a:cubicBezTo>
                  <a:cubicBezTo>
                    <a:pt x="50" y="23"/>
                    <a:pt x="40" y="14"/>
                    <a:pt x="29" y="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3" name="组合 2"/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验证与规划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VERIFICATION</a:t>
                </a:r>
              </a:p>
            </p:txBody>
          </p:sp>
        </p:grpSp>
        <p:cxnSp>
          <p:nvCxnSpPr>
            <p:cNvPr id="18" name="直接连接符 17"/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1268282"/>
            <a:ext cx="9151620" cy="2158253"/>
          </a:xfrm>
          <a:prstGeom prst="rect">
            <a:avLst/>
          </a:prstGeom>
          <a:solidFill>
            <a:srgbClr val="AEC7DD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906101" y="1527658"/>
            <a:ext cx="3338739" cy="453970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sz="950" dirty="0">
                <a:solidFill>
                  <a:srgbClr val="FEFEFE"/>
                </a:solidFill>
                <a:cs typeface="+mn-ea"/>
                <a:sym typeface="+mn-lt"/>
                <a:latin typeface="微软雅黑"/>
              </a:rPr>
              <a:t>短期完成板端验收，中期形成可演示闭环，长期走向产品化。</a:t>
            </a:r>
          </a:p>
        </p:txBody>
      </p:sp>
      <p:sp>
        <p:nvSpPr>
          <p:cNvPr id="70" name="Oval 69"/>
          <p:cNvSpPr/>
          <p:nvPr/>
        </p:nvSpPr>
        <p:spPr>
          <a:xfrm>
            <a:off x="5011245" y="2367981"/>
            <a:ext cx="192992" cy="192992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700">
              <a:cs typeface="+mn-ea"/>
              <a:sym typeface="+mn-lt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5011245" y="2634248"/>
            <a:ext cx="192992" cy="192992"/>
          </a:xfrm>
          <a:prstGeom prst="ellipse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700">
              <a:cs typeface="+mn-ea"/>
              <a:sym typeface="+mn-lt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5011245" y="2905059"/>
            <a:ext cx="192992" cy="192992"/>
          </a:xfrm>
          <a:prstGeom prst="ellipse">
            <a:avLst/>
          </a:prstGeom>
          <a:solidFill>
            <a:schemeClr val="accent4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700">
              <a:cs typeface="+mn-ea"/>
              <a:sym typeface="+mn-lt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004665" y="2362366"/>
            <a:ext cx="211568" cy="176972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 algn="ctr"/>
            <a:r>
              <a:rPr lang="en-US" sz="700" b="1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4665" y="2628971"/>
            <a:ext cx="211568" cy="176972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 algn="ctr"/>
            <a:r>
              <a:rPr lang="en-US" sz="700" b="1" dirty="0">
                <a:solidFill>
                  <a:schemeClr val="bg1"/>
                </a:solidFill>
                <a:cs typeface="+mn-ea"/>
                <a:sym typeface="+mn-lt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04665" y="2906639"/>
            <a:ext cx="211568" cy="176972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 algn="ctr"/>
            <a:r>
              <a:rPr lang="en-US" sz="700" b="1" dirty="0">
                <a:solidFill>
                  <a:schemeClr val="bg1"/>
                </a:solidFill>
                <a:cs typeface="+mn-ea"/>
                <a:sym typeface="+mn-lt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45780" y="2364381"/>
            <a:ext cx="2935814" cy="176972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r>
              <a:rPr lang="en-US" sz="900" dirty="0">
                <a:solidFill>
                  <a:srgbClr val="FEFEFE"/>
                </a:solidFill>
                <a:cs typeface="+mn-ea"/>
                <a:sym typeface="+mn-lt"/>
                <a:latin typeface="微软雅黑"/>
              </a:rPr>
              <a:t>短期：恢复 SSH 同步，复测板端事件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45780" y="2628973"/>
            <a:ext cx="2935814" cy="176972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r>
              <a:rPr lang="en-US" sz="900" dirty="0">
                <a:solidFill>
                  <a:srgbClr val="FEFEFE"/>
                </a:solidFill>
                <a:cs typeface="+mn-ea"/>
                <a:sym typeface="+mn-lt"/>
                <a:latin typeface="微软雅黑"/>
              </a:rPr>
              <a:t>中期：接入通知渠道，走通闭环演示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45780" y="2892447"/>
            <a:ext cx="2935814" cy="176972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r>
              <a:rPr lang="en-US" sz="900" dirty="0">
                <a:solidFill>
                  <a:srgbClr val="FEFEFE"/>
                </a:solidFill>
                <a:cs typeface="+mn-ea"/>
                <a:sym typeface="+mn-lt"/>
                <a:latin typeface="微软雅黑"/>
              </a:rPr>
              <a:t>长期：SQLite 队列、真实继电器压测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51870" y="3575644"/>
            <a:ext cx="625812" cy="654025"/>
          </a:xfrm>
          <a:prstGeom prst="rect">
            <a:avLst/>
          </a:prstGeom>
        </p:spPr>
        <p:txBody>
          <a:bodyPr wrap="none" lIns="68580" tIns="34290" rIns="68580" bIns="34290" anchor="ctr">
            <a:spAutoFit/>
          </a:bodyPr>
          <a:lstStyle/>
          <a:p>
            <a:pPr algn="ctr"/>
            <a:r>
              <a:rPr lang="en-US" sz="3800" dirty="0">
                <a:solidFill>
                  <a:schemeClr val="accent3"/>
                </a:solidFill>
                <a:cs typeface="+mn-ea"/>
                <a:sym typeface="+mn-lt"/>
              </a:rPr>
              <a:t>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16975" y="3575644"/>
            <a:ext cx="625812" cy="654025"/>
          </a:xfrm>
          <a:prstGeom prst="rect">
            <a:avLst/>
          </a:prstGeom>
        </p:spPr>
        <p:txBody>
          <a:bodyPr wrap="none" lIns="68580" tIns="34290" rIns="68580" bIns="34290" anchor="ctr">
            <a:spAutoFit/>
          </a:bodyPr>
          <a:lstStyle/>
          <a:p>
            <a:pPr algn="ctr"/>
            <a:r>
              <a:rPr lang="en-US" sz="3800" dirty="0">
                <a:solidFill>
                  <a:schemeClr val="accent4"/>
                </a:solidFill>
                <a:cs typeface="+mn-ea"/>
                <a:sym typeface="+mn-lt"/>
              </a:rPr>
              <a:t>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03598" y="3575644"/>
            <a:ext cx="625812" cy="654025"/>
          </a:xfrm>
          <a:prstGeom prst="rect">
            <a:avLst/>
          </a:prstGeom>
        </p:spPr>
        <p:txBody>
          <a:bodyPr wrap="none" lIns="68580" tIns="34290" rIns="68580" bIns="34290" anchor="ctr">
            <a:spAutoFit/>
          </a:bodyPr>
          <a:lstStyle/>
          <a:p>
            <a:pPr algn="ctr"/>
            <a:r>
              <a:rPr lang="en-US" sz="3800" dirty="0">
                <a:solidFill>
                  <a:schemeClr val="accent1"/>
                </a:solidFill>
                <a:cs typeface="+mn-ea"/>
                <a:sym typeface="+mn-lt"/>
              </a:rPr>
              <a:t>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92979" y="4380277"/>
            <a:ext cx="1048919" cy="325730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 algn="ctr">
              <a:lnSpc>
                <a:spcPts val="975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  <a:latin typeface="微软雅黑"/>
              </a:rPr>
              <a:t>板端验收复测</a:t>
            </a:r>
            <a:endParaRPr lang="en-US" sz="7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992979" y="4208828"/>
            <a:ext cx="1048919" cy="196400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 algn="ctr">
              <a:lnSpc>
                <a:spcPts val="975"/>
              </a:lnSpc>
            </a:pPr>
            <a:r>
              <a:rPr lang="en-US" sz="1700" b="1" dirty="0">
                <a:solidFill>
                  <a:schemeClr val="accent1"/>
                </a:solidFill>
                <a:cs typeface="+mn-ea"/>
                <a:sym typeface="+mn-lt"/>
                <a:latin typeface="微软雅黑"/>
              </a:rPr>
              <a:t>短期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38265" y="4380277"/>
            <a:ext cx="1048919" cy="325730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 algn="ctr">
              <a:lnSpc>
                <a:spcPts val="975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  <a:latin typeface="微软雅黑"/>
              </a:rPr>
              <a:t>通知闭环演示</a:t>
            </a:r>
            <a:endParaRPr lang="en-US" sz="7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138265" y="4208828"/>
            <a:ext cx="1048919" cy="196400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 algn="ctr">
              <a:lnSpc>
                <a:spcPts val="975"/>
              </a:lnSpc>
            </a:pPr>
            <a:r>
              <a:rPr lang="en-US" sz="1700" b="1" dirty="0">
                <a:solidFill>
                  <a:schemeClr val="accent3"/>
                </a:solidFill>
                <a:cs typeface="+mn-ea"/>
                <a:sym typeface="+mn-lt"/>
                <a:latin typeface="微软雅黑"/>
              </a:rPr>
              <a:t>中期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00137" y="4380277"/>
            <a:ext cx="911759" cy="325730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 algn="ctr">
              <a:lnSpc>
                <a:spcPts val="975"/>
              </a:lnSpc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  <a:latin typeface="微软雅黑"/>
              </a:rPr>
              <a:t>产品化与压测</a:t>
            </a:r>
            <a:endParaRPr lang="en-US" sz="7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331557" y="4208828"/>
            <a:ext cx="1048919" cy="196400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 algn="ctr">
              <a:lnSpc>
                <a:spcPts val="975"/>
              </a:lnSpc>
            </a:pPr>
            <a:r>
              <a:rPr lang="en-US" sz="1700" b="1">
                <a:solidFill>
                  <a:schemeClr val="accent4"/>
                </a:solidFill>
                <a:cs typeface="+mn-ea"/>
                <a:sym typeface="+mn-lt"/>
                <a:latin typeface="微软雅黑"/>
              </a:rPr>
              <a:t>长期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460009" y="1018615"/>
            <a:ext cx="1598535" cy="3236216"/>
            <a:chOff x="18223908" y="3214668"/>
            <a:chExt cx="7266425" cy="14710811"/>
          </a:xfrm>
          <a:effectLst>
            <a:reflection blurRad="6350" stA="35000" endPos="15000" dir="5400000" sy="-100000" algn="bl" rotWithShape="0"/>
          </a:effectLst>
        </p:grpSpPr>
        <p:sp>
          <p:nvSpPr>
            <p:cNvPr id="7" name="Shape 6"/>
            <p:cNvSpPr/>
            <p:nvPr/>
          </p:nvSpPr>
          <p:spPr>
            <a:xfrm>
              <a:off x="18287967" y="3225345"/>
              <a:ext cx="7127581" cy="14691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14" y="18917"/>
                  </a:moveTo>
                  <a:lnTo>
                    <a:pt x="1239" y="18917"/>
                  </a:lnTo>
                  <a:lnTo>
                    <a:pt x="1239" y="2586"/>
                  </a:lnTo>
                  <a:lnTo>
                    <a:pt x="20214" y="2586"/>
                  </a:lnTo>
                  <a:cubicBezTo>
                    <a:pt x="20214" y="2586"/>
                    <a:pt x="20214" y="18917"/>
                    <a:pt x="20214" y="18917"/>
                  </a:cubicBezTo>
                  <a:close/>
                  <a:moveTo>
                    <a:pt x="18332" y="0"/>
                  </a:moveTo>
                  <a:lnTo>
                    <a:pt x="3268" y="0"/>
                  </a:lnTo>
                  <a:cubicBezTo>
                    <a:pt x="1466" y="0"/>
                    <a:pt x="0" y="711"/>
                    <a:pt x="0" y="1586"/>
                  </a:cubicBezTo>
                  <a:lnTo>
                    <a:pt x="0" y="20014"/>
                  </a:lnTo>
                  <a:cubicBezTo>
                    <a:pt x="0" y="20889"/>
                    <a:pt x="1466" y="21600"/>
                    <a:pt x="3268" y="21600"/>
                  </a:cubicBezTo>
                  <a:lnTo>
                    <a:pt x="18332" y="21600"/>
                  </a:lnTo>
                  <a:cubicBezTo>
                    <a:pt x="20134" y="21600"/>
                    <a:pt x="21600" y="20889"/>
                    <a:pt x="21600" y="20014"/>
                  </a:cubicBezTo>
                  <a:lnTo>
                    <a:pt x="21600" y="1586"/>
                  </a:lnTo>
                  <a:cubicBezTo>
                    <a:pt x="21600" y="711"/>
                    <a:pt x="20134" y="0"/>
                    <a:pt x="18332" y="0"/>
                  </a:cubicBezTo>
                  <a:close/>
                </a:path>
              </a:pathLst>
            </a:custGeom>
            <a:solidFill>
              <a:srgbClr val="F3DCB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8" name="Shape 7"/>
            <p:cNvSpPr/>
            <p:nvPr/>
          </p:nvSpPr>
          <p:spPr>
            <a:xfrm>
              <a:off x="18405409" y="3342786"/>
              <a:ext cx="6893836" cy="14458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33" y="19049"/>
                  </a:moveTo>
                  <a:lnTo>
                    <a:pt x="914" y="19049"/>
                  </a:lnTo>
                  <a:lnTo>
                    <a:pt x="914" y="2453"/>
                  </a:lnTo>
                  <a:lnTo>
                    <a:pt x="20533" y="2453"/>
                  </a:lnTo>
                  <a:cubicBezTo>
                    <a:pt x="20533" y="2453"/>
                    <a:pt x="20533" y="19049"/>
                    <a:pt x="20533" y="19049"/>
                  </a:cubicBezTo>
                  <a:close/>
                  <a:moveTo>
                    <a:pt x="18587" y="0"/>
                  </a:moveTo>
                  <a:lnTo>
                    <a:pt x="3013" y="0"/>
                  </a:lnTo>
                  <a:cubicBezTo>
                    <a:pt x="1349" y="0"/>
                    <a:pt x="0" y="643"/>
                    <a:pt x="0" y="1437"/>
                  </a:cubicBezTo>
                  <a:lnTo>
                    <a:pt x="0" y="20163"/>
                  </a:lnTo>
                  <a:cubicBezTo>
                    <a:pt x="0" y="20957"/>
                    <a:pt x="1349" y="21600"/>
                    <a:pt x="3013" y="21600"/>
                  </a:cubicBezTo>
                  <a:lnTo>
                    <a:pt x="18587" y="21600"/>
                  </a:lnTo>
                  <a:cubicBezTo>
                    <a:pt x="20251" y="21600"/>
                    <a:pt x="21600" y="20957"/>
                    <a:pt x="21600" y="20163"/>
                  </a:cubicBezTo>
                  <a:lnTo>
                    <a:pt x="21600" y="1437"/>
                  </a:lnTo>
                  <a:cubicBezTo>
                    <a:pt x="21600" y="643"/>
                    <a:pt x="20251" y="0"/>
                    <a:pt x="18587" y="0"/>
                  </a:cubicBezTo>
                  <a:close/>
                </a:path>
              </a:pathLst>
            </a:custGeom>
            <a:solidFill>
              <a:srgbClr val="F5F6F7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9" name="Shape 8"/>
            <p:cNvSpPr/>
            <p:nvPr/>
          </p:nvSpPr>
          <p:spPr>
            <a:xfrm>
              <a:off x="18490821" y="3428198"/>
              <a:ext cx="6726856" cy="142912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78" y="20273"/>
                  </a:moveTo>
                  <a:cubicBezTo>
                    <a:pt x="21278" y="20921"/>
                    <a:pt x="20158" y="21449"/>
                    <a:pt x="18780" y="21449"/>
                  </a:cubicBezTo>
                  <a:lnTo>
                    <a:pt x="2820" y="21449"/>
                  </a:lnTo>
                  <a:cubicBezTo>
                    <a:pt x="1442" y="21449"/>
                    <a:pt x="322" y="20921"/>
                    <a:pt x="322" y="20273"/>
                  </a:cubicBezTo>
                  <a:lnTo>
                    <a:pt x="322" y="1327"/>
                  </a:lnTo>
                  <a:cubicBezTo>
                    <a:pt x="322" y="679"/>
                    <a:pt x="1442" y="151"/>
                    <a:pt x="2820" y="151"/>
                  </a:cubicBezTo>
                  <a:lnTo>
                    <a:pt x="18780" y="151"/>
                  </a:lnTo>
                  <a:cubicBezTo>
                    <a:pt x="20158" y="151"/>
                    <a:pt x="21278" y="679"/>
                    <a:pt x="21278" y="1327"/>
                  </a:cubicBezTo>
                  <a:cubicBezTo>
                    <a:pt x="21278" y="1327"/>
                    <a:pt x="21278" y="20273"/>
                    <a:pt x="21278" y="20273"/>
                  </a:cubicBezTo>
                  <a:close/>
                  <a:moveTo>
                    <a:pt x="18780" y="0"/>
                  </a:moveTo>
                  <a:lnTo>
                    <a:pt x="2820" y="0"/>
                  </a:lnTo>
                  <a:cubicBezTo>
                    <a:pt x="1265" y="0"/>
                    <a:pt x="0" y="595"/>
                    <a:pt x="0" y="1327"/>
                  </a:cubicBezTo>
                  <a:lnTo>
                    <a:pt x="0" y="20273"/>
                  </a:lnTo>
                  <a:cubicBezTo>
                    <a:pt x="0" y="21005"/>
                    <a:pt x="1265" y="21600"/>
                    <a:pt x="2820" y="21600"/>
                  </a:cubicBezTo>
                  <a:lnTo>
                    <a:pt x="18780" y="21600"/>
                  </a:lnTo>
                  <a:cubicBezTo>
                    <a:pt x="20335" y="21600"/>
                    <a:pt x="21600" y="21005"/>
                    <a:pt x="21600" y="20273"/>
                  </a:cubicBezTo>
                  <a:lnTo>
                    <a:pt x="21600" y="1327"/>
                  </a:lnTo>
                  <a:cubicBezTo>
                    <a:pt x="21600" y="595"/>
                    <a:pt x="20335" y="0"/>
                    <a:pt x="18780" y="0"/>
                  </a:cubicBezTo>
                  <a:close/>
                </a:path>
              </a:pathLst>
            </a:custGeom>
            <a:gradFill>
              <a:gsLst>
                <a:gs pos="4000">
                  <a:srgbClr val="EDE6D8"/>
                </a:gs>
                <a:gs pos="24000">
                  <a:srgbClr val="F5F0E8"/>
                </a:gs>
              </a:gsLst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10" name="Shape 9"/>
            <p:cNvSpPr/>
            <p:nvPr/>
          </p:nvSpPr>
          <p:spPr>
            <a:xfrm>
              <a:off x="21298748" y="16421528"/>
              <a:ext cx="1118365" cy="1118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564"/>
                  </a:moveTo>
                  <a:cubicBezTo>
                    <a:pt x="5408" y="20564"/>
                    <a:pt x="1036" y="16193"/>
                    <a:pt x="1036" y="10800"/>
                  </a:cubicBezTo>
                  <a:cubicBezTo>
                    <a:pt x="1036" y="5408"/>
                    <a:pt x="5408" y="1036"/>
                    <a:pt x="10800" y="1036"/>
                  </a:cubicBezTo>
                  <a:cubicBezTo>
                    <a:pt x="16193" y="1036"/>
                    <a:pt x="20564" y="5408"/>
                    <a:pt x="20564" y="10800"/>
                  </a:cubicBezTo>
                  <a:cubicBezTo>
                    <a:pt x="20564" y="16193"/>
                    <a:pt x="16193" y="20564"/>
                    <a:pt x="10800" y="20564"/>
                  </a:cubicBezTo>
                  <a:close/>
                  <a:moveTo>
                    <a:pt x="10800" y="0"/>
                  </a:moveTo>
                  <a:cubicBezTo>
                    <a:pt x="4835" y="0"/>
                    <a:pt x="0" y="4836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6"/>
                    <a:pt x="16765" y="0"/>
                    <a:pt x="10800" y="0"/>
                  </a:cubicBezTo>
                  <a:close/>
                </a:path>
              </a:pathLst>
            </a:custGeom>
            <a:solidFill>
              <a:srgbClr val="A38A5C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11" name="Shape 10"/>
            <p:cNvSpPr/>
            <p:nvPr/>
          </p:nvSpPr>
          <p:spPr>
            <a:xfrm>
              <a:off x="21341454" y="16421528"/>
              <a:ext cx="914946" cy="363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3" y="21600"/>
                  </a:moveTo>
                  <a:cubicBezTo>
                    <a:pt x="2977" y="10785"/>
                    <a:pt x="7227" y="3185"/>
                    <a:pt x="12183" y="3185"/>
                  </a:cubicBezTo>
                  <a:cubicBezTo>
                    <a:pt x="15317" y="3185"/>
                    <a:pt x="18168" y="6227"/>
                    <a:pt x="20297" y="11195"/>
                  </a:cubicBezTo>
                  <a:lnTo>
                    <a:pt x="21600" y="9940"/>
                  </a:lnTo>
                  <a:cubicBezTo>
                    <a:pt x="19205" y="3808"/>
                    <a:pt x="15872" y="0"/>
                    <a:pt x="12183" y="0"/>
                  </a:cubicBezTo>
                  <a:cubicBezTo>
                    <a:pt x="6697" y="0"/>
                    <a:pt x="1993" y="8418"/>
                    <a:pt x="0" y="20398"/>
                  </a:cubicBezTo>
                  <a:cubicBezTo>
                    <a:pt x="0" y="20398"/>
                    <a:pt x="1173" y="21600"/>
                    <a:pt x="1173" y="21600"/>
                  </a:cubicBezTo>
                  <a:close/>
                </a:path>
              </a:pathLst>
            </a:custGeom>
            <a:gradFill>
              <a:gsLst>
                <a:gs pos="4000">
                  <a:srgbClr val="A38A5C"/>
                </a:gs>
                <a:gs pos="58000">
                  <a:srgbClr val="ECDCAA"/>
                </a:gs>
              </a:gsLst>
              <a:lin ang="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12" name="Shape 11"/>
            <p:cNvSpPr/>
            <p:nvPr/>
          </p:nvSpPr>
          <p:spPr>
            <a:xfrm>
              <a:off x="21715132" y="17435797"/>
              <a:ext cx="392475" cy="107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124" y="0"/>
                  </a:moveTo>
                  <a:cubicBezTo>
                    <a:pt x="16358" y="6931"/>
                    <a:pt x="12100" y="10861"/>
                    <a:pt x="7589" y="10861"/>
                  </a:cubicBezTo>
                  <a:cubicBezTo>
                    <a:pt x="5232" y="10861"/>
                    <a:pt x="2944" y="9787"/>
                    <a:pt x="759" y="7778"/>
                  </a:cubicBezTo>
                  <a:lnTo>
                    <a:pt x="0" y="18164"/>
                  </a:lnTo>
                  <a:cubicBezTo>
                    <a:pt x="2428" y="20403"/>
                    <a:pt x="4971" y="21600"/>
                    <a:pt x="7589" y="21600"/>
                  </a:cubicBezTo>
                  <a:cubicBezTo>
                    <a:pt x="12639" y="21600"/>
                    <a:pt x="17397" y="17153"/>
                    <a:pt x="21600" y="9315"/>
                  </a:cubicBezTo>
                  <a:cubicBezTo>
                    <a:pt x="21600" y="9315"/>
                    <a:pt x="20124" y="0"/>
                    <a:pt x="20124" y="0"/>
                  </a:cubicBezTo>
                  <a:close/>
                </a:path>
              </a:pathLst>
            </a:custGeom>
            <a:gradFill>
              <a:gsLst>
                <a:gs pos="4000">
                  <a:srgbClr val="A38A5C"/>
                </a:gs>
                <a:gs pos="58000">
                  <a:srgbClr val="ECDCAA"/>
                </a:gs>
              </a:gsLst>
              <a:lin ang="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13" name="Shape 12"/>
            <p:cNvSpPr/>
            <p:nvPr/>
          </p:nvSpPr>
          <p:spPr>
            <a:xfrm>
              <a:off x="18277291" y="3214668"/>
              <a:ext cx="7146526" cy="14710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88" y="199"/>
                  </a:moveTo>
                  <a:cubicBezTo>
                    <a:pt x="1702" y="199"/>
                    <a:pt x="411" y="827"/>
                    <a:pt x="411" y="1597"/>
                  </a:cubicBezTo>
                  <a:lnTo>
                    <a:pt x="411" y="20003"/>
                  </a:lnTo>
                  <a:cubicBezTo>
                    <a:pt x="411" y="20774"/>
                    <a:pt x="1702" y="21401"/>
                    <a:pt x="3288" y="21401"/>
                  </a:cubicBezTo>
                  <a:lnTo>
                    <a:pt x="18312" y="21401"/>
                  </a:lnTo>
                  <a:cubicBezTo>
                    <a:pt x="19899" y="21401"/>
                    <a:pt x="21190" y="20774"/>
                    <a:pt x="21190" y="20003"/>
                  </a:cubicBezTo>
                  <a:lnTo>
                    <a:pt x="21190" y="1597"/>
                  </a:lnTo>
                  <a:cubicBezTo>
                    <a:pt x="21190" y="827"/>
                    <a:pt x="19899" y="199"/>
                    <a:pt x="18312" y="199"/>
                  </a:cubicBezTo>
                  <a:cubicBezTo>
                    <a:pt x="18312" y="199"/>
                    <a:pt x="3288" y="199"/>
                    <a:pt x="3288" y="199"/>
                  </a:cubicBezTo>
                  <a:close/>
                  <a:moveTo>
                    <a:pt x="18312" y="21428"/>
                  </a:moveTo>
                  <a:lnTo>
                    <a:pt x="3288" y="21428"/>
                  </a:lnTo>
                  <a:cubicBezTo>
                    <a:pt x="1670" y="21428"/>
                    <a:pt x="353" y="20789"/>
                    <a:pt x="353" y="20003"/>
                  </a:cubicBezTo>
                  <a:lnTo>
                    <a:pt x="353" y="1597"/>
                  </a:lnTo>
                  <a:cubicBezTo>
                    <a:pt x="353" y="811"/>
                    <a:pt x="1670" y="172"/>
                    <a:pt x="3288" y="172"/>
                  </a:cubicBezTo>
                  <a:lnTo>
                    <a:pt x="18312" y="172"/>
                  </a:lnTo>
                  <a:cubicBezTo>
                    <a:pt x="19930" y="172"/>
                    <a:pt x="21247" y="811"/>
                    <a:pt x="21247" y="1597"/>
                  </a:cubicBezTo>
                  <a:lnTo>
                    <a:pt x="21247" y="20003"/>
                  </a:lnTo>
                  <a:cubicBezTo>
                    <a:pt x="21247" y="20789"/>
                    <a:pt x="19930" y="21428"/>
                    <a:pt x="18312" y="21428"/>
                  </a:cubicBezTo>
                  <a:close/>
                  <a:moveTo>
                    <a:pt x="3288" y="28"/>
                  </a:moveTo>
                  <a:cubicBezTo>
                    <a:pt x="1507" y="28"/>
                    <a:pt x="57" y="732"/>
                    <a:pt x="57" y="1597"/>
                  </a:cubicBezTo>
                  <a:lnTo>
                    <a:pt x="57" y="20003"/>
                  </a:lnTo>
                  <a:cubicBezTo>
                    <a:pt x="57" y="20868"/>
                    <a:pt x="1507" y="21572"/>
                    <a:pt x="3288" y="21572"/>
                  </a:cubicBezTo>
                  <a:lnTo>
                    <a:pt x="18312" y="21572"/>
                  </a:lnTo>
                  <a:cubicBezTo>
                    <a:pt x="20093" y="21572"/>
                    <a:pt x="21543" y="20868"/>
                    <a:pt x="21543" y="20003"/>
                  </a:cubicBezTo>
                  <a:lnTo>
                    <a:pt x="21543" y="1597"/>
                  </a:lnTo>
                  <a:cubicBezTo>
                    <a:pt x="21543" y="732"/>
                    <a:pt x="20093" y="28"/>
                    <a:pt x="18312" y="28"/>
                  </a:cubicBezTo>
                  <a:cubicBezTo>
                    <a:pt x="18312" y="28"/>
                    <a:pt x="3288" y="28"/>
                    <a:pt x="3288" y="28"/>
                  </a:cubicBezTo>
                  <a:close/>
                  <a:moveTo>
                    <a:pt x="18312" y="21600"/>
                  </a:moveTo>
                  <a:lnTo>
                    <a:pt x="3288" y="21600"/>
                  </a:lnTo>
                  <a:cubicBezTo>
                    <a:pt x="1475" y="21600"/>
                    <a:pt x="0" y="20883"/>
                    <a:pt x="0" y="20003"/>
                  </a:cubicBezTo>
                  <a:lnTo>
                    <a:pt x="0" y="1597"/>
                  </a:lnTo>
                  <a:cubicBezTo>
                    <a:pt x="0" y="717"/>
                    <a:pt x="1475" y="0"/>
                    <a:pt x="3288" y="0"/>
                  </a:cubicBezTo>
                  <a:lnTo>
                    <a:pt x="18312" y="0"/>
                  </a:lnTo>
                  <a:cubicBezTo>
                    <a:pt x="20125" y="0"/>
                    <a:pt x="21600" y="717"/>
                    <a:pt x="21600" y="1597"/>
                  </a:cubicBezTo>
                  <a:lnTo>
                    <a:pt x="21600" y="20003"/>
                  </a:lnTo>
                  <a:cubicBezTo>
                    <a:pt x="21600" y="20883"/>
                    <a:pt x="20125" y="21600"/>
                    <a:pt x="18312" y="21600"/>
                  </a:cubicBezTo>
                  <a:close/>
                </a:path>
              </a:pathLst>
            </a:custGeom>
            <a:solidFill>
              <a:srgbClr val="D6B992">
                <a:alpha val="6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18832469" y="5104412"/>
              <a:ext cx="6069982" cy="169787"/>
            </a:xfrm>
            <a:custGeom>
              <a:avLst/>
              <a:gdLst>
                <a:gd name="connsiteX0" fmla="*/ 884246 w 7220398"/>
                <a:gd name="connsiteY0" fmla="*/ 101599 h 201966"/>
                <a:gd name="connsiteX1" fmla="*/ 932171 w 7220398"/>
                <a:gd name="connsiteY1" fmla="*/ 121452 h 201966"/>
                <a:gd name="connsiteX2" fmla="*/ 884273 w 7220398"/>
                <a:gd name="connsiteY2" fmla="*/ 169391 h 201966"/>
                <a:gd name="connsiteX3" fmla="*/ 836321 w 7220398"/>
                <a:gd name="connsiteY3" fmla="*/ 121452 h 201966"/>
                <a:gd name="connsiteX4" fmla="*/ 884246 w 7220398"/>
                <a:gd name="connsiteY4" fmla="*/ 101599 h 201966"/>
                <a:gd name="connsiteX5" fmla="*/ 628020 w 7220398"/>
                <a:gd name="connsiteY5" fmla="*/ 50800 h 201966"/>
                <a:gd name="connsiteX6" fmla="*/ 684541 w 7220398"/>
                <a:gd name="connsiteY6" fmla="*/ 107306 h 201966"/>
                <a:gd name="connsiteX7" fmla="*/ 628020 w 7220398"/>
                <a:gd name="connsiteY7" fmla="*/ 163823 h 201966"/>
                <a:gd name="connsiteX8" fmla="*/ 571500 w 7220398"/>
                <a:gd name="connsiteY8" fmla="*/ 107306 h 201966"/>
                <a:gd name="connsiteX9" fmla="*/ 628020 w 7220398"/>
                <a:gd name="connsiteY9" fmla="*/ 50800 h 201966"/>
                <a:gd name="connsiteX10" fmla="*/ 488318 w 7220398"/>
                <a:gd name="connsiteY10" fmla="*/ 50800 h 201966"/>
                <a:gd name="connsiteX11" fmla="*/ 544837 w 7220398"/>
                <a:gd name="connsiteY11" fmla="*/ 107306 h 201966"/>
                <a:gd name="connsiteX12" fmla="*/ 488318 w 7220398"/>
                <a:gd name="connsiteY12" fmla="*/ 163823 h 201966"/>
                <a:gd name="connsiteX13" fmla="*/ 431800 w 7220398"/>
                <a:gd name="connsiteY13" fmla="*/ 107306 h 201966"/>
                <a:gd name="connsiteX14" fmla="*/ 488318 w 7220398"/>
                <a:gd name="connsiteY14" fmla="*/ 50800 h 201966"/>
                <a:gd name="connsiteX15" fmla="*/ 348620 w 7220398"/>
                <a:gd name="connsiteY15" fmla="*/ 50800 h 201966"/>
                <a:gd name="connsiteX16" fmla="*/ 405141 w 7220398"/>
                <a:gd name="connsiteY16" fmla="*/ 107306 h 201966"/>
                <a:gd name="connsiteX17" fmla="*/ 348620 w 7220398"/>
                <a:gd name="connsiteY17" fmla="*/ 163823 h 201966"/>
                <a:gd name="connsiteX18" fmla="*/ 292100 w 7220398"/>
                <a:gd name="connsiteY18" fmla="*/ 107306 h 201966"/>
                <a:gd name="connsiteX19" fmla="*/ 348620 w 7220398"/>
                <a:gd name="connsiteY19" fmla="*/ 50800 h 201966"/>
                <a:gd name="connsiteX20" fmla="*/ 196222 w 7220398"/>
                <a:gd name="connsiteY20" fmla="*/ 50800 h 201966"/>
                <a:gd name="connsiteX21" fmla="*/ 252713 w 7220398"/>
                <a:gd name="connsiteY21" fmla="*/ 107306 h 201966"/>
                <a:gd name="connsiteX22" fmla="*/ 196222 w 7220398"/>
                <a:gd name="connsiteY22" fmla="*/ 163823 h 201966"/>
                <a:gd name="connsiteX23" fmla="*/ 139700 w 7220398"/>
                <a:gd name="connsiteY23" fmla="*/ 107306 h 201966"/>
                <a:gd name="connsiteX24" fmla="*/ 196222 w 7220398"/>
                <a:gd name="connsiteY24" fmla="*/ 50800 h 201966"/>
                <a:gd name="connsiteX25" fmla="*/ 56517 w 7220398"/>
                <a:gd name="connsiteY25" fmla="*/ 50800 h 201966"/>
                <a:gd name="connsiteX26" fmla="*/ 113013 w 7220398"/>
                <a:gd name="connsiteY26" fmla="*/ 107306 h 201966"/>
                <a:gd name="connsiteX27" fmla="*/ 56517 w 7220398"/>
                <a:gd name="connsiteY27" fmla="*/ 163823 h 201966"/>
                <a:gd name="connsiteX28" fmla="*/ 0 w 7220398"/>
                <a:gd name="connsiteY28" fmla="*/ 107306 h 201966"/>
                <a:gd name="connsiteX29" fmla="*/ 56517 w 7220398"/>
                <a:gd name="connsiteY29" fmla="*/ 50800 h 201966"/>
                <a:gd name="connsiteX30" fmla="*/ 884231 w 7220398"/>
                <a:gd name="connsiteY30" fmla="*/ 50799 h 201966"/>
                <a:gd name="connsiteX31" fmla="*/ 968363 w 7220398"/>
                <a:gd name="connsiteY31" fmla="*/ 85665 h 201966"/>
                <a:gd name="connsiteX32" fmla="*/ 949994 w 7220398"/>
                <a:gd name="connsiteY32" fmla="*/ 104064 h 201966"/>
                <a:gd name="connsiteX33" fmla="*/ 818500 w 7220398"/>
                <a:gd name="connsiteY33" fmla="*/ 104064 h 201966"/>
                <a:gd name="connsiteX34" fmla="*/ 800100 w 7220398"/>
                <a:gd name="connsiteY34" fmla="*/ 85665 h 201966"/>
                <a:gd name="connsiteX35" fmla="*/ 884231 w 7220398"/>
                <a:gd name="connsiteY35" fmla="*/ 50799 h 201966"/>
                <a:gd name="connsiteX36" fmla="*/ 6760660 w 7220398"/>
                <a:gd name="connsiteY36" fmla="*/ 36283 h 201966"/>
                <a:gd name="connsiteX37" fmla="*/ 7080614 w 7220398"/>
                <a:gd name="connsiteY37" fmla="*/ 36283 h 201966"/>
                <a:gd name="connsiteX38" fmla="*/ 7088316 w 7220398"/>
                <a:gd name="connsiteY38" fmla="*/ 43991 h 201966"/>
                <a:gd name="connsiteX39" fmla="*/ 7088316 w 7220398"/>
                <a:gd name="connsiteY39" fmla="*/ 153938 h 201966"/>
                <a:gd name="connsiteX40" fmla="*/ 7080614 w 7220398"/>
                <a:gd name="connsiteY40" fmla="*/ 161645 h 201966"/>
                <a:gd name="connsiteX41" fmla="*/ 6760660 w 7220398"/>
                <a:gd name="connsiteY41" fmla="*/ 161645 h 201966"/>
                <a:gd name="connsiteX42" fmla="*/ 6752944 w 7220398"/>
                <a:gd name="connsiteY42" fmla="*/ 153938 h 201966"/>
                <a:gd name="connsiteX43" fmla="*/ 6752944 w 7220398"/>
                <a:gd name="connsiteY43" fmla="*/ 43991 h 201966"/>
                <a:gd name="connsiteX44" fmla="*/ 6760660 w 7220398"/>
                <a:gd name="connsiteY44" fmla="*/ 36283 h 201966"/>
                <a:gd name="connsiteX45" fmla="*/ 6750030 w 7220398"/>
                <a:gd name="connsiteY45" fmla="*/ 8275 h 201966"/>
                <a:gd name="connsiteX46" fmla="*/ 6726576 w 7220398"/>
                <a:gd name="connsiteY46" fmla="*/ 31726 h 201966"/>
                <a:gd name="connsiteX47" fmla="*/ 6726576 w 7220398"/>
                <a:gd name="connsiteY47" fmla="*/ 170241 h 201966"/>
                <a:gd name="connsiteX48" fmla="*/ 6750030 w 7220398"/>
                <a:gd name="connsiteY48" fmla="*/ 193691 h 201966"/>
                <a:gd name="connsiteX49" fmla="*/ 7153150 w 7220398"/>
                <a:gd name="connsiteY49" fmla="*/ 193691 h 201966"/>
                <a:gd name="connsiteX50" fmla="*/ 7176604 w 7220398"/>
                <a:gd name="connsiteY50" fmla="*/ 170241 h 201966"/>
                <a:gd name="connsiteX51" fmla="*/ 7176604 w 7220398"/>
                <a:gd name="connsiteY51" fmla="*/ 31726 h 201966"/>
                <a:gd name="connsiteX52" fmla="*/ 7153150 w 7220398"/>
                <a:gd name="connsiteY52" fmla="*/ 8275 h 201966"/>
                <a:gd name="connsiteX53" fmla="*/ 6750030 w 7220398"/>
                <a:gd name="connsiteY53" fmla="*/ 0 h 201966"/>
                <a:gd name="connsiteX54" fmla="*/ 7153150 w 7220398"/>
                <a:gd name="connsiteY54" fmla="*/ 0 h 201966"/>
                <a:gd name="connsiteX55" fmla="*/ 7184856 w 7220398"/>
                <a:gd name="connsiteY55" fmla="*/ 31726 h 201966"/>
                <a:gd name="connsiteX56" fmla="*/ 7184856 w 7220398"/>
                <a:gd name="connsiteY56" fmla="*/ 64134 h 201966"/>
                <a:gd name="connsiteX57" fmla="*/ 7220398 w 7220398"/>
                <a:gd name="connsiteY57" fmla="*/ 100983 h 201966"/>
                <a:gd name="connsiteX58" fmla="*/ 7184856 w 7220398"/>
                <a:gd name="connsiteY58" fmla="*/ 137833 h 201966"/>
                <a:gd name="connsiteX59" fmla="*/ 7184856 w 7220398"/>
                <a:gd name="connsiteY59" fmla="*/ 170241 h 201966"/>
                <a:gd name="connsiteX60" fmla="*/ 7153150 w 7220398"/>
                <a:gd name="connsiteY60" fmla="*/ 201966 h 201966"/>
                <a:gd name="connsiteX61" fmla="*/ 6750030 w 7220398"/>
                <a:gd name="connsiteY61" fmla="*/ 201966 h 201966"/>
                <a:gd name="connsiteX62" fmla="*/ 6718300 w 7220398"/>
                <a:gd name="connsiteY62" fmla="*/ 170241 h 201966"/>
                <a:gd name="connsiteX63" fmla="*/ 6718300 w 7220398"/>
                <a:gd name="connsiteY63" fmla="*/ 31726 h 201966"/>
                <a:gd name="connsiteX64" fmla="*/ 6750030 w 7220398"/>
                <a:gd name="connsiteY64" fmla="*/ 0 h 201966"/>
                <a:gd name="connsiteX65" fmla="*/ 881329 w 7220398"/>
                <a:gd name="connsiteY65" fmla="*/ 0 h 201966"/>
                <a:gd name="connsiteX66" fmla="*/ 1000659 w 7220398"/>
                <a:gd name="connsiteY66" fmla="*/ 49421 h 201966"/>
                <a:gd name="connsiteX67" fmla="*/ 982307 w 7220398"/>
                <a:gd name="connsiteY67" fmla="*/ 67782 h 201966"/>
                <a:gd name="connsiteX68" fmla="*/ 780319 w 7220398"/>
                <a:gd name="connsiteY68" fmla="*/ 67770 h 201966"/>
                <a:gd name="connsiteX69" fmla="*/ 762000 w 7220398"/>
                <a:gd name="connsiteY69" fmla="*/ 49421 h 201966"/>
                <a:gd name="connsiteX70" fmla="*/ 881329 w 7220398"/>
                <a:gd name="connsiteY70" fmla="*/ 0 h 201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7220398" h="201966">
                  <a:moveTo>
                    <a:pt x="884246" y="101599"/>
                  </a:moveTo>
                  <a:cubicBezTo>
                    <a:pt x="901595" y="101599"/>
                    <a:pt x="918943" y="108217"/>
                    <a:pt x="932171" y="121452"/>
                  </a:cubicBezTo>
                  <a:lnTo>
                    <a:pt x="884273" y="169391"/>
                  </a:lnTo>
                  <a:lnTo>
                    <a:pt x="836321" y="121452"/>
                  </a:lnTo>
                  <a:cubicBezTo>
                    <a:pt x="849549" y="108217"/>
                    <a:pt x="866897" y="101599"/>
                    <a:pt x="884246" y="101599"/>
                  </a:cubicBezTo>
                  <a:close/>
                  <a:moveTo>
                    <a:pt x="628020" y="50800"/>
                  </a:moveTo>
                  <a:cubicBezTo>
                    <a:pt x="659217" y="50800"/>
                    <a:pt x="684541" y="76094"/>
                    <a:pt x="684541" y="107306"/>
                  </a:cubicBezTo>
                  <a:cubicBezTo>
                    <a:pt x="684541" y="138529"/>
                    <a:pt x="659217" y="163823"/>
                    <a:pt x="628020" y="163823"/>
                  </a:cubicBezTo>
                  <a:cubicBezTo>
                    <a:pt x="596798" y="163823"/>
                    <a:pt x="571500" y="138529"/>
                    <a:pt x="571500" y="107306"/>
                  </a:cubicBezTo>
                  <a:cubicBezTo>
                    <a:pt x="571500" y="76094"/>
                    <a:pt x="596798" y="50800"/>
                    <a:pt x="628020" y="50800"/>
                  </a:cubicBezTo>
                  <a:close/>
                  <a:moveTo>
                    <a:pt x="488318" y="50800"/>
                  </a:moveTo>
                  <a:cubicBezTo>
                    <a:pt x="519540" y="50800"/>
                    <a:pt x="544837" y="76094"/>
                    <a:pt x="544837" y="107306"/>
                  </a:cubicBezTo>
                  <a:cubicBezTo>
                    <a:pt x="544837" y="138529"/>
                    <a:pt x="519540" y="163823"/>
                    <a:pt x="488318" y="163823"/>
                  </a:cubicBezTo>
                  <a:cubicBezTo>
                    <a:pt x="457123" y="163823"/>
                    <a:pt x="431800" y="138529"/>
                    <a:pt x="431800" y="107306"/>
                  </a:cubicBezTo>
                  <a:cubicBezTo>
                    <a:pt x="431800" y="76094"/>
                    <a:pt x="457123" y="50800"/>
                    <a:pt x="488318" y="50800"/>
                  </a:cubicBezTo>
                  <a:close/>
                  <a:moveTo>
                    <a:pt x="348620" y="50800"/>
                  </a:moveTo>
                  <a:cubicBezTo>
                    <a:pt x="379817" y="50800"/>
                    <a:pt x="405141" y="76094"/>
                    <a:pt x="405141" y="107306"/>
                  </a:cubicBezTo>
                  <a:cubicBezTo>
                    <a:pt x="405141" y="138529"/>
                    <a:pt x="379817" y="163823"/>
                    <a:pt x="348620" y="163823"/>
                  </a:cubicBezTo>
                  <a:cubicBezTo>
                    <a:pt x="317398" y="163823"/>
                    <a:pt x="292100" y="138529"/>
                    <a:pt x="292100" y="107306"/>
                  </a:cubicBezTo>
                  <a:cubicBezTo>
                    <a:pt x="292100" y="76094"/>
                    <a:pt x="317398" y="50800"/>
                    <a:pt x="348620" y="50800"/>
                  </a:cubicBezTo>
                  <a:close/>
                  <a:moveTo>
                    <a:pt x="196222" y="50800"/>
                  </a:moveTo>
                  <a:cubicBezTo>
                    <a:pt x="227416" y="50800"/>
                    <a:pt x="252713" y="76094"/>
                    <a:pt x="252713" y="107306"/>
                  </a:cubicBezTo>
                  <a:cubicBezTo>
                    <a:pt x="252713" y="138529"/>
                    <a:pt x="227416" y="163823"/>
                    <a:pt x="196222" y="163823"/>
                  </a:cubicBezTo>
                  <a:cubicBezTo>
                    <a:pt x="164971" y="163823"/>
                    <a:pt x="139700" y="138529"/>
                    <a:pt x="139700" y="107306"/>
                  </a:cubicBezTo>
                  <a:cubicBezTo>
                    <a:pt x="139700" y="76094"/>
                    <a:pt x="164971" y="50800"/>
                    <a:pt x="196222" y="50800"/>
                  </a:cubicBezTo>
                  <a:close/>
                  <a:moveTo>
                    <a:pt x="56517" y="50800"/>
                  </a:moveTo>
                  <a:cubicBezTo>
                    <a:pt x="87742" y="50800"/>
                    <a:pt x="113013" y="76094"/>
                    <a:pt x="113013" y="107306"/>
                  </a:cubicBezTo>
                  <a:cubicBezTo>
                    <a:pt x="113013" y="138529"/>
                    <a:pt x="87742" y="163823"/>
                    <a:pt x="56517" y="163823"/>
                  </a:cubicBezTo>
                  <a:cubicBezTo>
                    <a:pt x="25297" y="163823"/>
                    <a:pt x="0" y="138529"/>
                    <a:pt x="0" y="107306"/>
                  </a:cubicBezTo>
                  <a:cubicBezTo>
                    <a:pt x="0" y="76094"/>
                    <a:pt x="25297" y="50800"/>
                    <a:pt x="56517" y="50800"/>
                  </a:cubicBezTo>
                  <a:close/>
                  <a:moveTo>
                    <a:pt x="884231" y="50799"/>
                  </a:moveTo>
                  <a:cubicBezTo>
                    <a:pt x="914686" y="50799"/>
                    <a:pt x="945141" y="62421"/>
                    <a:pt x="968363" y="85665"/>
                  </a:cubicBezTo>
                  <a:lnTo>
                    <a:pt x="949994" y="104064"/>
                  </a:lnTo>
                  <a:cubicBezTo>
                    <a:pt x="913678" y="67746"/>
                    <a:pt x="854785" y="67746"/>
                    <a:pt x="818500" y="104064"/>
                  </a:cubicBezTo>
                  <a:lnTo>
                    <a:pt x="800100" y="85665"/>
                  </a:lnTo>
                  <a:cubicBezTo>
                    <a:pt x="823322" y="62421"/>
                    <a:pt x="853777" y="50799"/>
                    <a:pt x="884231" y="50799"/>
                  </a:cubicBezTo>
                  <a:close/>
                  <a:moveTo>
                    <a:pt x="6760660" y="36283"/>
                  </a:moveTo>
                  <a:lnTo>
                    <a:pt x="7080614" y="36283"/>
                  </a:lnTo>
                  <a:cubicBezTo>
                    <a:pt x="7084854" y="36283"/>
                    <a:pt x="7088316" y="39748"/>
                    <a:pt x="7088316" y="43991"/>
                  </a:cubicBezTo>
                  <a:lnTo>
                    <a:pt x="7088316" y="153938"/>
                  </a:lnTo>
                  <a:cubicBezTo>
                    <a:pt x="7088316" y="158180"/>
                    <a:pt x="7084854" y="161645"/>
                    <a:pt x="7080614" y="161645"/>
                  </a:cubicBezTo>
                  <a:cubicBezTo>
                    <a:pt x="7080614" y="161645"/>
                    <a:pt x="6760660" y="161645"/>
                    <a:pt x="6760660" y="161645"/>
                  </a:cubicBezTo>
                  <a:cubicBezTo>
                    <a:pt x="6756406" y="161645"/>
                    <a:pt x="6752944" y="158180"/>
                    <a:pt x="6752944" y="153938"/>
                  </a:cubicBezTo>
                  <a:lnTo>
                    <a:pt x="6752944" y="43991"/>
                  </a:lnTo>
                  <a:cubicBezTo>
                    <a:pt x="6752944" y="39748"/>
                    <a:pt x="6756406" y="36283"/>
                    <a:pt x="6760660" y="36283"/>
                  </a:cubicBezTo>
                  <a:close/>
                  <a:moveTo>
                    <a:pt x="6750030" y="8275"/>
                  </a:moveTo>
                  <a:cubicBezTo>
                    <a:pt x="6737106" y="8275"/>
                    <a:pt x="6726576" y="18785"/>
                    <a:pt x="6726576" y="31726"/>
                  </a:cubicBezTo>
                  <a:lnTo>
                    <a:pt x="6726576" y="170241"/>
                  </a:lnTo>
                  <a:cubicBezTo>
                    <a:pt x="6726576" y="183172"/>
                    <a:pt x="6737106" y="193691"/>
                    <a:pt x="6750030" y="193691"/>
                  </a:cubicBezTo>
                  <a:lnTo>
                    <a:pt x="7153150" y="193691"/>
                  </a:lnTo>
                  <a:cubicBezTo>
                    <a:pt x="7166098" y="193691"/>
                    <a:pt x="7176604" y="183172"/>
                    <a:pt x="7176604" y="170241"/>
                  </a:cubicBezTo>
                  <a:cubicBezTo>
                    <a:pt x="7176604" y="170241"/>
                    <a:pt x="7176604" y="31726"/>
                    <a:pt x="7176604" y="31726"/>
                  </a:cubicBezTo>
                  <a:cubicBezTo>
                    <a:pt x="7176604" y="18785"/>
                    <a:pt x="7166098" y="8275"/>
                    <a:pt x="7153150" y="8275"/>
                  </a:cubicBezTo>
                  <a:close/>
                  <a:moveTo>
                    <a:pt x="6750030" y="0"/>
                  </a:moveTo>
                  <a:lnTo>
                    <a:pt x="7153150" y="0"/>
                  </a:lnTo>
                  <a:cubicBezTo>
                    <a:pt x="7170630" y="0"/>
                    <a:pt x="7184856" y="14222"/>
                    <a:pt x="7184856" y="31726"/>
                  </a:cubicBezTo>
                  <a:lnTo>
                    <a:pt x="7184856" y="64134"/>
                  </a:lnTo>
                  <a:cubicBezTo>
                    <a:pt x="7204614" y="65031"/>
                    <a:pt x="7220398" y="81030"/>
                    <a:pt x="7220398" y="100983"/>
                  </a:cubicBezTo>
                  <a:cubicBezTo>
                    <a:pt x="7220398" y="120927"/>
                    <a:pt x="7204614" y="136935"/>
                    <a:pt x="7184856" y="137833"/>
                  </a:cubicBezTo>
                  <a:lnTo>
                    <a:pt x="7184856" y="170241"/>
                  </a:lnTo>
                  <a:cubicBezTo>
                    <a:pt x="7184856" y="187744"/>
                    <a:pt x="7170630" y="201966"/>
                    <a:pt x="7153150" y="201966"/>
                  </a:cubicBezTo>
                  <a:lnTo>
                    <a:pt x="6750030" y="201966"/>
                  </a:lnTo>
                  <a:cubicBezTo>
                    <a:pt x="6732526" y="201966"/>
                    <a:pt x="6718300" y="187744"/>
                    <a:pt x="6718300" y="170241"/>
                  </a:cubicBezTo>
                  <a:lnTo>
                    <a:pt x="6718300" y="31726"/>
                  </a:lnTo>
                  <a:cubicBezTo>
                    <a:pt x="6718300" y="14222"/>
                    <a:pt x="6732526" y="0"/>
                    <a:pt x="6750030" y="0"/>
                  </a:cubicBezTo>
                  <a:close/>
                  <a:moveTo>
                    <a:pt x="881329" y="0"/>
                  </a:moveTo>
                  <a:cubicBezTo>
                    <a:pt x="924520" y="0"/>
                    <a:pt x="967711" y="16474"/>
                    <a:pt x="1000659" y="49421"/>
                  </a:cubicBezTo>
                  <a:lnTo>
                    <a:pt x="982307" y="67782"/>
                  </a:lnTo>
                  <a:cubicBezTo>
                    <a:pt x="926553" y="12002"/>
                    <a:pt x="836106" y="12002"/>
                    <a:pt x="780319" y="67770"/>
                  </a:cubicBezTo>
                  <a:cubicBezTo>
                    <a:pt x="780319" y="67770"/>
                    <a:pt x="762000" y="49421"/>
                    <a:pt x="762000" y="49421"/>
                  </a:cubicBezTo>
                  <a:cubicBezTo>
                    <a:pt x="794948" y="16474"/>
                    <a:pt x="838139" y="0"/>
                    <a:pt x="881329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15" name="Shape 23"/>
            <p:cNvSpPr/>
            <p:nvPr/>
          </p:nvSpPr>
          <p:spPr>
            <a:xfrm>
              <a:off x="18245261" y="6353566"/>
              <a:ext cx="46382" cy="10899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ubicBezTo>
                    <a:pt x="0" y="0"/>
                    <a:pt x="21600" y="0"/>
                    <a:pt x="21600" y="0"/>
                  </a:cubicBezTo>
                  <a:close/>
                </a:path>
              </a:pathLst>
            </a:custGeom>
            <a:gradFill>
              <a:gsLst>
                <a:gs pos="18000">
                  <a:srgbClr val="D6B992"/>
                </a:gs>
                <a:gs pos="71000">
                  <a:srgbClr val="D6B992"/>
                </a:gs>
                <a:gs pos="3000">
                  <a:srgbClr val="9D7F5B"/>
                </a:gs>
                <a:gs pos="90000">
                  <a:srgbClr val="9D7F5B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16" name="Shape 24"/>
            <p:cNvSpPr/>
            <p:nvPr/>
          </p:nvSpPr>
          <p:spPr>
            <a:xfrm>
              <a:off x="18223908" y="6353566"/>
              <a:ext cx="23191" cy="1089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041"/>
                  </a:lnTo>
                  <a:lnTo>
                    <a:pt x="0" y="559"/>
                  </a:lnTo>
                  <a:cubicBezTo>
                    <a:pt x="0" y="559"/>
                    <a:pt x="21600" y="0"/>
                    <a:pt x="21600" y="0"/>
                  </a:cubicBezTo>
                  <a:close/>
                </a:path>
              </a:pathLst>
            </a:custGeom>
            <a:gradFill>
              <a:gsLst>
                <a:gs pos="0">
                  <a:srgbClr val="9D7F5B"/>
                </a:gs>
                <a:gs pos="100000">
                  <a:srgbClr val="9D7F5B"/>
                </a:gs>
                <a:gs pos="49000">
                  <a:srgbClr val="ECDCAA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17" name="Shape 25"/>
            <p:cNvSpPr/>
            <p:nvPr/>
          </p:nvSpPr>
          <p:spPr>
            <a:xfrm>
              <a:off x="18266614" y="5093736"/>
              <a:ext cx="26590" cy="578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ubicBezTo>
                    <a:pt x="0" y="0"/>
                    <a:pt x="21600" y="0"/>
                    <a:pt x="21600" y="0"/>
                  </a:cubicBezTo>
                  <a:close/>
                </a:path>
              </a:pathLst>
            </a:custGeom>
            <a:gradFill>
              <a:gsLst>
                <a:gs pos="18000">
                  <a:srgbClr val="D6B992"/>
                </a:gs>
                <a:gs pos="71000">
                  <a:srgbClr val="D6B992"/>
                </a:gs>
                <a:gs pos="3000">
                  <a:srgbClr val="9D7F5B"/>
                </a:gs>
                <a:gs pos="90000">
                  <a:srgbClr val="9D7F5B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18" name="Shape 26"/>
            <p:cNvSpPr/>
            <p:nvPr/>
          </p:nvSpPr>
          <p:spPr>
            <a:xfrm>
              <a:off x="18255938" y="5093736"/>
              <a:ext cx="13295" cy="577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0997"/>
                  </a:lnTo>
                  <a:lnTo>
                    <a:pt x="0" y="604"/>
                  </a:lnTo>
                  <a:cubicBezTo>
                    <a:pt x="0" y="604"/>
                    <a:pt x="21600" y="0"/>
                    <a:pt x="21600" y="0"/>
                  </a:cubicBezTo>
                  <a:close/>
                </a:path>
              </a:pathLst>
            </a:custGeom>
            <a:gradFill>
              <a:gsLst>
                <a:gs pos="0">
                  <a:srgbClr val="9D7F5B"/>
                </a:gs>
                <a:gs pos="100000">
                  <a:srgbClr val="9D7F5B"/>
                </a:gs>
                <a:gs pos="49000">
                  <a:srgbClr val="ECDCAA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19" name="Shape 27"/>
            <p:cNvSpPr/>
            <p:nvPr/>
          </p:nvSpPr>
          <p:spPr>
            <a:xfrm>
              <a:off x="18245261" y="7698808"/>
              <a:ext cx="46382" cy="10899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ubicBezTo>
                    <a:pt x="0" y="0"/>
                    <a:pt x="21600" y="0"/>
                    <a:pt x="21600" y="0"/>
                  </a:cubicBezTo>
                  <a:close/>
                </a:path>
              </a:pathLst>
            </a:custGeom>
            <a:gradFill>
              <a:gsLst>
                <a:gs pos="18000">
                  <a:srgbClr val="D6B992"/>
                </a:gs>
                <a:gs pos="71000">
                  <a:srgbClr val="D6B992"/>
                </a:gs>
                <a:gs pos="3000">
                  <a:srgbClr val="9D7F5B"/>
                </a:gs>
                <a:gs pos="90000">
                  <a:srgbClr val="9D7F5B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20" name="Shape 28"/>
            <p:cNvSpPr/>
            <p:nvPr/>
          </p:nvSpPr>
          <p:spPr>
            <a:xfrm>
              <a:off x="18223908" y="7698808"/>
              <a:ext cx="23191" cy="1089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041"/>
                  </a:lnTo>
                  <a:lnTo>
                    <a:pt x="0" y="559"/>
                  </a:lnTo>
                  <a:cubicBezTo>
                    <a:pt x="0" y="559"/>
                    <a:pt x="21600" y="0"/>
                    <a:pt x="21600" y="0"/>
                  </a:cubicBezTo>
                  <a:close/>
                </a:path>
              </a:pathLst>
            </a:custGeom>
            <a:gradFill>
              <a:gsLst>
                <a:gs pos="0">
                  <a:srgbClr val="9D7F5B"/>
                </a:gs>
                <a:gs pos="100000">
                  <a:srgbClr val="9D7F5B"/>
                </a:gs>
                <a:gs pos="49000">
                  <a:srgbClr val="ECDCAA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21" name="Shape 29"/>
            <p:cNvSpPr/>
            <p:nvPr/>
          </p:nvSpPr>
          <p:spPr>
            <a:xfrm>
              <a:off x="25419887" y="6353566"/>
              <a:ext cx="46382" cy="10899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0"/>
                  </a:lnTo>
                  <a:lnTo>
                    <a:pt x="21600" y="21600"/>
                  </a:lnTo>
                  <a:cubicBezTo>
                    <a:pt x="21600" y="21600"/>
                    <a:pt x="0" y="21600"/>
                    <a:pt x="0" y="21600"/>
                  </a:cubicBezTo>
                  <a:close/>
                </a:path>
              </a:pathLst>
            </a:custGeom>
            <a:gradFill>
              <a:gsLst>
                <a:gs pos="18000">
                  <a:srgbClr val="D6B992"/>
                </a:gs>
                <a:gs pos="71000">
                  <a:srgbClr val="D6B992"/>
                </a:gs>
                <a:gs pos="3000">
                  <a:srgbClr val="9D7F5B"/>
                </a:gs>
                <a:gs pos="90000">
                  <a:srgbClr val="9D7F5B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22" name="Shape 30"/>
            <p:cNvSpPr/>
            <p:nvPr/>
          </p:nvSpPr>
          <p:spPr>
            <a:xfrm>
              <a:off x="25467142" y="6355146"/>
              <a:ext cx="23191" cy="1089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559"/>
                  </a:lnTo>
                  <a:lnTo>
                    <a:pt x="21600" y="21041"/>
                  </a:lnTo>
                  <a:cubicBezTo>
                    <a:pt x="21600" y="21041"/>
                    <a:pt x="0" y="21600"/>
                    <a:pt x="0" y="21600"/>
                  </a:cubicBezTo>
                  <a:close/>
                </a:path>
              </a:pathLst>
            </a:custGeom>
            <a:gradFill>
              <a:gsLst>
                <a:gs pos="0">
                  <a:srgbClr val="9D7F5B"/>
                </a:gs>
                <a:gs pos="100000">
                  <a:srgbClr val="9D7F5B"/>
                </a:gs>
                <a:gs pos="49000">
                  <a:srgbClr val="ECDCAA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23" name="Shape 31"/>
            <p:cNvSpPr/>
            <p:nvPr/>
          </p:nvSpPr>
          <p:spPr>
            <a:xfrm>
              <a:off x="20594097" y="4036760"/>
              <a:ext cx="241079" cy="241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7" y="21600"/>
                    <a:pt x="10801" y="21600"/>
                  </a:cubicBezTo>
                  <a:cubicBezTo>
                    <a:pt x="4836" y="21600"/>
                    <a:pt x="0" y="16765"/>
                    <a:pt x="0" y="10800"/>
                  </a:cubicBezTo>
                  <a:cubicBezTo>
                    <a:pt x="0" y="4835"/>
                    <a:pt x="4836" y="0"/>
                    <a:pt x="10801" y="0"/>
                  </a:cubicBezTo>
                  <a:cubicBezTo>
                    <a:pt x="16767" y="0"/>
                    <a:pt x="21600" y="4835"/>
                    <a:pt x="21600" y="10800"/>
                  </a:cubicBezTo>
                  <a:close/>
                </a:path>
              </a:pathLst>
            </a:custGeom>
            <a:gradFill>
              <a:gsLst>
                <a:gs pos="5000">
                  <a:srgbClr val="222729"/>
                </a:gs>
                <a:gs pos="96010">
                  <a:srgbClr val="7D7F7F"/>
                </a:gs>
              </a:gsLst>
              <a:lin ang="3265368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24" name="Shape 32"/>
            <p:cNvSpPr/>
            <p:nvPr/>
          </p:nvSpPr>
          <p:spPr>
            <a:xfrm>
              <a:off x="20658156" y="4090143"/>
              <a:ext cx="129247" cy="1292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1"/>
                  </a:moveTo>
                  <a:cubicBezTo>
                    <a:pt x="21600" y="16764"/>
                    <a:pt x="16767" y="21600"/>
                    <a:pt x="10802" y="21600"/>
                  </a:cubicBezTo>
                  <a:cubicBezTo>
                    <a:pt x="4837" y="21600"/>
                    <a:pt x="0" y="16764"/>
                    <a:pt x="0" y="10801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7" y="0"/>
                    <a:pt x="21600" y="4836"/>
                    <a:pt x="21600" y="10801"/>
                  </a:cubicBezTo>
                  <a:close/>
                </a:path>
              </a:pathLst>
            </a:custGeom>
            <a:solidFill>
              <a:srgbClr val="080A0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25" name="Shape 33"/>
            <p:cNvSpPr/>
            <p:nvPr/>
          </p:nvSpPr>
          <p:spPr>
            <a:xfrm>
              <a:off x="20668833" y="4100819"/>
              <a:ext cx="111876" cy="1118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6" y="21600"/>
                    <a:pt x="0" y="16764"/>
                    <a:pt x="0" y="10800"/>
                  </a:cubicBezTo>
                  <a:cubicBezTo>
                    <a:pt x="0" y="4836"/>
                    <a:pt x="4836" y="0"/>
                    <a:pt x="10800" y="0"/>
                  </a:cubicBezTo>
                  <a:cubicBezTo>
                    <a:pt x="16764" y="0"/>
                    <a:pt x="21600" y="4836"/>
                    <a:pt x="21600" y="10800"/>
                  </a:cubicBezTo>
                  <a:close/>
                </a:path>
              </a:pathLst>
            </a:custGeom>
            <a:gradFill>
              <a:gsLst>
                <a:gs pos="7000">
                  <a:srgbClr val="39669E"/>
                </a:gs>
                <a:gs pos="90979">
                  <a:srgbClr val="294C7E"/>
                </a:gs>
              </a:gsLst>
              <a:lin ang="27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26" name="Shape 34"/>
            <p:cNvSpPr/>
            <p:nvPr/>
          </p:nvSpPr>
          <p:spPr>
            <a:xfrm>
              <a:off x="21277395" y="4090143"/>
              <a:ext cx="1159539" cy="1333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8" y="0"/>
                  </a:moveTo>
                  <a:lnTo>
                    <a:pt x="1242" y="0"/>
                  </a:lnTo>
                  <a:cubicBezTo>
                    <a:pt x="556" y="0"/>
                    <a:pt x="0" y="4835"/>
                    <a:pt x="0" y="10800"/>
                  </a:cubicBezTo>
                  <a:cubicBezTo>
                    <a:pt x="0" y="16765"/>
                    <a:pt x="556" y="21600"/>
                    <a:pt x="1242" y="21600"/>
                  </a:cubicBezTo>
                  <a:lnTo>
                    <a:pt x="20358" y="21600"/>
                  </a:lnTo>
                  <a:cubicBezTo>
                    <a:pt x="21044" y="21600"/>
                    <a:pt x="21600" y="16765"/>
                    <a:pt x="21600" y="10800"/>
                  </a:cubicBezTo>
                  <a:cubicBezTo>
                    <a:pt x="21600" y="4835"/>
                    <a:pt x="21044" y="0"/>
                    <a:pt x="20358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27" name="Shape 35"/>
            <p:cNvSpPr/>
            <p:nvPr/>
          </p:nvSpPr>
          <p:spPr>
            <a:xfrm>
              <a:off x="21277395" y="4100819"/>
              <a:ext cx="1159539" cy="1167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8" y="18895"/>
                  </a:moveTo>
                  <a:lnTo>
                    <a:pt x="1242" y="18895"/>
                  </a:lnTo>
                  <a:cubicBezTo>
                    <a:pt x="729" y="18895"/>
                    <a:pt x="311" y="15264"/>
                    <a:pt x="311" y="10800"/>
                  </a:cubicBezTo>
                  <a:cubicBezTo>
                    <a:pt x="311" y="6337"/>
                    <a:pt x="729" y="2705"/>
                    <a:pt x="1242" y="2705"/>
                  </a:cubicBezTo>
                  <a:lnTo>
                    <a:pt x="20358" y="2705"/>
                  </a:lnTo>
                  <a:cubicBezTo>
                    <a:pt x="20871" y="2705"/>
                    <a:pt x="21289" y="6337"/>
                    <a:pt x="21289" y="10800"/>
                  </a:cubicBezTo>
                  <a:cubicBezTo>
                    <a:pt x="21289" y="15264"/>
                    <a:pt x="20871" y="18895"/>
                    <a:pt x="20358" y="18895"/>
                  </a:cubicBezTo>
                  <a:close/>
                  <a:moveTo>
                    <a:pt x="20358" y="0"/>
                  </a:moveTo>
                  <a:lnTo>
                    <a:pt x="1242" y="0"/>
                  </a:lnTo>
                  <a:cubicBezTo>
                    <a:pt x="556" y="0"/>
                    <a:pt x="0" y="4834"/>
                    <a:pt x="0" y="10800"/>
                  </a:cubicBezTo>
                  <a:cubicBezTo>
                    <a:pt x="0" y="16766"/>
                    <a:pt x="556" y="21600"/>
                    <a:pt x="1242" y="21600"/>
                  </a:cubicBezTo>
                  <a:lnTo>
                    <a:pt x="20358" y="21600"/>
                  </a:lnTo>
                  <a:cubicBezTo>
                    <a:pt x="21044" y="21600"/>
                    <a:pt x="21600" y="16766"/>
                    <a:pt x="21600" y="10800"/>
                  </a:cubicBezTo>
                  <a:cubicBezTo>
                    <a:pt x="21600" y="4834"/>
                    <a:pt x="21044" y="0"/>
                    <a:pt x="20358" y="0"/>
                  </a:cubicBezTo>
                  <a:close/>
                </a:path>
              </a:pathLst>
            </a:custGeom>
            <a:gradFill>
              <a:gsLst>
                <a:gs pos="18000">
                  <a:srgbClr val="A38A5C"/>
                </a:gs>
                <a:gs pos="58000">
                  <a:srgbClr val="D6B992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28" name="Shape 36"/>
            <p:cNvSpPr/>
            <p:nvPr/>
          </p:nvSpPr>
          <p:spPr>
            <a:xfrm>
              <a:off x="21277395" y="4090143"/>
              <a:ext cx="1159539" cy="1333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8" y="18895"/>
                  </a:moveTo>
                  <a:lnTo>
                    <a:pt x="1242" y="18895"/>
                  </a:lnTo>
                  <a:cubicBezTo>
                    <a:pt x="729" y="18895"/>
                    <a:pt x="311" y="15265"/>
                    <a:pt x="311" y="10800"/>
                  </a:cubicBezTo>
                  <a:cubicBezTo>
                    <a:pt x="311" y="6335"/>
                    <a:pt x="729" y="2705"/>
                    <a:pt x="1242" y="2705"/>
                  </a:cubicBezTo>
                  <a:lnTo>
                    <a:pt x="20358" y="2705"/>
                  </a:lnTo>
                  <a:cubicBezTo>
                    <a:pt x="20871" y="2705"/>
                    <a:pt x="21289" y="6335"/>
                    <a:pt x="21289" y="10800"/>
                  </a:cubicBezTo>
                  <a:cubicBezTo>
                    <a:pt x="21289" y="15265"/>
                    <a:pt x="20871" y="18895"/>
                    <a:pt x="20358" y="18895"/>
                  </a:cubicBezTo>
                  <a:close/>
                  <a:moveTo>
                    <a:pt x="20358" y="0"/>
                  </a:moveTo>
                  <a:lnTo>
                    <a:pt x="1242" y="0"/>
                  </a:lnTo>
                  <a:cubicBezTo>
                    <a:pt x="556" y="0"/>
                    <a:pt x="0" y="4835"/>
                    <a:pt x="0" y="10800"/>
                  </a:cubicBezTo>
                  <a:cubicBezTo>
                    <a:pt x="0" y="16765"/>
                    <a:pt x="556" y="21600"/>
                    <a:pt x="1242" y="21600"/>
                  </a:cubicBezTo>
                  <a:lnTo>
                    <a:pt x="20358" y="21600"/>
                  </a:lnTo>
                  <a:cubicBezTo>
                    <a:pt x="21044" y="21600"/>
                    <a:pt x="21600" y="16765"/>
                    <a:pt x="21600" y="10800"/>
                  </a:cubicBezTo>
                  <a:cubicBezTo>
                    <a:pt x="21600" y="4835"/>
                    <a:pt x="21044" y="0"/>
                    <a:pt x="20358" y="0"/>
                  </a:cubicBezTo>
                  <a:close/>
                </a:path>
              </a:pathLst>
            </a:custGeom>
            <a:gradFill>
              <a:gsLst>
                <a:gs pos="18000">
                  <a:srgbClr val="A38A5C"/>
                </a:gs>
                <a:gs pos="58000">
                  <a:srgbClr val="D6B992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29" name="Shape 37"/>
            <p:cNvSpPr/>
            <p:nvPr/>
          </p:nvSpPr>
          <p:spPr>
            <a:xfrm>
              <a:off x="18287967" y="16528293"/>
              <a:ext cx="116882" cy="2124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D6B99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793626" y="931855"/>
            <a:ext cx="1684245" cy="3409736"/>
            <a:chOff x="18223908" y="3214668"/>
            <a:chExt cx="7266425" cy="14710811"/>
          </a:xfrm>
          <a:effectLst>
            <a:reflection blurRad="6350" stA="35000" endPos="15000" dir="5400000" sy="-100000" algn="bl" rotWithShape="0"/>
          </a:effectLst>
        </p:grpSpPr>
        <p:sp>
          <p:nvSpPr>
            <p:cNvPr id="32" name="Shape 6"/>
            <p:cNvSpPr/>
            <p:nvPr/>
          </p:nvSpPr>
          <p:spPr>
            <a:xfrm>
              <a:off x="18287967" y="3225345"/>
              <a:ext cx="7127581" cy="14691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14" y="18917"/>
                  </a:moveTo>
                  <a:lnTo>
                    <a:pt x="1239" y="18917"/>
                  </a:lnTo>
                  <a:lnTo>
                    <a:pt x="1239" y="2586"/>
                  </a:lnTo>
                  <a:lnTo>
                    <a:pt x="20214" y="2586"/>
                  </a:lnTo>
                  <a:cubicBezTo>
                    <a:pt x="20214" y="2586"/>
                    <a:pt x="20214" y="18917"/>
                    <a:pt x="20214" y="18917"/>
                  </a:cubicBezTo>
                  <a:close/>
                  <a:moveTo>
                    <a:pt x="18332" y="0"/>
                  </a:moveTo>
                  <a:lnTo>
                    <a:pt x="3268" y="0"/>
                  </a:lnTo>
                  <a:cubicBezTo>
                    <a:pt x="1466" y="0"/>
                    <a:pt x="0" y="711"/>
                    <a:pt x="0" y="1586"/>
                  </a:cubicBezTo>
                  <a:lnTo>
                    <a:pt x="0" y="20014"/>
                  </a:lnTo>
                  <a:cubicBezTo>
                    <a:pt x="0" y="20889"/>
                    <a:pt x="1466" y="21600"/>
                    <a:pt x="3268" y="21600"/>
                  </a:cubicBezTo>
                  <a:lnTo>
                    <a:pt x="18332" y="21600"/>
                  </a:lnTo>
                  <a:cubicBezTo>
                    <a:pt x="20134" y="21600"/>
                    <a:pt x="21600" y="20889"/>
                    <a:pt x="21600" y="20014"/>
                  </a:cubicBezTo>
                  <a:lnTo>
                    <a:pt x="21600" y="1586"/>
                  </a:lnTo>
                  <a:cubicBezTo>
                    <a:pt x="21600" y="711"/>
                    <a:pt x="20134" y="0"/>
                    <a:pt x="18332" y="0"/>
                  </a:cubicBezTo>
                  <a:close/>
                </a:path>
              </a:pathLst>
            </a:custGeom>
            <a:solidFill>
              <a:srgbClr val="F3DCB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33" name="Shape 7"/>
            <p:cNvSpPr/>
            <p:nvPr/>
          </p:nvSpPr>
          <p:spPr>
            <a:xfrm>
              <a:off x="18404095" y="3360164"/>
              <a:ext cx="6893837" cy="144581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33" y="19049"/>
                  </a:moveTo>
                  <a:lnTo>
                    <a:pt x="914" y="19049"/>
                  </a:lnTo>
                  <a:lnTo>
                    <a:pt x="914" y="2453"/>
                  </a:lnTo>
                  <a:lnTo>
                    <a:pt x="20533" y="2453"/>
                  </a:lnTo>
                  <a:cubicBezTo>
                    <a:pt x="20533" y="2453"/>
                    <a:pt x="20533" y="19049"/>
                    <a:pt x="20533" y="19049"/>
                  </a:cubicBezTo>
                  <a:close/>
                  <a:moveTo>
                    <a:pt x="18587" y="0"/>
                  </a:moveTo>
                  <a:lnTo>
                    <a:pt x="3013" y="0"/>
                  </a:lnTo>
                  <a:cubicBezTo>
                    <a:pt x="1349" y="0"/>
                    <a:pt x="0" y="643"/>
                    <a:pt x="0" y="1437"/>
                  </a:cubicBezTo>
                  <a:lnTo>
                    <a:pt x="0" y="20163"/>
                  </a:lnTo>
                  <a:cubicBezTo>
                    <a:pt x="0" y="20957"/>
                    <a:pt x="1349" y="21600"/>
                    <a:pt x="3013" y="21600"/>
                  </a:cubicBezTo>
                  <a:lnTo>
                    <a:pt x="18587" y="21600"/>
                  </a:lnTo>
                  <a:cubicBezTo>
                    <a:pt x="20251" y="21600"/>
                    <a:pt x="21600" y="20957"/>
                    <a:pt x="21600" y="20163"/>
                  </a:cubicBezTo>
                  <a:lnTo>
                    <a:pt x="21600" y="1437"/>
                  </a:lnTo>
                  <a:cubicBezTo>
                    <a:pt x="21600" y="643"/>
                    <a:pt x="20251" y="0"/>
                    <a:pt x="18587" y="0"/>
                  </a:cubicBezTo>
                  <a:close/>
                </a:path>
              </a:pathLst>
            </a:custGeom>
            <a:solidFill>
              <a:srgbClr val="F5F6F7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34" name="Shape 8"/>
            <p:cNvSpPr/>
            <p:nvPr/>
          </p:nvSpPr>
          <p:spPr>
            <a:xfrm>
              <a:off x="18490821" y="3428198"/>
              <a:ext cx="6726856" cy="142912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78" y="20273"/>
                  </a:moveTo>
                  <a:cubicBezTo>
                    <a:pt x="21278" y="20921"/>
                    <a:pt x="20158" y="21449"/>
                    <a:pt x="18780" y="21449"/>
                  </a:cubicBezTo>
                  <a:lnTo>
                    <a:pt x="2820" y="21449"/>
                  </a:lnTo>
                  <a:cubicBezTo>
                    <a:pt x="1442" y="21449"/>
                    <a:pt x="322" y="20921"/>
                    <a:pt x="322" y="20273"/>
                  </a:cubicBezTo>
                  <a:lnTo>
                    <a:pt x="322" y="1327"/>
                  </a:lnTo>
                  <a:cubicBezTo>
                    <a:pt x="322" y="679"/>
                    <a:pt x="1442" y="151"/>
                    <a:pt x="2820" y="151"/>
                  </a:cubicBezTo>
                  <a:lnTo>
                    <a:pt x="18780" y="151"/>
                  </a:lnTo>
                  <a:cubicBezTo>
                    <a:pt x="20158" y="151"/>
                    <a:pt x="21278" y="679"/>
                    <a:pt x="21278" y="1327"/>
                  </a:cubicBezTo>
                  <a:cubicBezTo>
                    <a:pt x="21278" y="1327"/>
                    <a:pt x="21278" y="20273"/>
                    <a:pt x="21278" y="20273"/>
                  </a:cubicBezTo>
                  <a:close/>
                  <a:moveTo>
                    <a:pt x="18780" y="0"/>
                  </a:moveTo>
                  <a:lnTo>
                    <a:pt x="2820" y="0"/>
                  </a:lnTo>
                  <a:cubicBezTo>
                    <a:pt x="1265" y="0"/>
                    <a:pt x="0" y="595"/>
                    <a:pt x="0" y="1327"/>
                  </a:cubicBezTo>
                  <a:lnTo>
                    <a:pt x="0" y="20273"/>
                  </a:lnTo>
                  <a:cubicBezTo>
                    <a:pt x="0" y="21005"/>
                    <a:pt x="1265" y="21600"/>
                    <a:pt x="2820" y="21600"/>
                  </a:cubicBezTo>
                  <a:lnTo>
                    <a:pt x="18780" y="21600"/>
                  </a:lnTo>
                  <a:cubicBezTo>
                    <a:pt x="20335" y="21600"/>
                    <a:pt x="21600" y="21005"/>
                    <a:pt x="21600" y="20273"/>
                  </a:cubicBezTo>
                  <a:lnTo>
                    <a:pt x="21600" y="1327"/>
                  </a:lnTo>
                  <a:cubicBezTo>
                    <a:pt x="21600" y="595"/>
                    <a:pt x="20335" y="0"/>
                    <a:pt x="18780" y="0"/>
                  </a:cubicBezTo>
                  <a:close/>
                </a:path>
              </a:pathLst>
            </a:custGeom>
            <a:gradFill>
              <a:gsLst>
                <a:gs pos="4000">
                  <a:srgbClr val="EDE6D8"/>
                </a:gs>
                <a:gs pos="24000">
                  <a:srgbClr val="F5F0E8"/>
                </a:gs>
              </a:gsLst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35" name="Shape 9"/>
            <p:cNvSpPr/>
            <p:nvPr/>
          </p:nvSpPr>
          <p:spPr>
            <a:xfrm>
              <a:off x="21298748" y="16421528"/>
              <a:ext cx="1118365" cy="1118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564"/>
                  </a:moveTo>
                  <a:cubicBezTo>
                    <a:pt x="5408" y="20564"/>
                    <a:pt x="1036" y="16193"/>
                    <a:pt x="1036" y="10800"/>
                  </a:cubicBezTo>
                  <a:cubicBezTo>
                    <a:pt x="1036" y="5408"/>
                    <a:pt x="5408" y="1036"/>
                    <a:pt x="10800" y="1036"/>
                  </a:cubicBezTo>
                  <a:cubicBezTo>
                    <a:pt x="16193" y="1036"/>
                    <a:pt x="20564" y="5408"/>
                    <a:pt x="20564" y="10800"/>
                  </a:cubicBezTo>
                  <a:cubicBezTo>
                    <a:pt x="20564" y="16193"/>
                    <a:pt x="16193" y="20564"/>
                    <a:pt x="10800" y="20564"/>
                  </a:cubicBezTo>
                  <a:close/>
                  <a:moveTo>
                    <a:pt x="10800" y="0"/>
                  </a:moveTo>
                  <a:cubicBezTo>
                    <a:pt x="4835" y="0"/>
                    <a:pt x="0" y="4836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6"/>
                    <a:pt x="16765" y="0"/>
                    <a:pt x="10800" y="0"/>
                  </a:cubicBezTo>
                  <a:close/>
                </a:path>
              </a:pathLst>
            </a:custGeom>
            <a:solidFill>
              <a:srgbClr val="A38A5C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36" name="Shape 10"/>
            <p:cNvSpPr/>
            <p:nvPr/>
          </p:nvSpPr>
          <p:spPr>
            <a:xfrm>
              <a:off x="21341454" y="16421528"/>
              <a:ext cx="914946" cy="363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3" y="21600"/>
                  </a:moveTo>
                  <a:cubicBezTo>
                    <a:pt x="2977" y="10785"/>
                    <a:pt x="7227" y="3185"/>
                    <a:pt x="12183" y="3185"/>
                  </a:cubicBezTo>
                  <a:cubicBezTo>
                    <a:pt x="15317" y="3185"/>
                    <a:pt x="18168" y="6227"/>
                    <a:pt x="20297" y="11195"/>
                  </a:cubicBezTo>
                  <a:lnTo>
                    <a:pt x="21600" y="9940"/>
                  </a:lnTo>
                  <a:cubicBezTo>
                    <a:pt x="19205" y="3808"/>
                    <a:pt x="15872" y="0"/>
                    <a:pt x="12183" y="0"/>
                  </a:cubicBezTo>
                  <a:cubicBezTo>
                    <a:pt x="6697" y="0"/>
                    <a:pt x="1993" y="8418"/>
                    <a:pt x="0" y="20398"/>
                  </a:cubicBezTo>
                  <a:cubicBezTo>
                    <a:pt x="0" y="20398"/>
                    <a:pt x="1173" y="21600"/>
                    <a:pt x="1173" y="21600"/>
                  </a:cubicBezTo>
                  <a:close/>
                </a:path>
              </a:pathLst>
            </a:custGeom>
            <a:gradFill>
              <a:gsLst>
                <a:gs pos="4000">
                  <a:srgbClr val="A38A5C"/>
                </a:gs>
                <a:gs pos="58000">
                  <a:srgbClr val="ECDCAA"/>
                </a:gs>
              </a:gsLst>
              <a:lin ang="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37" name="Shape 11"/>
            <p:cNvSpPr/>
            <p:nvPr/>
          </p:nvSpPr>
          <p:spPr>
            <a:xfrm>
              <a:off x="21715132" y="17435797"/>
              <a:ext cx="392475" cy="107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124" y="0"/>
                  </a:moveTo>
                  <a:cubicBezTo>
                    <a:pt x="16358" y="6931"/>
                    <a:pt x="12100" y="10861"/>
                    <a:pt x="7589" y="10861"/>
                  </a:cubicBezTo>
                  <a:cubicBezTo>
                    <a:pt x="5232" y="10861"/>
                    <a:pt x="2944" y="9787"/>
                    <a:pt x="759" y="7778"/>
                  </a:cubicBezTo>
                  <a:lnTo>
                    <a:pt x="0" y="18164"/>
                  </a:lnTo>
                  <a:cubicBezTo>
                    <a:pt x="2428" y="20403"/>
                    <a:pt x="4971" y="21600"/>
                    <a:pt x="7589" y="21600"/>
                  </a:cubicBezTo>
                  <a:cubicBezTo>
                    <a:pt x="12639" y="21600"/>
                    <a:pt x="17397" y="17153"/>
                    <a:pt x="21600" y="9315"/>
                  </a:cubicBezTo>
                  <a:cubicBezTo>
                    <a:pt x="21600" y="9315"/>
                    <a:pt x="20124" y="0"/>
                    <a:pt x="20124" y="0"/>
                  </a:cubicBezTo>
                  <a:close/>
                </a:path>
              </a:pathLst>
            </a:custGeom>
            <a:gradFill>
              <a:gsLst>
                <a:gs pos="4000">
                  <a:srgbClr val="A38A5C"/>
                </a:gs>
                <a:gs pos="58000">
                  <a:srgbClr val="ECDCAA"/>
                </a:gs>
              </a:gsLst>
              <a:lin ang="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38" name="Shape 12"/>
            <p:cNvSpPr/>
            <p:nvPr/>
          </p:nvSpPr>
          <p:spPr>
            <a:xfrm>
              <a:off x="18277291" y="3214668"/>
              <a:ext cx="7146526" cy="14710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88" y="199"/>
                  </a:moveTo>
                  <a:cubicBezTo>
                    <a:pt x="1702" y="199"/>
                    <a:pt x="411" y="827"/>
                    <a:pt x="411" y="1597"/>
                  </a:cubicBezTo>
                  <a:lnTo>
                    <a:pt x="411" y="20003"/>
                  </a:lnTo>
                  <a:cubicBezTo>
                    <a:pt x="411" y="20774"/>
                    <a:pt x="1702" y="21401"/>
                    <a:pt x="3288" y="21401"/>
                  </a:cubicBezTo>
                  <a:lnTo>
                    <a:pt x="18312" y="21401"/>
                  </a:lnTo>
                  <a:cubicBezTo>
                    <a:pt x="19899" y="21401"/>
                    <a:pt x="21190" y="20774"/>
                    <a:pt x="21190" y="20003"/>
                  </a:cubicBezTo>
                  <a:lnTo>
                    <a:pt x="21190" y="1597"/>
                  </a:lnTo>
                  <a:cubicBezTo>
                    <a:pt x="21190" y="827"/>
                    <a:pt x="19899" y="199"/>
                    <a:pt x="18312" y="199"/>
                  </a:cubicBezTo>
                  <a:cubicBezTo>
                    <a:pt x="18312" y="199"/>
                    <a:pt x="3288" y="199"/>
                    <a:pt x="3288" y="199"/>
                  </a:cubicBezTo>
                  <a:close/>
                  <a:moveTo>
                    <a:pt x="18312" y="21428"/>
                  </a:moveTo>
                  <a:lnTo>
                    <a:pt x="3288" y="21428"/>
                  </a:lnTo>
                  <a:cubicBezTo>
                    <a:pt x="1670" y="21428"/>
                    <a:pt x="353" y="20789"/>
                    <a:pt x="353" y="20003"/>
                  </a:cubicBezTo>
                  <a:lnTo>
                    <a:pt x="353" y="1597"/>
                  </a:lnTo>
                  <a:cubicBezTo>
                    <a:pt x="353" y="811"/>
                    <a:pt x="1670" y="172"/>
                    <a:pt x="3288" y="172"/>
                  </a:cubicBezTo>
                  <a:lnTo>
                    <a:pt x="18312" y="172"/>
                  </a:lnTo>
                  <a:cubicBezTo>
                    <a:pt x="19930" y="172"/>
                    <a:pt x="21247" y="811"/>
                    <a:pt x="21247" y="1597"/>
                  </a:cubicBezTo>
                  <a:lnTo>
                    <a:pt x="21247" y="20003"/>
                  </a:lnTo>
                  <a:cubicBezTo>
                    <a:pt x="21247" y="20789"/>
                    <a:pt x="19930" y="21428"/>
                    <a:pt x="18312" y="21428"/>
                  </a:cubicBezTo>
                  <a:close/>
                  <a:moveTo>
                    <a:pt x="3288" y="28"/>
                  </a:moveTo>
                  <a:cubicBezTo>
                    <a:pt x="1507" y="28"/>
                    <a:pt x="57" y="732"/>
                    <a:pt x="57" y="1597"/>
                  </a:cubicBezTo>
                  <a:lnTo>
                    <a:pt x="57" y="20003"/>
                  </a:lnTo>
                  <a:cubicBezTo>
                    <a:pt x="57" y="20868"/>
                    <a:pt x="1507" y="21572"/>
                    <a:pt x="3288" y="21572"/>
                  </a:cubicBezTo>
                  <a:lnTo>
                    <a:pt x="18312" y="21572"/>
                  </a:lnTo>
                  <a:cubicBezTo>
                    <a:pt x="20093" y="21572"/>
                    <a:pt x="21543" y="20868"/>
                    <a:pt x="21543" y="20003"/>
                  </a:cubicBezTo>
                  <a:lnTo>
                    <a:pt x="21543" y="1597"/>
                  </a:lnTo>
                  <a:cubicBezTo>
                    <a:pt x="21543" y="732"/>
                    <a:pt x="20093" y="28"/>
                    <a:pt x="18312" y="28"/>
                  </a:cubicBezTo>
                  <a:cubicBezTo>
                    <a:pt x="18312" y="28"/>
                    <a:pt x="3288" y="28"/>
                    <a:pt x="3288" y="28"/>
                  </a:cubicBezTo>
                  <a:close/>
                  <a:moveTo>
                    <a:pt x="18312" y="21600"/>
                  </a:moveTo>
                  <a:lnTo>
                    <a:pt x="3288" y="21600"/>
                  </a:lnTo>
                  <a:cubicBezTo>
                    <a:pt x="1475" y="21600"/>
                    <a:pt x="0" y="20883"/>
                    <a:pt x="0" y="20003"/>
                  </a:cubicBezTo>
                  <a:lnTo>
                    <a:pt x="0" y="1597"/>
                  </a:lnTo>
                  <a:cubicBezTo>
                    <a:pt x="0" y="717"/>
                    <a:pt x="1475" y="0"/>
                    <a:pt x="3288" y="0"/>
                  </a:cubicBezTo>
                  <a:lnTo>
                    <a:pt x="18312" y="0"/>
                  </a:lnTo>
                  <a:cubicBezTo>
                    <a:pt x="20125" y="0"/>
                    <a:pt x="21600" y="717"/>
                    <a:pt x="21600" y="1597"/>
                  </a:cubicBezTo>
                  <a:lnTo>
                    <a:pt x="21600" y="20003"/>
                  </a:lnTo>
                  <a:cubicBezTo>
                    <a:pt x="21600" y="20883"/>
                    <a:pt x="20125" y="21600"/>
                    <a:pt x="18312" y="21600"/>
                  </a:cubicBezTo>
                  <a:close/>
                </a:path>
              </a:pathLst>
            </a:custGeom>
            <a:solidFill>
              <a:srgbClr val="D6B992">
                <a:alpha val="6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39" name="Freeform 38"/>
            <p:cNvSpPr/>
            <p:nvPr/>
          </p:nvSpPr>
          <p:spPr>
            <a:xfrm>
              <a:off x="18832469" y="5104412"/>
              <a:ext cx="6069982" cy="169787"/>
            </a:xfrm>
            <a:custGeom>
              <a:avLst/>
              <a:gdLst>
                <a:gd name="connsiteX0" fmla="*/ 884246 w 7220398"/>
                <a:gd name="connsiteY0" fmla="*/ 101599 h 201966"/>
                <a:gd name="connsiteX1" fmla="*/ 932171 w 7220398"/>
                <a:gd name="connsiteY1" fmla="*/ 121452 h 201966"/>
                <a:gd name="connsiteX2" fmla="*/ 884273 w 7220398"/>
                <a:gd name="connsiteY2" fmla="*/ 169391 h 201966"/>
                <a:gd name="connsiteX3" fmla="*/ 836321 w 7220398"/>
                <a:gd name="connsiteY3" fmla="*/ 121452 h 201966"/>
                <a:gd name="connsiteX4" fmla="*/ 884246 w 7220398"/>
                <a:gd name="connsiteY4" fmla="*/ 101599 h 201966"/>
                <a:gd name="connsiteX5" fmla="*/ 628020 w 7220398"/>
                <a:gd name="connsiteY5" fmla="*/ 50800 h 201966"/>
                <a:gd name="connsiteX6" fmla="*/ 684541 w 7220398"/>
                <a:gd name="connsiteY6" fmla="*/ 107306 h 201966"/>
                <a:gd name="connsiteX7" fmla="*/ 628020 w 7220398"/>
                <a:gd name="connsiteY7" fmla="*/ 163823 h 201966"/>
                <a:gd name="connsiteX8" fmla="*/ 571500 w 7220398"/>
                <a:gd name="connsiteY8" fmla="*/ 107306 h 201966"/>
                <a:gd name="connsiteX9" fmla="*/ 628020 w 7220398"/>
                <a:gd name="connsiteY9" fmla="*/ 50800 h 201966"/>
                <a:gd name="connsiteX10" fmla="*/ 488318 w 7220398"/>
                <a:gd name="connsiteY10" fmla="*/ 50800 h 201966"/>
                <a:gd name="connsiteX11" fmla="*/ 544837 w 7220398"/>
                <a:gd name="connsiteY11" fmla="*/ 107306 h 201966"/>
                <a:gd name="connsiteX12" fmla="*/ 488318 w 7220398"/>
                <a:gd name="connsiteY12" fmla="*/ 163823 h 201966"/>
                <a:gd name="connsiteX13" fmla="*/ 431800 w 7220398"/>
                <a:gd name="connsiteY13" fmla="*/ 107306 h 201966"/>
                <a:gd name="connsiteX14" fmla="*/ 488318 w 7220398"/>
                <a:gd name="connsiteY14" fmla="*/ 50800 h 201966"/>
                <a:gd name="connsiteX15" fmla="*/ 348620 w 7220398"/>
                <a:gd name="connsiteY15" fmla="*/ 50800 h 201966"/>
                <a:gd name="connsiteX16" fmla="*/ 405141 w 7220398"/>
                <a:gd name="connsiteY16" fmla="*/ 107306 h 201966"/>
                <a:gd name="connsiteX17" fmla="*/ 348620 w 7220398"/>
                <a:gd name="connsiteY17" fmla="*/ 163823 h 201966"/>
                <a:gd name="connsiteX18" fmla="*/ 292100 w 7220398"/>
                <a:gd name="connsiteY18" fmla="*/ 107306 h 201966"/>
                <a:gd name="connsiteX19" fmla="*/ 348620 w 7220398"/>
                <a:gd name="connsiteY19" fmla="*/ 50800 h 201966"/>
                <a:gd name="connsiteX20" fmla="*/ 196222 w 7220398"/>
                <a:gd name="connsiteY20" fmla="*/ 50800 h 201966"/>
                <a:gd name="connsiteX21" fmla="*/ 252713 w 7220398"/>
                <a:gd name="connsiteY21" fmla="*/ 107306 h 201966"/>
                <a:gd name="connsiteX22" fmla="*/ 196222 w 7220398"/>
                <a:gd name="connsiteY22" fmla="*/ 163823 h 201966"/>
                <a:gd name="connsiteX23" fmla="*/ 139700 w 7220398"/>
                <a:gd name="connsiteY23" fmla="*/ 107306 h 201966"/>
                <a:gd name="connsiteX24" fmla="*/ 196222 w 7220398"/>
                <a:gd name="connsiteY24" fmla="*/ 50800 h 201966"/>
                <a:gd name="connsiteX25" fmla="*/ 56517 w 7220398"/>
                <a:gd name="connsiteY25" fmla="*/ 50800 h 201966"/>
                <a:gd name="connsiteX26" fmla="*/ 113013 w 7220398"/>
                <a:gd name="connsiteY26" fmla="*/ 107306 h 201966"/>
                <a:gd name="connsiteX27" fmla="*/ 56517 w 7220398"/>
                <a:gd name="connsiteY27" fmla="*/ 163823 h 201966"/>
                <a:gd name="connsiteX28" fmla="*/ 0 w 7220398"/>
                <a:gd name="connsiteY28" fmla="*/ 107306 h 201966"/>
                <a:gd name="connsiteX29" fmla="*/ 56517 w 7220398"/>
                <a:gd name="connsiteY29" fmla="*/ 50800 h 201966"/>
                <a:gd name="connsiteX30" fmla="*/ 884231 w 7220398"/>
                <a:gd name="connsiteY30" fmla="*/ 50799 h 201966"/>
                <a:gd name="connsiteX31" fmla="*/ 968363 w 7220398"/>
                <a:gd name="connsiteY31" fmla="*/ 85665 h 201966"/>
                <a:gd name="connsiteX32" fmla="*/ 949994 w 7220398"/>
                <a:gd name="connsiteY32" fmla="*/ 104064 h 201966"/>
                <a:gd name="connsiteX33" fmla="*/ 818500 w 7220398"/>
                <a:gd name="connsiteY33" fmla="*/ 104064 h 201966"/>
                <a:gd name="connsiteX34" fmla="*/ 800100 w 7220398"/>
                <a:gd name="connsiteY34" fmla="*/ 85665 h 201966"/>
                <a:gd name="connsiteX35" fmla="*/ 884231 w 7220398"/>
                <a:gd name="connsiteY35" fmla="*/ 50799 h 201966"/>
                <a:gd name="connsiteX36" fmla="*/ 6760660 w 7220398"/>
                <a:gd name="connsiteY36" fmla="*/ 36283 h 201966"/>
                <a:gd name="connsiteX37" fmla="*/ 7080614 w 7220398"/>
                <a:gd name="connsiteY37" fmla="*/ 36283 h 201966"/>
                <a:gd name="connsiteX38" fmla="*/ 7088316 w 7220398"/>
                <a:gd name="connsiteY38" fmla="*/ 43991 h 201966"/>
                <a:gd name="connsiteX39" fmla="*/ 7088316 w 7220398"/>
                <a:gd name="connsiteY39" fmla="*/ 153938 h 201966"/>
                <a:gd name="connsiteX40" fmla="*/ 7080614 w 7220398"/>
                <a:gd name="connsiteY40" fmla="*/ 161645 h 201966"/>
                <a:gd name="connsiteX41" fmla="*/ 6760660 w 7220398"/>
                <a:gd name="connsiteY41" fmla="*/ 161645 h 201966"/>
                <a:gd name="connsiteX42" fmla="*/ 6752944 w 7220398"/>
                <a:gd name="connsiteY42" fmla="*/ 153938 h 201966"/>
                <a:gd name="connsiteX43" fmla="*/ 6752944 w 7220398"/>
                <a:gd name="connsiteY43" fmla="*/ 43991 h 201966"/>
                <a:gd name="connsiteX44" fmla="*/ 6760660 w 7220398"/>
                <a:gd name="connsiteY44" fmla="*/ 36283 h 201966"/>
                <a:gd name="connsiteX45" fmla="*/ 6750030 w 7220398"/>
                <a:gd name="connsiteY45" fmla="*/ 8275 h 201966"/>
                <a:gd name="connsiteX46" fmla="*/ 6726576 w 7220398"/>
                <a:gd name="connsiteY46" fmla="*/ 31726 h 201966"/>
                <a:gd name="connsiteX47" fmla="*/ 6726576 w 7220398"/>
                <a:gd name="connsiteY47" fmla="*/ 170241 h 201966"/>
                <a:gd name="connsiteX48" fmla="*/ 6750030 w 7220398"/>
                <a:gd name="connsiteY48" fmla="*/ 193691 h 201966"/>
                <a:gd name="connsiteX49" fmla="*/ 7153150 w 7220398"/>
                <a:gd name="connsiteY49" fmla="*/ 193691 h 201966"/>
                <a:gd name="connsiteX50" fmla="*/ 7176604 w 7220398"/>
                <a:gd name="connsiteY50" fmla="*/ 170241 h 201966"/>
                <a:gd name="connsiteX51" fmla="*/ 7176604 w 7220398"/>
                <a:gd name="connsiteY51" fmla="*/ 31726 h 201966"/>
                <a:gd name="connsiteX52" fmla="*/ 7153150 w 7220398"/>
                <a:gd name="connsiteY52" fmla="*/ 8275 h 201966"/>
                <a:gd name="connsiteX53" fmla="*/ 6750030 w 7220398"/>
                <a:gd name="connsiteY53" fmla="*/ 0 h 201966"/>
                <a:gd name="connsiteX54" fmla="*/ 7153150 w 7220398"/>
                <a:gd name="connsiteY54" fmla="*/ 0 h 201966"/>
                <a:gd name="connsiteX55" fmla="*/ 7184856 w 7220398"/>
                <a:gd name="connsiteY55" fmla="*/ 31726 h 201966"/>
                <a:gd name="connsiteX56" fmla="*/ 7184856 w 7220398"/>
                <a:gd name="connsiteY56" fmla="*/ 64134 h 201966"/>
                <a:gd name="connsiteX57" fmla="*/ 7220398 w 7220398"/>
                <a:gd name="connsiteY57" fmla="*/ 100983 h 201966"/>
                <a:gd name="connsiteX58" fmla="*/ 7184856 w 7220398"/>
                <a:gd name="connsiteY58" fmla="*/ 137833 h 201966"/>
                <a:gd name="connsiteX59" fmla="*/ 7184856 w 7220398"/>
                <a:gd name="connsiteY59" fmla="*/ 170241 h 201966"/>
                <a:gd name="connsiteX60" fmla="*/ 7153150 w 7220398"/>
                <a:gd name="connsiteY60" fmla="*/ 201966 h 201966"/>
                <a:gd name="connsiteX61" fmla="*/ 6750030 w 7220398"/>
                <a:gd name="connsiteY61" fmla="*/ 201966 h 201966"/>
                <a:gd name="connsiteX62" fmla="*/ 6718300 w 7220398"/>
                <a:gd name="connsiteY62" fmla="*/ 170241 h 201966"/>
                <a:gd name="connsiteX63" fmla="*/ 6718300 w 7220398"/>
                <a:gd name="connsiteY63" fmla="*/ 31726 h 201966"/>
                <a:gd name="connsiteX64" fmla="*/ 6750030 w 7220398"/>
                <a:gd name="connsiteY64" fmla="*/ 0 h 201966"/>
                <a:gd name="connsiteX65" fmla="*/ 881329 w 7220398"/>
                <a:gd name="connsiteY65" fmla="*/ 0 h 201966"/>
                <a:gd name="connsiteX66" fmla="*/ 1000659 w 7220398"/>
                <a:gd name="connsiteY66" fmla="*/ 49421 h 201966"/>
                <a:gd name="connsiteX67" fmla="*/ 982307 w 7220398"/>
                <a:gd name="connsiteY67" fmla="*/ 67782 h 201966"/>
                <a:gd name="connsiteX68" fmla="*/ 780319 w 7220398"/>
                <a:gd name="connsiteY68" fmla="*/ 67770 h 201966"/>
                <a:gd name="connsiteX69" fmla="*/ 762000 w 7220398"/>
                <a:gd name="connsiteY69" fmla="*/ 49421 h 201966"/>
                <a:gd name="connsiteX70" fmla="*/ 881329 w 7220398"/>
                <a:gd name="connsiteY70" fmla="*/ 0 h 201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7220398" h="201966">
                  <a:moveTo>
                    <a:pt x="884246" y="101599"/>
                  </a:moveTo>
                  <a:cubicBezTo>
                    <a:pt x="901595" y="101599"/>
                    <a:pt x="918943" y="108217"/>
                    <a:pt x="932171" y="121452"/>
                  </a:cubicBezTo>
                  <a:lnTo>
                    <a:pt x="884273" y="169391"/>
                  </a:lnTo>
                  <a:lnTo>
                    <a:pt x="836321" y="121452"/>
                  </a:lnTo>
                  <a:cubicBezTo>
                    <a:pt x="849549" y="108217"/>
                    <a:pt x="866897" y="101599"/>
                    <a:pt x="884246" y="101599"/>
                  </a:cubicBezTo>
                  <a:close/>
                  <a:moveTo>
                    <a:pt x="628020" y="50800"/>
                  </a:moveTo>
                  <a:cubicBezTo>
                    <a:pt x="659217" y="50800"/>
                    <a:pt x="684541" y="76094"/>
                    <a:pt x="684541" y="107306"/>
                  </a:cubicBezTo>
                  <a:cubicBezTo>
                    <a:pt x="684541" y="138529"/>
                    <a:pt x="659217" y="163823"/>
                    <a:pt x="628020" y="163823"/>
                  </a:cubicBezTo>
                  <a:cubicBezTo>
                    <a:pt x="596798" y="163823"/>
                    <a:pt x="571500" y="138529"/>
                    <a:pt x="571500" y="107306"/>
                  </a:cubicBezTo>
                  <a:cubicBezTo>
                    <a:pt x="571500" y="76094"/>
                    <a:pt x="596798" y="50800"/>
                    <a:pt x="628020" y="50800"/>
                  </a:cubicBezTo>
                  <a:close/>
                  <a:moveTo>
                    <a:pt x="488318" y="50800"/>
                  </a:moveTo>
                  <a:cubicBezTo>
                    <a:pt x="519540" y="50800"/>
                    <a:pt x="544837" y="76094"/>
                    <a:pt x="544837" y="107306"/>
                  </a:cubicBezTo>
                  <a:cubicBezTo>
                    <a:pt x="544837" y="138529"/>
                    <a:pt x="519540" y="163823"/>
                    <a:pt x="488318" y="163823"/>
                  </a:cubicBezTo>
                  <a:cubicBezTo>
                    <a:pt x="457123" y="163823"/>
                    <a:pt x="431800" y="138529"/>
                    <a:pt x="431800" y="107306"/>
                  </a:cubicBezTo>
                  <a:cubicBezTo>
                    <a:pt x="431800" y="76094"/>
                    <a:pt x="457123" y="50800"/>
                    <a:pt x="488318" y="50800"/>
                  </a:cubicBezTo>
                  <a:close/>
                  <a:moveTo>
                    <a:pt x="348620" y="50800"/>
                  </a:moveTo>
                  <a:cubicBezTo>
                    <a:pt x="379817" y="50800"/>
                    <a:pt x="405141" y="76094"/>
                    <a:pt x="405141" y="107306"/>
                  </a:cubicBezTo>
                  <a:cubicBezTo>
                    <a:pt x="405141" y="138529"/>
                    <a:pt x="379817" y="163823"/>
                    <a:pt x="348620" y="163823"/>
                  </a:cubicBezTo>
                  <a:cubicBezTo>
                    <a:pt x="317398" y="163823"/>
                    <a:pt x="292100" y="138529"/>
                    <a:pt x="292100" y="107306"/>
                  </a:cubicBezTo>
                  <a:cubicBezTo>
                    <a:pt x="292100" y="76094"/>
                    <a:pt x="317398" y="50800"/>
                    <a:pt x="348620" y="50800"/>
                  </a:cubicBezTo>
                  <a:close/>
                  <a:moveTo>
                    <a:pt x="196222" y="50800"/>
                  </a:moveTo>
                  <a:cubicBezTo>
                    <a:pt x="227416" y="50800"/>
                    <a:pt x="252713" y="76094"/>
                    <a:pt x="252713" y="107306"/>
                  </a:cubicBezTo>
                  <a:cubicBezTo>
                    <a:pt x="252713" y="138529"/>
                    <a:pt x="227416" y="163823"/>
                    <a:pt x="196222" y="163823"/>
                  </a:cubicBezTo>
                  <a:cubicBezTo>
                    <a:pt x="164971" y="163823"/>
                    <a:pt x="139700" y="138529"/>
                    <a:pt x="139700" y="107306"/>
                  </a:cubicBezTo>
                  <a:cubicBezTo>
                    <a:pt x="139700" y="76094"/>
                    <a:pt x="164971" y="50800"/>
                    <a:pt x="196222" y="50800"/>
                  </a:cubicBezTo>
                  <a:close/>
                  <a:moveTo>
                    <a:pt x="56517" y="50800"/>
                  </a:moveTo>
                  <a:cubicBezTo>
                    <a:pt x="87742" y="50800"/>
                    <a:pt x="113013" y="76094"/>
                    <a:pt x="113013" y="107306"/>
                  </a:cubicBezTo>
                  <a:cubicBezTo>
                    <a:pt x="113013" y="138529"/>
                    <a:pt x="87742" y="163823"/>
                    <a:pt x="56517" y="163823"/>
                  </a:cubicBezTo>
                  <a:cubicBezTo>
                    <a:pt x="25297" y="163823"/>
                    <a:pt x="0" y="138529"/>
                    <a:pt x="0" y="107306"/>
                  </a:cubicBezTo>
                  <a:cubicBezTo>
                    <a:pt x="0" y="76094"/>
                    <a:pt x="25297" y="50800"/>
                    <a:pt x="56517" y="50800"/>
                  </a:cubicBezTo>
                  <a:close/>
                  <a:moveTo>
                    <a:pt x="884231" y="50799"/>
                  </a:moveTo>
                  <a:cubicBezTo>
                    <a:pt x="914686" y="50799"/>
                    <a:pt x="945141" y="62421"/>
                    <a:pt x="968363" y="85665"/>
                  </a:cubicBezTo>
                  <a:lnTo>
                    <a:pt x="949994" y="104064"/>
                  </a:lnTo>
                  <a:cubicBezTo>
                    <a:pt x="913678" y="67746"/>
                    <a:pt x="854785" y="67746"/>
                    <a:pt x="818500" y="104064"/>
                  </a:cubicBezTo>
                  <a:lnTo>
                    <a:pt x="800100" y="85665"/>
                  </a:lnTo>
                  <a:cubicBezTo>
                    <a:pt x="823322" y="62421"/>
                    <a:pt x="853777" y="50799"/>
                    <a:pt x="884231" y="50799"/>
                  </a:cubicBezTo>
                  <a:close/>
                  <a:moveTo>
                    <a:pt x="6760660" y="36283"/>
                  </a:moveTo>
                  <a:lnTo>
                    <a:pt x="7080614" y="36283"/>
                  </a:lnTo>
                  <a:cubicBezTo>
                    <a:pt x="7084854" y="36283"/>
                    <a:pt x="7088316" y="39748"/>
                    <a:pt x="7088316" y="43991"/>
                  </a:cubicBezTo>
                  <a:lnTo>
                    <a:pt x="7088316" y="153938"/>
                  </a:lnTo>
                  <a:cubicBezTo>
                    <a:pt x="7088316" y="158180"/>
                    <a:pt x="7084854" y="161645"/>
                    <a:pt x="7080614" y="161645"/>
                  </a:cubicBezTo>
                  <a:cubicBezTo>
                    <a:pt x="7080614" y="161645"/>
                    <a:pt x="6760660" y="161645"/>
                    <a:pt x="6760660" y="161645"/>
                  </a:cubicBezTo>
                  <a:cubicBezTo>
                    <a:pt x="6756406" y="161645"/>
                    <a:pt x="6752944" y="158180"/>
                    <a:pt x="6752944" y="153938"/>
                  </a:cubicBezTo>
                  <a:lnTo>
                    <a:pt x="6752944" y="43991"/>
                  </a:lnTo>
                  <a:cubicBezTo>
                    <a:pt x="6752944" y="39748"/>
                    <a:pt x="6756406" y="36283"/>
                    <a:pt x="6760660" y="36283"/>
                  </a:cubicBezTo>
                  <a:close/>
                  <a:moveTo>
                    <a:pt x="6750030" y="8275"/>
                  </a:moveTo>
                  <a:cubicBezTo>
                    <a:pt x="6737106" y="8275"/>
                    <a:pt x="6726576" y="18785"/>
                    <a:pt x="6726576" y="31726"/>
                  </a:cubicBezTo>
                  <a:lnTo>
                    <a:pt x="6726576" y="170241"/>
                  </a:lnTo>
                  <a:cubicBezTo>
                    <a:pt x="6726576" y="183172"/>
                    <a:pt x="6737106" y="193691"/>
                    <a:pt x="6750030" y="193691"/>
                  </a:cubicBezTo>
                  <a:lnTo>
                    <a:pt x="7153150" y="193691"/>
                  </a:lnTo>
                  <a:cubicBezTo>
                    <a:pt x="7166098" y="193691"/>
                    <a:pt x="7176604" y="183172"/>
                    <a:pt x="7176604" y="170241"/>
                  </a:cubicBezTo>
                  <a:cubicBezTo>
                    <a:pt x="7176604" y="170241"/>
                    <a:pt x="7176604" y="31726"/>
                    <a:pt x="7176604" y="31726"/>
                  </a:cubicBezTo>
                  <a:cubicBezTo>
                    <a:pt x="7176604" y="18785"/>
                    <a:pt x="7166098" y="8275"/>
                    <a:pt x="7153150" y="8275"/>
                  </a:cubicBezTo>
                  <a:close/>
                  <a:moveTo>
                    <a:pt x="6750030" y="0"/>
                  </a:moveTo>
                  <a:lnTo>
                    <a:pt x="7153150" y="0"/>
                  </a:lnTo>
                  <a:cubicBezTo>
                    <a:pt x="7170630" y="0"/>
                    <a:pt x="7184856" y="14222"/>
                    <a:pt x="7184856" y="31726"/>
                  </a:cubicBezTo>
                  <a:lnTo>
                    <a:pt x="7184856" y="64134"/>
                  </a:lnTo>
                  <a:cubicBezTo>
                    <a:pt x="7204614" y="65031"/>
                    <a:pt x="7220398" y="81030"/>
                    <a:pt x="7220398" y="100983"/>
                  </a:cubicBezTo>
                  <a:cubicBezTo>
                    <a:pt x="7220398" y="120927"/>
                    <a:pt x="7204614" y="136935"/>
                    <a:pt x="7184856" y="137833"/>
                  </a:cubicBezTo>
                  <a:lnTo>
                    <a:pt x="7184856" y="170241"/>
                  </a:lnTo>
                  <a:cubicBezTo>
                    <a:pt x="7184856" y="187744"/>
                    <a:pt x="7170630" y="201966"/>
                    <a:pt x="7153150" y="201966"/>
                  </a:cubicBezTo>
                  <a:lnTo>
                    <a:pt x="6750030" y="201966"/>
                  </a:lnTo>
                  <a:cubicBezTo>
                    <a:pt x="6732526" y="201966"/>
                    <a:pt x="6718300" y="187744"/>
                    <a:pt x="6718300" y="170241"/>
                  </a:cubicBezTo>
                  <a:lnTo>
                    <a:pt x="6718300" y="31726"/>
                  </a:lnTo>
                  <a:cubicBezTo>
                    <a:pt x="6718300" y="14222"/>
                    <a:pt x="6732526" y="0"/>
                    <a:pt x="6750030" y="0"/>
                  </a:cubicBezTo>
                  <a:close/>
                  <a:moveTo>
                    <a:pt x="881329" y="0"/>
                  </a:moveTo>
                  <a:cubicBezTo>
                    <a:pt x="924520" y="0"/>
                    <a:pt x="967711" y="16474"/>
                    <a:pt x="1000659" y="49421"/>
                  </a:cubicBezTo>
                  <a:lnTo>
                    <a:pt x="982307" y="67782"/>
                  </a:lnTo>
                  <a:cubicBezTo>
                    <a:pt x="926553" y="12002"/>
                    <a:pt x="836106" y="12002"/>
                    <a:pt x="780319" y="67770"/>
                  </a:cubicBezTo>
                  <a:cubicBezTo>
                    <a:pt x="780319" y="67770"/>
                    <a:pt x="762000" y="49421"/>
                    <a:pt x="762000" y="49421"/>
                  </a:cubicBezTo>
                  <a:cubicBezTo>
                    <a:pt x="794948" y="16474"/>
                    <a:pt x="838139" y="0"/>
                    <a:pt x="881329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40" name="Shape 23"/>
            <p:cNvSpPr/>
            <p:nvPr/>
          </p:nvSpPr>
          <p:spPr>
            <a:xfrm>
              <a:off x="18245261" y="6353566"/>
              <a:ext cx="46382" cy="10899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ubicBezTo>
                    <a:pt x="0" y="0"/>
                    <a:pt x="21600" y="0"/>
                    <a:pt x="21600" y="0"/>
                  </a:cubicBezTo>
                  <a:close/>
                </a:path>
              </a:pathLst>
            </a:custGeom>
            <a:gradFill>
              <a:gsLst>
                <a:gs pos="18000">
                  <a:srgbClr val="D6B992"/>
                </a:gs>
                <a:gs pos="71000">
                  <a:srgbClr val="D6B992"/>
                </a:gs>
                <a:gs pos="3000">
                  <a:srgbClr val="9D7F5B"/>
                </a:gs>
                <a:gs pos="90000">
                  <a:srgbClr val="9D7F5B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41" name="Shape 24"/>
            <p:cNvSpPr/>
            <p:nvPr/>
          </p:nvSpPr>
          <p:spPr>
            <a:xfrm>
              <a:off x="18223908" y="6353566"/>
              <a:ext cx="23191" cy="1089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041"/>
                  </a:lnTo>
                  <a:lnTo>
                    <a:pt x="0" y="559"/>
                  </a:lnTo>
                  <a:cubicBezTo>
                    <a:pt x="0" y="559"/>
                    <a:pt x="21600" y="0"/>
                    <a:pt x="21600" y="0"/>
                  </a:cubicBezTo>
                  <a:close/>
                </a:path>
              </a:pathLst>
            </a:custGeom>
            <a:gradFill>
              <a:gsLst>
                <a:gs pos="0">
                  <a:srgbClr val="9D7F5B"/>
                </a:gs>
                <a:gs pos="100000">
                  <a:srgbClr val="9D7F5B"/>
                </a:gs>
                <a:gs pos="49000">
                  <a:srgbClr val="ECDCAA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42" name="Shape 25"/>
            <p:cNvSpPr/>
            <p:nvPr/>
          </p:nvSpPr>
          <p:spPr>
            <a:xfrm>
              <a:off x="18266614" y="5093736"/>
              <a:ext cx="26590" cy="578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ubicBezTo>
                    <a:pt x="0" y="0"/>
                    <a:pt x="21600" y="0"/>
                    <a:pt x="21600" y="0"/>
                  </a:cubicBezTo>
                  <a:close/>
                </a:path>
              </a:pathLst>
            </a:custGeom>
            <a:gradFill>
              <a:gsLst>
                <a:gs pos="18000">
                  <a:srgbClr val="D6B992"/>
                </a:gs>
                <a:gs pos="71000">
                  <a:srgbClr val="D6B992"/>
                </a:gs>
                <a:gs pos="3000">
                  <a:srgbClr val="9D7F5B"/>
                </a:gs>
                <a:gs pos="90000">
                  <a:srgbClr val="9D7F5B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43" name="Shape 26"/>
            <p:cNvSpPr/>
            <p:nvPr/>
          </p:nvSpPr>
          <p:spPr>
            <a:xfrm>
              <a:off x="18255938" y="5093736"/>
              <a:ext cx="13295" cy="577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0997"/>
                  </a:lnTo>
                  <a:lnTo>
                    <a:pt x="0" y="604"/>
                  </a:lnTo>
                  <a:cubicBezTo>
                    <a:pt x="0" y="604"/>
                    <a:pt x="21600" y="0"/>
                    <a:pt x="21600" y="0"/>
                  </a:cubicBezTo>
                  <a:close/>
                </a:path>
              </a:pathLst>
            </a:custGeom>
            <a:gradFill>
              <a:gsLst>
                <a:gs pos="0">
                  <a:srgbClr val="9D7F5B"/>
                </a:gs>
                <a:gs pos="100000">
                  <a:srgbClr val="9D7F5B"/>
                </a:gs>
                <a:gs pos="49000">
                  <a:srgbClr val="ECDCAA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44" name="Shape 27"/>
            <p:cNvSpPr/>
            <p:nvPr/>
          </p:nvSpPr>
          <p:spPr>
            <a:xfrm>
              <a:off x="18245261" y="7698808"/>
              <a:ext cx="46382" cy="10899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ubicBezTo>
                    <a:pt x="0" y="0"/>
                    <a:pt x="21600" y="0"/>
                    <a:pt x="21600" y="0"/>
                  </a:cubicBezTo>
                  <a:close/>
                </a:path>
              </a:pathLst>
            </a:custGeom>
            <a:gradFill>
              <a:gsLst>
                <a:gs pos="18000">
                  <a:srgbClr val="D6B992"/>
                </a:gs>
                <a:gs pos="71000">
                  <a:srgbClr val="D6B992"/>
                </a:gs>
                <a:gs pos="3000">
                  <a:srgbClr val="9D7F5B"/>
                </a:gs>
                <a:gs pos="90000">
                  <a:srgbClr val="9D7F5B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45" name="Shape 28"/>
            <p:cNvSpPr/>
            <p:nvPr/>
          </p:nvSpPr>
          <p:spPr>
            <a:xfrm>
              <a:off x="18223908" y="7698808"/>
              <a:ext cx="23191" cy="1089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041"/>
                  </a:lnTo>
                  <a:lnTo>
                    <a:pt x="0" y="559"/>
                  </a:lnTo>
                  <a:cubicBezTo>
                    <a:pt x="0" y="559"/>
                    <a:pt x="21600" y="0"/>
                    <a:pt x="21600" y="0"/>
                  </a:cubicBezTo>
                  <a:close/>
                </a:path>
              </a:pathLst>
            </a:custGeom>
            <a:gradFill>
              <a:gsLst>
                <a:gs pos="0">
                  <a:srgbClr val="9D7F5B"/>
                </a:gs>
                <a:gs pos="100000">
                  <a:srgbClr val="9D7F5B"/>
                </a:gs>
                <a:gs pos="49000">
                  <a:srgbClr val="ECDCAA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46" name="Shape 29"/>
            <p:cNvSpPr/>
            <p:nvPr/>
          </p:nvSpPr>
          <p:spPr>
            <a:xfrm>
              <a:off x="25419887" y="6353566"/>
              <a:ext cx="46382" cy="10899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0"/>
                  </a:lnTo>
                  <a:lnTo>
                    <a:pt x="21600" y="21600"/>
                  </a:lnTo>
                  <a:cubicBezTo>
                    <a:pt x="21600" y="21600"/>
                    <a:pt x="0" y="21600"/>
                    <a:pt x="0" y="21600"/>
                  </a:cubicBezTo>
                  <a:close/>
                </a:path>
              </a:pathLst>
            </a:custGeom>
            <a:gradFill>
              <a:gsLst>
                <a:gs pos="18000">
                  <a:srgbClr val="D6B992"/>
                </a:gs>
                <a:gs pos="71000">
                  <a:srgbClr val="D6B992"/>
                </a:gs>
                <a:gs pos="3000">
                  <a:srgbClr val="9D7F5B"/>
                </a:gs>
                <a:gs pos="90000">
                  <a:srgbClr val="9D7F5B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47" name="Shape 30"/>
            <p:cNvSpPr/>
            <p:nvPr/>
          </p:nvSpPr>
          <p:spPr>
            <a:xfrm>
              <a:off x="25467142" y="6355146"/>
              <a:ext cx="23191" cy="1089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559"/>
                  </a:lnTo>
                  <a:lnTo>
                    <a:pt x="21600" y="21041"/>
                  </a:lnTo>
                  <a:cubicBezTo>
                    <a:pt x="21600" y="21041"/>
                    <a:pt x="0" y="21600"/>
                    <a:pt x="0" y="21600"/>
                  </a:cubicBezTo>
                  <a:close/>
                </a:path>
              </a:pathLst>
            </a:custGeom>
            <a:gradFill>
              <a:gsLst>
                <a:gs pos="0">
                  <a:srgbClr val="9D7F5B"/>
                </a:gs>
                <a:gs pos="100000">
                  <a:srgbClr val="9D7F5B"/>
                </a:gs>
                <a:gs pos="49000">
                  <a:srgbClr val="ECDCAA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48" name="Shape 31"/>
            <p:cNvSpPr/>
            <p:nvPr/>
          </p:nvSpPr>
          <p:spPr>
            <a:xfrm>
              <a:off x="20594097" y="4036760"/>
              <a:ext cx="241079" cy="241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7" y="21600"/>
                    <a:pt x="10801" y="21600"/>
                  </a:cubicBezTo>
                  <a:cubicBezTo>
                    <a:pt x="4836" y="21600"/>
                    <a:pt x="0" y="16765"/>
                    <a:pt x="0" y="10800"/>
                  </a:cubicBezTo>
                  <a:cubicBezTo>
                    <a:pt x="0" y="4835"/>
                    <a:pt x="4836" y="0"/>
                    <a:pt x="10801" y="0"/>
                  </a:cubicBezTo>
                  <a:cubicBezTo>
                    <a:pt x="16767" y="0"/>
                    <a:pt x="21600" y="4835"/>
                    <a:pt x="21600" y="10800"/>
                  </a:cubicBezTo>
                  <a:close/>
                </a:path>
              </a:pathLst>
            </a:custGeom>
            <a:gradFill>
              <a:gsLst>
                <a:gs pos="5000">
                  <a:srgbClr val="222729"/>
                </a:gs>
                <a:gs pos="96010">
                  <a:srgbClr val="7D7F7F"/>
                </a:gs>
              </a:gsLst>
              <a:lin ang="3265368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49" name="Shape 32"/>
            <p:cNvSpPr/>
            <p:nvPr/>
          </p:nvSpPr>
          <p:spPr>
            <a:xfrm>
              <a:off x="20658156" y="4090143"/>
              <a:ext cx="129247" cy="1292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1"/>
                  </a:moveTo>
                  <a:cubicBezTo>
                    <a:pt x="21600" y="16764"/>
                    <a:pt x="16767" y="21600"/>
                    <a:pt x="10802" y="21600"/>
                  </a:cubicBezTo>
                  <a:cubicBezTo>
                    <a:pt x="4837" y="21600"/>
                    <a:pt x="0" y="16764"/>
                    <a:pt x="0" y="10801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7" y="0"/>
                    <a:pt x="21600" y="4836"/>
                    <a:pt x="21600" y="10801"/>
                  </a:cubicBezTo>
                  <a:close/>
                </a:path>
              </a:pathLst>
            </a:custGeom>
            <a:solidFill>
              <a:srgbClr val="080A0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50" name="Shape 33"/>
            <p:cNvSpPr/>
            <p:nvPr/>
          </p:nvSpPr>
          <p:spPr>
            <a:xfrm>
              <a:off x="20668833" y="4100819"/>
              <a:ext cx="111876" cy="1118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6" y="21600"/>
                    <a:pt x="0" y="16764"/>
                    <a:pt x="0" y="10800"/>
                  </a:cubicBezTo>
                  <a:cubicBezTo>
                    <a:pt x="0" y="4836"/>
                    <a:pt x="4836" y="0"/>
                    <a:pt x="10800" y="0"/>
                  </a:cubicBezTo>
                  <a:cubicBezTo>
                    <a:pt x="16764" y="0"/>
                    <a:pt x="21600" y="4836"/>
                    <a:pt x="21600" y="10800"/>
                  </a:cubicBezTo>
                  <a:close/>
                </a:path>
              </a:pathLst>
            </a:custGeom>
            <a:gradFill>
              <a:gsLst>
                <a:gs pos="7000">
                  <a:srgbClr val="39669E"/>
                </a:gs>
                <a:gs pos="90979">
                  <a:srgbClr val="294C7E"/>
                </a:gs>
              </a:gsLst>
              <a:lin ang="27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51" name="Shape 34"/>
            <p:cNvSpPr/>
            <p:nvPr/>
          </p:nvSpPr>
          <p:spPr>
            <a:xfrm>
              <a:off x="21277395" y="4090143"/>
              <a:ext cx="1159539" cy="1333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8" y="0"/>
                  </a:moveTo>
                  <a:lnTo>
                    <a:pt x="1242" y="0"/>
                  </a:lnTo>
                  <a:cubicBezTo>
                    <a:pt x="556" y="0"/>
                    <a:pt x="0" y="4835"/>
                    <a:pt x="0" y="10800"/>
                  </a:cubicBezTo>
                  <a:cubicBezTo>
                    <a:pt x="0" y="16765"/>
                    <a:pt x="556" y="21600"/>
                    <a:pt x="1242" y="21600"/>
                  </a:cubicBezTo>
                  <a:lnTo>
                    <a:pt x="20358" y="21600"/>
                  </a:lnTo>
                  <a:cubicBezTo>
                    <a:pt x="21044" y="21600"/>
                    <a:pt x="21600" y="16765"/>
                    <a:pt x="21600" y="10800"/>
                  </a:cubicBezTo>
                  <a:cubicBezTo>
                    <a:pt x="21600" y="4835"/>
                    <a:pt x="21044" y="0"/>
                    <a:pt x="20358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52" name="Shape 35"/>
            <p:cNvSpPr/>
            <p:nvPr/>
          </p:nvSpPr>
          <p:spPr>
            <a:xfrm>
              <a:off x="21277395" y="4100819"/>
              <a:ext cx="1159539" cy="1167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8" y="18895"/>
                  </a:moveTo>
                  <a:lnTo>
                    <a:pt x="1242" y="18895"/>
                  </a:lnTo>
                  <a:cubicBezTo>
                    <a:pt x="729" y="18895"/>
                    <a:pt x="311" y="15264"/>
                    <a:pt x="311" y="10800"/>
                  </a:cubicBezTo>
                  <a:cubicBezTo>
                    <a:pt x="311" y="6337"/>
                    <a:pt x="729" y="2705"/>
                    <a:pt x="1242" y="2705"/>
                  </a:cubicBezTo>
                  <a:lnTo>
                    <a:pt x="20358" y="2705"/>
                  </a:lnTo>
                  <a:cubicBezTo>
                    <a:pt x="20871" y="2705"/>
                    <a:pt x="21289" y="6337"/>
                    <a:pt x="21289" y="10800"/>
                  </a:cubicBezTo>
                  <a:cubicBezTo>
                    <a:pt x="21289" y="15264"/>
                    <a:pt x="20871" y="18895"/>
                    <a:pt x="20358" y="18895"/>
                  </a:cubicBezTo>
                  <a:close/>
                  <a:moveTo>
                    <a:pt x="20358" y="0"/>
                  </a:moveTo>
                  <a:lnTo>
                    <a:pt x="1242" y="0"/>
                  </a:lnTo>
                  <a:cubicBezTo>
                    <a:pt x="556" y="0"/>
                    <a:pt x="0" y="4834"/>
                    <a:pt x="0" y="10800"/>
                  </a:cubicBezTo>
                  <a:cubicBezTo>
                    <a:pt x="0" y="16766"/>
                    <a:pt x="556" y="21600"/>
                    <a:pt x="1242" y="21600"/>
                  </a:cubicBezTo>
                  <a:lnTo>
                    <a:pt x="20358" y="21600"/>
                  </a:lnTo>
                  <a:cubicBezTo>
                    <a:pt x="21044" y="21600"/>
                    <a:pt x="21600" y="16766"/>
                    <a:pt x="21600" y="10800"/>
                  </a:cubicBezTo>
                  <a:cubicBezTo>
                    <a:pt x="21600" y="4834"/>
                    <a:pt x="21044" y="0"/>
                    <a:pt x="20358" y="0"/>
                  </a:cubicBezTo>
                  <a:close/>
                </a:path>
              </a:pathLst>
            </a:custGeom>
            <a:gradFill>
              <a:gsLst>
                <a:gs pos="18000">
                  <a:srgbClr val="A38A5C"/>
                </a:gs>
                <a:gs pos="58000">
                  <a:srgbClr val="D6B992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  <p:sp>
          <p:nvSpPr>
            <p:cNvPr id="54" name="Shape 37"/>
            <p:cNvSpPr/>
            <p:nvPr/>
          </p:nvSpPr>
          <p:spPr>
            <a:xfrm>
              <a:off x="18287967" y="16528293"/>
              <a:ext cx="116882" cy="2124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D6B99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cs typeface="+mn-ea"/>
                <a:sym typeface="+mn-lt"/>
              </a:endParaRPr>
            </a:p>
          </p:txBody>
        </p:sp>
      </p:grpSp>
      <p:pic>
        <p:nvPicPr>
          <p:cNvPr id="61" name="图片占位符 60" descr="C:\Users\Administrator\Desktop\内容图片素材\商务\audit-3229739_960_720.jpgaudit-3229739_960_720"/>
          <p:cNvPicPr>
            <a:picLocks noGrp="1" noChangeAspect="1"/>
          </p:cNvPicPr>
          <p:nvPr>
            <p:ph type="pic" sz="quarter" idx="14"/>
          </p:nvPr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r="61272"/>
          <a:stretch>
            <a:fillRect/>
          </a:stretch>
        </p:blipFill>
        <p:spPr>
          <a:xfrm>
            <a:off x="2889885" y="1267777"/>
            <a:ext cx="1493044" cy="2603183"/>
          </a:xfrm>
          <a:prstGeom prst="rect">
            <a:avLst/>
          </a:prstGeom>
        </p:spPr>
      </p:pic>
      <p:pic>
        <p:nvPicPr>
          <p:cNvPr id="62" name="图片占位符 61" descr="C:\Users\Administrator\Desktop\内容图片素材\商务\computer-2982270_960_720.jpgcomputer-2982270_960_720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r="68282"/>
          <a:stretch>
            <a:fillRect/>
          </a:stretch>
        </p:blipFill>
        <p:spPr>
          <a:xfrm>
            <a:off x="1594009" y="1409224"/>
            <a:ext cx="1203484" cy="2461736"/>
          </a:xfrm>
          <a:prstGeom prst="rect">
            <a:avLst/>
          </a:prstGeom>
        </p:spPr>
      </p:pic>
      <p:grpSp>
        <p:nvGrpSpPr>
          <p:cNvPr id="85" name="组合 84">
            <a:extLst>
              <a:ext uri="{FF2B5EF4-FFF2-40B4-BE49-F238E27FC236}">
                <a16:creationId xmlns:a16="http://schemas.microsoft.com/office/drawing/2014/main" id="{D063623D-54E6-46B4-90D9-99759D4EAC0A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8F295CA8-53B7-4D14-B77A-9860D199A9D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70E7BEC0-8613-46A4-BE99-4C55FF3E6846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下一步计划</a:t>
                </a:r>
              </a:p>
            </p:txBody>
          </p:sp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A5395DD6-ADAB-4560-93EE-A915E8C8A731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latin typeface="微软雅黑"/>
                  </a:rPr>
                  <a:t>NEXT STEPS</a:t>
                </a:r>
              </a:p>
            </p:txBody>
          </p:sp>
        </p:grp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2A7F7C14-0713-46A9-AEC9-813A50C10E92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0" grpId="0" bldLvl="0" animBg="1"/>
      <p:bldP spid="71" grpId="0" bldLvl="0" animBg="1"/>
      <p:bldP spid="72" grpId="0" bldLvl="0" animBg="1"/>
      <p:bldP spid="73" grpId="0"/>
      <p:bldP spid="74" grpId="0"/>
      <p:bldP spid="75" grpId="0"/>
      <p:bldP spid="77" grpId="0"/>
      <p:bldP spid="79" grpId="0"/>
      <p:bldP spid="80" grpId="0"/>
      <p:bldP spid="81" grpId="0"/>
      <p:bldP spid="82" grpId="0"/>
      <p:bldP spid="83" grpId="0"/>
      <p:bldP spid="84" grpId="0"/>
      <p:bldP spid="86" grpId="0"/>
      <p:bldP spid="87" grpId="0"/>
      <p:bldP spid="88" grpId="0"/>
      <p:bldP spid="89" grpId="0"/>
      <p:bldP spid="90" grpId="0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0910c8dbefd44dba6ce05a395d4f64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" y="6192"/>
            <a:ext cx="9242584" cy="5166836"/>
          </a:xfrm>
          <a:prstGeom prst="rect">
            <a:avLst/>
          </a:prstGeom>
        </p:spPr>
      </p:pic>
      <p:sp>
        <p:nvSpPr>
          <p:cNvPr id="40" name="椭圆 39"/>
          <p:cNvSpPr/>
          <p:nvPr/>
        </p:nvSpPr>
        <p:spPr>
          <a:xfrm>
            <a:off x="1571632" y="-444038"/>
            <a:ext cx="6031575" cy="60315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364933" y="-604361"/>
            <a:ext cx="6382226" cy="6351270"/>
            <a:chOff x="2899" y="-1269"/>
            <a:chExt cx="13401" cy="13336"/>
          </a:xfrm>
        </p:grpSpPr>
        <p:sp>
          <p:nvSpPr>
            <p:cNvPr id="39" name="椭圆 38"/>
            <p:cNvSpPr/>
            <p:nvPr/>
          </p:nvSpPr>
          <p:spPr>
            <a:xfrm>
              <a:off x="2964" y="-1269"/>
              <a:ext cx="13337" cy="13337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6000">
                    <a:schemeClr val="tx1"/>
                  </a:gs>
                  <a:gs pos="6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899" y="3268"/>
              <a:ext cx="503" cy="1249"/>
              <a:chOff x="1820381" y="2075156"/>
              <a:chExt cx="319500" cy="792801"/>
            </a:xfrm>
          </p:grpSpPr>
          <p:sp>
            <p:nvSpPr>
              <p:cNvPr id="52" name="椭圆 51"/>
              <p:cNvSpPr/>
              <p:nvPr/>
            </p:nvSpPr>
            <p:spPr>
              <a:xfrm>
                <a:off x="1975944" y="2075156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1820381" y="2331550"/>
                <a:ext cx="295688" cy="295688"/>
              </a:xfrm>
              <a:prstGeom prst="ellipse">
                <a:avLst/>
              </a:prstGeom>
              <a:solidFill>
                <a:srgbClr val="E1F1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1820381" y="2704020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5056" y="7951"/>
              <a:ext cx="825" cy="1279"/>
              <a:chOff x="15056" y="7951"/>
              <a:chExt cx="825" cy="1279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15623" y="7951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5288" y="8385"/>
                <a:ext cx="466" cy="466"/>
              </a:xfrm>
              <a:prstGeom prst="ellipse">
                <a:avLst/>
              </a:prstGeom>
              <a:solidFill>
                <a:srgbClr val="AEC7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15056" y="8972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0" name="矩形 49"/>
          <p:cNvSpPr/>
          <p:nvPr/>
        </p:nvSpPr>
        <p:spPr>
          <a:xfrm>
            <a:off x="2579371" y="1320642"/>
            <a:ext cx="3854291" cy="83869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 dirty="0" b="1">
                <a:cs typeface="+mn-ea"/>
                <a:sym typeface="+mn-lt"/>
                <a:latin typeface="微软雅黑"/>
              </a:rPr>
              <a:t>感谢观看</a:t>
            </a:r>
          </a:p>
        </p:txBody>
      </p:sp>
      <p:sp>
        <p:nvSpPr>
          <p:cNvPr id="51" name="矩形 50"/>
          <p:cNvSpPr/>
          <p:nvPr/>
        </p:nvSpPr>
        <p:spPr>
          <a:xfrm>
            <a:off x="2602344" y="3386583"/>
            <a:ext cx="4069379" cy="23852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1000" dirty="0">
                <a:solidFill>
                  <a:srgbClr val="121212">
                    <a:alpha val="80000"/>
                  </a:srgbClr>
                </a:solidFill>
                <a:cs typeface="+mn-ea"/>
                <a:sym typeface="+mn-lt"/>
                <a:latin typeface="微软雅黑"/>
              </a:rPr>
              <a:t>THANKS FOR WATCHING</a:t>
            </a:r>
            <a:endParaRPr lang="zh-CN" altLang="en-US" sz="1100" spc="225" dirty="0">
              <a:cs typeface="+mn-ea"/>
              <a:sym typeface="+mn-lt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414111" y="2854166"/>
            <a:ext cx="4257675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dirty="0" sz="1300">
                <a:cs typeface="+mn-ea"/>
                <a:sym typeface="+mn-lt"/>
                <a:latin typeface="微软雅黑"/>
              </a:rPr>
              <a:t>硬件认证 · Agent 交互 · 网关执行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414111" y="2423636"/>
            <a:ext cx="4185285" cy="87630"/>
            <a:chOff x="5156" y="5307"/>
            <a:chExt cx="8788" cy="184"/>
          </a:xfrm>
        </p:grpSpPr>
        <p:cxnSp>
          <p:nvCxnSpPr>
            <p:cNvPr id="8" name="PA_直接连接符 4"/>
            <p:cNvCxnSpPr/>
            <p:nvPr>
              <p:custDataLst>
                <p:tags r:id="rId2"/>
              </p:custDataLst>
            </p:nvPr>
          </p:nvCxnSpPr>
          <p:spPr>
            <a:xfrm>
              <a:off x="5156" y="5315"/>
              <a:ext cx="8788" cy="0"/>
            </a:xfrm>
            <a:prstGeom prst="line">
              <a:avLst/>
            </a:prstGeom>
            <a:ln w="28575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PA_矩形 27"/>
            <p:cNvSpPr/>
            <p:nvPr>
              <p:custDataLst>
                <p:tags r:id="rId5"/>
              </p:custDataLst>
            </p:nvPr>
          </p:nvSpPr>
          <p:spPr>
            <a:xfrm>
              <a:off x="7995" y="5307"/>
              <a:ext cx="3110" cy="184"/>
            </a:xfrm>
            <a:prstGeom prst="rect">
              <a:avLst/>
            </a:prstGeom>
            <a:solidFill>
              <a:srgbClr val="121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073241" y="4215283"/>
            <a:ext cx="2996565" cy="491489"/>
            <a:chOff x="6316" y="9230"/>
            <a:chExt cx="6292" cy="1032"/>
          </a:xfrm>
        </p:grpSpPr>
        <p:cxnSp>
          <p:nvCxnSpPr>
            <p:cNvPr id="12" name="直接连接符 11"/>
            <p:cNvCxnSpPr/>
            <p:nvPr/>
          </p:nvCxnSpPr>
          <p:spPr>
            <a:xfrm flipV="1">
              <a:off x="9142" y="9433"/>
              <a:ext cx="640" cy="618"/>
            </a:xfrm>
            <a:prstGeom prst="line">
              <a:avLst/>
            </a:prstGeom>
            <a:ln w="28575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6316" y="9230"/>
              <a:ext cx="2826" cy="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900" spc="450" dirty="0">
                  <a:solidFill>
                    <a:srgbClr val="121212"/>
                  </a:solidFill>
                  <a:cs typeface="+mn-ea"/>
                  <a:sym typeface="+mn-lt"/>
                  <a:latin typeface="微软雅黑"/>
                </a:rPr>
                <a:t>MVP 初稿演示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782" y="9713"/>
              <a:ext cx="2826" cy="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900" spc="450" dirty="0" smtClean="0">
                  <a:solidFill>
                    <a:srgbClr val="121212"/>
                  </a:solidFill>
                  <a:cs typeface="+mn-ea"/>
                  <a:sym typeface="+mn-lt"/>
                  <a:latin typeface="微软雅黑"/>
                </a:rPr>
                <a:t>2026.08</a:t>
              </a:r>
              <a:endParaRPr lang="en-US" altLang="zh-CN" sz="1100" spc="450" dirty="0">
                <a:solidFill>
                  <a:srgbClr val="121212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0" grpId="1"/>
      <p:bldP spid="51" grpId="0"/>
      <p:bldP spid="6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极简蓝色商务通用工作汇报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ADC7DD"/>
      </a:accent1>
      <a:accent2>
        <a:srgbClr val="E1F1FE"/>
      </a:accent2>
      <a:accent3>
        <a:srgbClr val="AFC8DE"/>
      </a:accent3>
      <a:accent4>
        <a:srgbClr val="6A9AC4"/>
      </a:accent4>
      <a:accent5>
        <a:srgbClr val="A3C9E9"/>
      </a:accent5>
      <a:accent6>
        <a:srgbClr val="6EAC46"/>
      </a:accent6>
      <a:hlink>
        <a:srgbClr val="0563C1"/>
      </a:hlink>
      <a:folHlink>
        <a:srgbClr val="954D72"/>
      </a:folHlink>
    </a:clrScheme>
    <a:fontScheme name="seq0ukur">
      <a:majorFont>
        <a:latin typeface="Agency FB"/>
        <a:ea typeface="DengXian"/>
        <a:cs typeface=""/>
      </a:majorFont>
      <a:minorFont>
        <a:latin typeface="Agency FB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1740</Words>
  <Application>Microsoft Office PowerPoint</Application>
  <PresentationFormat>全屏显示(16:9)</PresentationFormat>
  <Paragraphs>259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Gill Sans</vt:lpstr>
      <vt:lpstr>DengXian</vt:lpstr>
      <vt:lpstr>黑体</vt:lpstr>
      <vt:lpstr>宋体</vt:lpstr>
      <vt:lpstr>微软雅黑</vt:lpstr>
      <vt:lpstr>Agency FB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Jetson 的多模态智能门锁与语音 Agent</dc:title>
  <dc:creator/>
  <cp:lastModifiedBy/>
  <cp:revision>8</cp:revision>
  <dcterms:created xsi:type="dcterms:W3CDTF">2018-03-01T02:03:00Z</dcterms:created>
  <dcterms:modified xsi:type="dcterms:W3CDTF">2019-09-11T05:18:08Z</dcterms:modified>
  <dc:subject>MVP 初稿演示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